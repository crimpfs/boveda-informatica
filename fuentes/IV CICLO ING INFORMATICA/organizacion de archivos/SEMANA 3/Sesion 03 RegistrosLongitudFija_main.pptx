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7"/>
  </p:notesMasterIdLst>
  <p:handoutMasterIdLst>
    <p:handoutMasterId r:id="rId38"/>
  </p:handoutMasterIdLst>
  <p:sldIdLst>
    <p:sldId id="653" r:id="rId2"/>
    <p:sldId id="540" r:id="rId3"/>
    <p:sldId id="256" r:id="rId4"/>
    <p:sldId id="257" r:id="rId5"/>
    <p:sldId id="670" r:id="rId6"/>
    <p:sldId id="666" r:id="rId7"/>
    <p:sldId id="258" r:id="rId8"/>
    <p:sldId id="668" r:id="rId9"/>
    <p:sldId id="259" r:id="rId10"/>
    <p:sldId id="667" r:id="rId11"/>
    <p:sldId id="669" r:id="rId12"/>
    <p:sldId id="1020" r:id="rId13"/>
    <p:sldId id="661" r:id="rId14"/>
    <p:sldId id="260" r:id="rId15"/>
    <p:sldId id="261" r:id="rId16"/>
    <p:sldId id="262" r:id="rId17"/>
    <p:sldId id="263" r:id="rId18"/>
    <p:sldId id="671" r:id="rId19"/>
    <p:sldId id="673" r:id="rId20"/>
    <p:sldId id="674" r:id="rId21"/>
    <p:sldId id="665" r:id="rId22"/>
    <p:sldId id="662" r:id="rId23"/>
    <p:sldId id="663" r:id="rId24"/>
    <p:sldId id="664" r:id="rId25"/>
    <p:sldId id="672" r:id="rId26"/>
    <p:sldId id="264" r:id="rId27"/>
    <p:sldId id="265" r:id="rId28"/>
    <p:sldId id="266" r:id="rId29"/>
    <p:sldId id="267" r:id="rId30"/>
    <p:sldId id="268" r:id="rId31"/>
    <p:sldId id="269" r:id="rId32"/>
    <p:sldId id="271" r:id="rId33"/>
    <p:sldId id="1019" r:id="rId34"/>
    <p:sldId id="270" r:id="rId35"/>
    <p:sldId id="659" r:id="rId3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70B8"/>
    <a:srgbClr val="00FF00"/>
    <a:srgbClr val="CCFFFF"/>
    <a:srgbClr val="213A89"/>
    <a:srgbClr val="0000CC"/>
    <a:srgbClr val="FFFF99"/>
    <a:srgbClr val="EEEDEB"/>
    <a:srgbClr val="F1F1F1"/>
    <a:srgbClr val="E6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98" autoAdjust="0"/>
    <p:restoredTop sz="94671" autoAdjust="0"/>
  </p:normalViewPr>
  <p:slideViewPr>
    <p:cSldViewPr>
      <p:cViewPr varScale="1">
        <p:scale>
          <a:sx n="128" d="100"/>
          <a:sy n="128" d="100"/>
        </p:scale>
        <p:origin x="125" y="15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32" y="6923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48" d="100"/>
          <a:sy n="148" d="100"/>
        </p:scale>
        <p:origin x="1762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BFC05C-7FB1-4DB3-9A26-27C8341203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1283D-6FFD-4DB8-B74E-0E5A9527B2B7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FF3077-1BFD-4BBD-BCC1-6FF47860DE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4D494E-142D-4F5B-9FD1-199FE96812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5B9A8-2A88-40BA-B09B-952A6212BB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376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ED00D-1F11-4750-9501-AA02EC4A30E8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15F3A-9D15-40F3-91F0-77D668E033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603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15F3A-9D15-40F3-91F0-77D668E033B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5187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5" name="Rectángulo 4"/>
          <p:cNvSpPr/>
          <p:nvPr userDrawn="1"/>
        </p:nvSpPr>
        <p:spPr>
          <a:xfrm>
            <a:off x="0" y="-20429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onector recto 3"/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DF191AB1-742A-4B48-9639-86765F9ADEB9}"/>
              </a:ext>
            </a:extLst>
          </p:cNvPr>
          <p:cNvSpPr/>
          <p:nvPr userDrawn="1"/>
        </p:nvSpPr>
        <p:spPr>
          <a:xfrm>
            <a:off x="191345" y="-27384"/>
            <a:ext cx="312497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476693"/>
            <a:ext cx="11737304" cy="5935236"/>
          </a:xfrm>
        </p:spPr>
        <p:txBody>
          <a:bodyPr>
            <a:normAutofit/>
          </a:bodyPr>
          <a:lstStyle>
            <a:lvl1pPr algn="just">
              <a:defRPr sz="4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945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1484783"/>
            <a:ext cx="11737304" cy="4927145"/>
          </a:xfrm>
        </p:spPr>
        <p:txBody>
          <a:bodyPr>
            <a:normAutofit/>
          </a:bodyPr>
          <a:lstStyle>
            <a:lvl1pPr algn="just">
              <a:defRPr sz="4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4813"/>
            <a:ext cx="11664950" cy="936625"/>
          </a:xfrm>
        </p:spPr>
        <p:txBody>
          <a:bodyPr/>
          <a:lstStyle>
            <a:lvl1pPr marL="0" indent="0" algn="ctr">
              <a:buNone/>
              <a:defRPr sz="4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E88249-FAC1-F793-294C-A62046130772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B618BD20-2A9C-A379-5033-764E3EDB17C4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EA05CA-C096-E167-847E-A157DA0B5022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4E76DE3-C981-7120-3839-0F6F689AFEAF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7A3F5F-406B-C80C-8896-4C4E596D3F03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55871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4813"/>
            <a:ext cx="11664950" cy="936625"/>
          </a:xfrm>
        </p:spPr>
        <p:txBody>
          <a:bodyPr/>
          <a:lstStyle>
            <a:lvl1pPr marL="0" indent="0" algn="ctr">
              <a:buNone/>
              <a:defRPr sz="4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71425F-A867-AF17-2D64-DCA054895744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7505CD50-733A-F8D8-A27D-F66877CB8A1E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483AEA-AAA7-8246-5BA2-361BE08B33CA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84AD829-7E18-155C-48B5-C575F83A9C8E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3FD83BD-125E-A628-D62F-4CE1D9702461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421517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3352" y="476674"/>
            <a:ext cx="11665296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B078B0-B0EF-BA76-1A1D-162FFE83B5E1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79EF9C4-57DA-C53F-3623-E954C2A0A3A5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36BE9B-C4C2-712E-74B7-C6844DD96B8C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B463A90-503C-3E8C-2F63-AA4FAF145E95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6898B9-A255-9E77-2DA0-7B2539DDD1BD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286200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79776" y="476674"/>
            <a:ext cx="7848872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6AB101B-0D92-78D9-5F7F-0DE9FF48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476693"/>
            <a:ext cx="3672407" cy="5935236"/>
          </a:xfrm>
        </p:spPr>
        <p:txBody>
          <a:bodyPr>
            <a:normAutofit/>
          </a:bodyPr>
          <a:lstStyle>
            <a:lvl1pPr algn="ctr">
              <a:defRPr sz="54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9A9F51-B81B-6BDF-C826-10E74ED4EFC2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0D2D8424-B2BB-6FD7-B101-AEBDF84D3677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3F6B8C-93A4-89CC-C474-7F6DA8815BA7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B76D0AD-4407-2B39-D3F1-B89EA242D200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91FA6B4-705E-6379-992D-C70EC3C235D5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33149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12024" y="476674"/>
            <a:ext cx="5616624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2900B11-889C-F9B2-F437-7B5DB7F8F628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2BE393F-F13C-F6CE-AC5B-13F72CF728EB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1C0FF0-11D8-2FBA-C27F-8C4023494F1C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E2691DD-F508-2CE1-ADBD-D3EE27956B59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C16BF3D-39DE-B045-6F3B-FDFD8F55B89C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65958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12024" y="461371"/>
            <a:ext cx="5616624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79ECB89A-F90A-7049-4003-5447843DA8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328" y="461371"/>
            <a:ext cx="6193135" cy="5958479"/>
          </a:xfrm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6A4EBA-2F75-9354-91CF-D9BF675AFDE1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A9C14589-8787-F52B-CEB2-5B0464BEF8D3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CB4509-BD26-A3A2-2016-9C34266E7DF3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5D3FF50-9AA7-C444-A1E0-7AD68ED81E5D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936806-FC56-E02F-F196-1AFF5BC806AD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387619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6AB101B-0D92-78D9-5F7F-0DE9FF48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336" y="476674"/>
            <a:ext cx="5544616" cy="5935258"/>
          </a:xfrm>
        </p:spPr>
        <p:txBody>
          <a:bodyPr>
            <a:normAutofit/>
          </a:bodyPr>
          <a:lstStyle>
            <a:lvl1pPr algn="ctr">
              <a:defRPr sz="28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84D2C88-B4F3-2DCA-41EE-00CFC66AA5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5638" y="476250"/>
            <a:ext cx="6264275" cy="5905500"/>
          </a:xfrm>
        </p:spPr>
        <p:txBody>
          <a:bodyPr/>
          <a:lstStyle>
            <a:lvl1pPr marL="0" indent="0" algn="ctr">
              <a:buNone/>
              <a:defRPr sz="2400" b="1" i="1"/>
            </a:lvl1pPr>
          </a:lstStyle>
          <a:p>
            <a:pPr lvl="0"/>
            <a:r>
              <a:rPr lang="en-US" dirty="0" err="1"/>
              <a:t>jjjj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C61B157-BE4F-47CA-4593-BA73554D5B58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8779E56E-1AE1-C3B0-20BC-B47FBED9EF2C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220E71-0B04-8BA3-60D0-14FFA83491FB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FE814B-D371-9DA0-558B-0EFF6BED8CA1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37FD0D-4959-2997-CED0-BD999A00CEF6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4103920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93600E9-D280-3B9C-436C-E324378200DE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22 CuadroTexto">
            <a:extLst>
              <a:ext uri="{FF2B5EF4-FFF2-40B4-BE49-F238E27FC236}">
                <a16:creationId xmlns:a16="http://schemas.microsoft.com/office/drawing/2014/main" id="{D855B747-FBB3-0F09-7C67-9EF29D6D1CB7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795D9F-74AE-10B7-6447-D2100064B169}"/>
              </a:ext>
            </a:extLst>
          </p:cNvPr>
          <p:cNvSpPr/>
          <p:nvPr userDrawn="1"/>
        </p:nvSpPr>
        <p:spPr>
          <a:xfrm>
            <a:off x="0" y="-20429"/>
            <a:ext cx="1216732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B722F68-CE3B-635E-64AB-7E1618740685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1CE3E72E-ECA6-BB4C-1A9C-6D4E34D6D438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381271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ítulo y objetos"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8544092" y="6525358"/>
            <a:ext cx="3381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2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Organización de Archivos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111" y="188640"/>
            <a:ext cx="1666754" cy="529571"/>
          </a:xfrm>
          <a:prstGeom prst="rect">
            <a:avLst/>
          </a:prstGeom>
        </p:spPr>
      </p:pic>
      <p:sp>
        <p:nvSpPr>
          <p:cNvPr id="5" name="Rectángulo 4"/>
          <p:cNvSpPr/>
          <p:nvPr userDrawn="1"/>
        </p:nvSpPr>
        <p:spPr>
          <a:xfrm>
            <a:off x="0" y="0"/>
            <a:ext cx="11925593" cy="9087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Conector recto 3"/>
          <p:cNvCxnSpPr/>
          <p:nvPr userDrawn="1"/>
        </p:nvCxnSpPr>
        <p:spPr>
          <a:xfrm>
            <a:off x="0" y="908720"/>
            <a:ext cx="9408368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DC9908E0-84FA-42C0-BBAE-1EE300B6E47C}"/>
              </a:ext>
            </a:extLst>
          </p:cNvPr>
          <p:cNvSpPr txBox="1"/>
          <p:nvPr userDrawn="1"/>
        </p:nvSpPr>
        <p:spPr>
          <a:xfrm>
            <a:off x="695400" y="188640"/>
            <a:ext cx="10513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</a:rPr>
              <a:t>Tipos de Organización de Archivos</a:t>
            </a:r>
          </a:p>
        </p:txBody>
      </p:sp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5C20584-6C46-4723-BD0E-063DF1E62C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95800" y="980743"/>
            <a:ext cx="7776864" cy="5416944"/>
          </a:xfrm>
          <a:prstGeom prst="rect">
            <a:avLst/>
          </a:prstGeom>
        </p:spPr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36B219E-6BD8-4420-B21A-A702EB1282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352" y="1340768"/>
            <a:ext cx="3888432" cy="2664294"/>
          </a:xfrm>
          <a:prstGeom prst="rect">
            <a:avLst/>
          </a:prstGeom>
        </p:spPr>
        <p:txBody>
          <a:bodyPr/>
          <a:lstStyle>
            <a:lvl1pPr algn="ctr">
              <a:defRPr sz="7200" b="1"/>
            </a:lvl1pPr>
          </a:lstStyle>
          <a:p>
            <a:r>
              <a:rPr lang="es-ES" dirty="0"/>
              <a:t>www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3788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8544092" y="6525358"/>
            <a:ext cx="3381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2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Organización de Archivos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111" y="188640"/>
            <a:ext cx="1666754" cy="529571"/>
          </a:xfrm>
          <a:prstGeom prst="rect">
            <a:avLst/>
          </a:prstGeom>
        </p:spPr>
      </p:pic>
      <p:sp>
        <p:nvSpPr>
          <p:cNvPr id="5" name="Rectángulo 4"/>
          <p:cNvSpPr/>
          <p:nvPr userDrawn="1"/>
        </p:nvSpPr>
        <p:spPr>
          <a:xfrm>
            <a:off x="0" y="0"/>
            <a:ext cx="11925593" cy="9087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onector recto 3"/>
          <p:cNvCxnSpPr/>
          <p:nvPr userDrawn="1"/>
        </p:nvCxnSpPr>
        <p:spPr>
          <a:xfrm>
            <a:off x="0" y="908720"/>
            <a:ext cx="9408368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45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344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E3FC0F-0726-445E-AA72-37103EF5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9002F6-6079-4FAA-B87F-0BF17A5BC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AA2C94-0056-463B-957E-18A2CB9B3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95E7-59A2-42F0-822A-C2AD9061524C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A57603-A9F7-41F7-A33A-957864473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C24DDB-20DA-4806-9AC6-ECCDED9CA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E646F-C49C-4EB9-B383-7962AB850F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875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7" r:id="rId2"/>
    <p:sldLayoutId id="2147483678" r:id="rId3"/>
    <p:sldLayoutId id="2147483673" r:id="rId4"/>
    <p:sldLayoutId id="2147483674" r:id="rId5"/>
    <p:sldLayoutId id="2147483675" r:id="rId6"/>
    <p:sldLayoutId id="2147483679" r:id="rId7"/>
    <p:sldLayoutId id="2147483676" r:id="rId8"/>
    <p:sldLayoutId id="2147483665" r:id="rId9"/>
    <p:sldLayoutId id="2147483680" r:id="rId10"/>
    <p:sldLayoutId id="2147483681" r:id="rId11"/>
    <p:sldLayoutId id="214748368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439816" y="4797152"/>
            <a:ext cx="4752527" cy="115212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Profesor: Mg. Ing. Max Castro Rodriguez</a:t>
            </a: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3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Trujillo, Setiembre de 2026</a:t>
            </a:r>
          </a:p>
          <a:p>
            <a:pPr algn="ctr"/>
            <a:endParaRPr lang="es-PE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C" sz="1300" dirty="0">
              <a:solidFill>
                <a:schemeClr val="bg1">
                  <a:lumMod val="95000"/>
                  <a:lumOff val="5000"/>
                </a:schemeClr>
              </a:solidFill>
              <a:latin typeface="Arena Condensed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855640" y="3140968"/>
            <a:ext cx="7992888" cy="1264831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C" sz="4400" b="1" dirty="0">
                <a:solidFill>
                  <a:schemeClr val="bg2">
                    <a:lumMod val="10000"/>
                  </a:schemeClr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430653" y="1200837"/>
            <a:ext cx="8842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sz="4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2423592" y="1916832"/>
            <a:ext cx="88428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Ciencias Físicas y Matemáticas</a:t>
            </a:r>
          </a:p>
          <a:p>
            <a:pPr algn="ctr"/>
            <a:r>
              <a:rPr lang="es-PE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Escuela Profesional de Informática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D444FC-3B7B-468B-8356-824282DF3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413241"/>
            <a:ext cx="1530346" cy="13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3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176120" y="188640"/>
            <a:ext cx="39421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comenzar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67408" y="1988840"/>
            <a:ext cx="100811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stimado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estudiante: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Importante revisar el sílabo en cuanto  a la unidad 1.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la sesión sincrónica; mantenga apagado su micrófono; levante la mano para participar.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los foros de socialización del sílabo.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dudas luego de la sesión sincrónica use el Foro de Consejería.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las clases de laboratorio debe organizarse para tener a la mano su laptop o PC, así podrá participar siguiendo las pautas y compartiendo pantalla.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Organice su tiempo para realizar todas las actividades formativas.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Recuerde que está integrado a un grupo conformado al azar.</a:t>
            </a:r>
          </a:p>
        </p:txBody>
      </p:sp>
    </p:spTree>
    <p:extLst>
      <p:ext uri="{BB962C8B-B14F-4D97-AF65-F5344CB8AC3E}">
        <p14:creationId xmlns:p14="http://schemas.microsoft.com/office/powerpoint/2010/main" val="280385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8B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Longitud Fija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acceso directo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archivo plano al sistema que podría buscar 2.5 millones de actas de nacimiento.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 ·  4to ciclo  ·  Universidad Nacional de Trujillo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MOTIVACIÓN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estudiar RLF hoy?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80160"/>
            <a:ext cx="128016" cy="1097280"/>
          </a:xfrm>
          <a:prstGeom prst="rect">
            <a:avLst/>
          </a:prstGeom>
          <a:solidFill>
            <a:srgbClr val="8B3A1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en O(1)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longitud fija saltas al registro n sin leer los anteriores. Base de índices y de bases de datos.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68880"/>
            <a:ext cx="128016" cy="1097280"/>
          </a:xfrm>
          <a:prstGeom prst="rect">
            <a:avLst/>
          </a:prstGeom>
          <a:solidFill>
            <a:srgbClr val="8B3A1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06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Proyecto Unidad 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Civil: 2.5 millones de actas. Secuencial no basta; RLF + encabezado es el primer camino.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657600"/>
            <a:ext cx="128016" cy="1097280"/>
          </a:xfrm>
          <a:prstGeom prst="rect">
            <a:avLst/>
          </a:prstGeom>
          <a:solidFill>
            <a:srgbClr val="8B3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94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archivo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deciden el layout: encabezado, campos, tamaños. Entienden qué hace un motor de BD.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46320"/>
            <a:ext cx="128016" cy="1097280"/>
          </a:xfrm>
          <a:prstGeom prst="rect">
            <a:avLst/>
          </a:prstGeom>
          <a:solidFill>
            <a:srgbClr val="8B3A1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C++ real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868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fopen_s, fread, fwrite, fseek. Código que abre, posiciona y escribe bytes.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204FFD9D-4267-4B08-A821-EF7DCE38694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0670" b="1067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0DC9BE10-6334-4A6C-994C-F6F50399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340768"/>
            <a:ext cx="3888432" cy="3672408"/>
          </a:xfrm>
        </p:spPr>
        <p:txBody>
          <a:bodyPr/>
          <a:lstStyle/>
          <a:p>
            <a:r>
              <a:rPr lang="es-PE" sz="5400" b="1" dirty="0" err="1"/>
              <a:t>Sintesis</a:t>
            </a:r>
            <a:br>
              <a:rPr lang="es-PE" sz="5400" dirty="0"/>
            </a:br>
            <a:r>
              <a:rPr lang="es-PE" sz="5400" dirty="0"/>
              <a:t>¿Hay </a:t>
            </a:r>
            <a:r>
              <a:rPr lang="es-PE" sz="5400" b="1" dirty="0"/>
              <a:t>alguno que falte en la </a:t>
            </a:r>
            <a:r>
              <a:rPr lang="es-PE" sz="5400" b="1" dirty="0" err="1"/>
              <a:t>piramide</a:t>
            </a:r>
            <a:r>
              <a:rPr lang="es-PE" sz="5400" b="1" dirty="0"/>
              <a:t>?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107819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1C3B6F5E-BA84-4166-A5F0-9346833E11F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3277" r="327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0DC9BE10-6334-4A6C-994C-F6F50399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5400" b="1" dirty="0"/>
              <a:t>Analogía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197952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ORGANIZACIÓN DE DATOS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campo a Data Warehouse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mínima (nombre, DNI, fecha).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194560"/>
            <a:ext cx="9326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28600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6060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campos de una entidad.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91640" y="310896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20240" y="3200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2024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registros permanentes.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286000" y="4023360"/>
            <a:ext cx="6949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14600" y="41148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14600" y="4434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relacionados + motor (RDBMS).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880360" y="493776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08960" y="50292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108960" y="5349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estratégicos (KPI).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posición de imagen 8">
            <a:extLst>
              <a:ext uri="{FF2B5EF4-FFF2-40B4-BE49-F238E27FC236}">
                <a16:creationId xmlns:a16="http://schemas.microsoft.com/office/drawing/2014/main" id="{C2657C55-6228-4EBC-A466-EFB3DCE5419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8899" b="8899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390FFBCC-08F1-4A3C-B889-EAE2149D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b="1" dirty="0"/>
              <a:t>Nuestra data sin columnas</a:t>
            </a:r>
          </a:p>
        </p:txBody>
      </p:sp>
    </p:spTree>
    <p:extLst>
      <p:ext uri="{BB962C8B-B14F-4D97-AF65-F5344CB8AC3E}">
        <p14:creationId xmlns:p14="http://schemas.microsoft.com/office/powerpoint/2010/main" val="3024496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TIPOS DE DATOS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 vs no estructurado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Campos y tipos definidos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Tablas, registros, SQL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Fácil de indexar y consultar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Ejemplo: acta de nacimiento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(número, DNI, nombres, fecha)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para RLF y BD relacionales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estructurado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esquema rígido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Texto libre, PDF, fotos, chats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Difícil de consultar exacto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Ejemplo: expediente escaneado,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audio, posteos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Requiere NLP, OCR, big data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D944C3A9-6E6C-4A2A-9564-66080E22FCA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6662" r="666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390FFBCC-08F1-4A3C-B889-EAE2149D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Analogía</a:t>
            </a:r>
          </a:p>
        </p:txBody>
      </p:sp>
    </p:spTree>
    <p:extLst>
      <p:ext uri="{BB962C8B-B14F-4D97-AF65-F5344CB8AC3E}">
        <p14:creationId xmlns:p14="http://schemas.microsoft.com/office/powerpoint/2010/main" val="1551103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7C2EF46A-D53C-4672-9074-6A4919C7292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6662" r="666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390FFBCC-08F1-4A3C-B889-EAE2149D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b="1" dirty="0"/>
              <a:t>Nuestra data sin columnas</a:t>
            </a:r>
          </a:p>
        </p:txBody>
      </p:sp>
    </p:spTree>
    <p:extLst>
      <p:ext uri="{BB962C8B-B14F-4D97-AF65-F5344CB8AC3E}">
        <p14:creationId xmlns:p14="http://schemas.microsoft.com/office/powerpoint/2010/main" val="1342726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2343485E-BCF1-D0CE-E0A3-B40647B1D53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426" b="-426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03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8058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Archivos con Registros de Longitud Fija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695401" y="1484784"/>
            <a:ext cx="34563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Este tipo de archivo desperdicia espacio completando cada campo con blancos.</a:t>
            </a:r>
          </a:p>
          <a:p>
            <a:pPr algn="just"/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Facilita el acceso directo a los registros del archivo.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BD9EAF-88AB-4511-A8AD-55C0F8788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911" y="2133600"/>
            <a:ext cx="6246139" cy="287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RLF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FIJA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Longitud Fija (RLF)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registros ocupan el mismo número de bytes. Así se calcula la posición de cualquiera.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constante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sizeof(struct persona) define LR. No cambia entre registros.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= (NR − 1) × LR. Saltas al registro sin recorrer los anteriores.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desperdiciado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4754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cortos se rellenan (padding). Se paga espacio a cambio de velocidad.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393192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índices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4754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índice guarda (clave, posición) y abre el registro en O(1).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ACCESO DIRECTO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FIJA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posición (sin encabezado)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00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= (NR − 1) × LR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= número de registro (1, 2, 3…)   ·   LR = longitud del registro en bytes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LR = 50 bytes. El registro 9 empieza en (9−1)×50 = 400.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fseek(fd, 400, SEEK_SET);  →  el cursor queda al inicio del registro 9.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Diagrama de archivo RLF con bloques de 50 bytes, flecha a posición 400, BOF y EOF marcados</a:t>
            </a:r>
            <a:endParaRPr lang="en-US" sz="16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ENCABEZADO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FIJA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encabezado (metadatos al inicio)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antepone un bloque de metadatos. Los datos se desplazan. La fórmula cambia: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659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= (NR − 1) × LR + LE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= sizeof(encabezado)  ·  En main03s.cpp: NRS (cantidad) + LR (longitud)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5661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41605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registros de datos. Se actualiza al escribir o agregar.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43400" y="3337560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35661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6280" y="41605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fija de cada registro persona (sizeof).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83880" y="3337560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35661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posibles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66760" y="41605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actualización, versión de formato, puntero a índice, checksum.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CÓDIGO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main03s.cpp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del programa main03s.cpp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encabezado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NRS;   // </a:t>
            </a:r>
            <a:r>
              <a:rPr lang="en-US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 de registros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LR;    // longitud de registro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le = sizeof(encabezado);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persona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NR;           // </a:t>
            </a:r>
            <a:r>
              <a:rPr lang="en-US" sz="1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nro de registro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nombre[18];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email[30];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r;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lr = sizeof(persona);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14025F80-49BF-4938-962A-DF8F5D642A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318" r="31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390FFBCC-08F1-4A3C-B889-EAE2149D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RLF</a:t>
            </a:r>
          </a:p>
        </p:txBody>
      </p:sp>
    </p:spTree>
    <p:extLst>
      <p:ext uri="{BB962C8B-B14F-4D97-AF65-F5344CB8AC3E}">
        <p14:creationId xmlns:p14="http://schemas.microsoft.com/office/powerpoint/2010/main" val="4063811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67860674-BA55-4195-A086-A85BF739AEB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866" b="3866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390FFBCC-08F1-4A3C-B889-EAE2149D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RLF</a:t>
            </a:r>
          </a:p>
        </p:txBody>
      </p:sp>
    </p:spTree>
    <p:extLst>
      <p:ext uri="{BB962C8B-B14F-4D97-AF65-F5344CB8AC3E}">
        <p14:creationId xmlns:p14="http://schemas.microsoft.com/office/powerpoint/2010/main" val="1797672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49862413-A54E-4892-84BF-3AF40FE0B8D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7940" r="794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390FFBCC-08F1-4A3C-B889-EAE2149D5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340768"/>
            <a:ext cx="3888432" cy="3744416"/>
          </a:xfrm>
        </p:spPr>
        <p:txBody>
          <a:bodyPr/>
          <a:lstStyle/>
          <a:p>
            <a:r>
              <a:rPr lang="es-PE" b="1" dirty="0"/>
              <a:t>Begin </a:t>
            </a:r>
            <a:r>
              <a:rPr lang="es-PE" dirty="0" err="1"/>
              <a:t>O</a:t>
            </a:r>
            <a:r>
              <a:rPr lang="es-PE" b="1" dirty="0" err="1"/>
              <a:t>f</a:t>
            </a:r>
            <a:r>
              <a:rPr lang="es-PE" b="1" dirty="0"/>
              <a:t> File</a:t>
            </a:r>
            <a:br>
              <a:rPr lang="es-PE" b="1" dirty="0"/>
            </a:br>
            <a:r>
              <a:rPr lang="es-PE" b="1" dirty="0">
                <a:solidFill>
                  <a:srgbClr val="FF0000"/>
                </a:solidFill>
              </a:rPr>
              <a:t>(BOF)</a:t>
            </a:r>
          </a:p>
        </p:txBody>
      </p:sp>
    </p:spTree>
    <p:extLst>
      <p:ext uri="{BB962C8B-B14F-4D97-AF65-F5344CB8AC3E}">
        <p14:creationId xmlns:p14="http://schemas.microsoft.com/office/powerpoint/2010/main" val="2436881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43508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Encabezado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150909" y="1052736"/>
            <a:ext cx="500570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Se suele anteponer un registro a los registros de datos; este registro se le llama registro encabezado.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Contiene metadatos como Número de Registros, Punteros, Valores auxiliares o valores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preprocesados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 estar antes de todos los demás, los registros de datos se ven desplazados, ahora iniciarán donde termine el registro encabezado.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fórmula de posición para acceder a un registro cambiará a: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= (NR-1)*LR + LE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 el encabezado tuviera 8 Bytes de tamaño entonces el registro 1 inicia en la posición 8.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BD9EAF-88AB-4511-A8AD-55C0F8788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952" y="2133600"/>
            <a:ext cx="6246139" cy="287957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2C82DD8-B8E8-404F-B9DA-A0978AD89846}"/>
              </a:ext>
            </a:extLst>
          </p:cNvPr>
          <p:cNvSpPr txBox="1"/>
          <p:nvPr/>
        </p:nvSpPr>
        <p:spPr>
          <a:xfrm>
            <a:off x="4790961" y="2118545"/>
            <a:ext cx="98862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NR 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1     8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2     58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3     108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4     158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5     208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6     258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7      …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8      …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9     408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10    …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A0C5824-898F-46F5-B4DB-06832FE4AA46}"/>
              </a:ext>
            </a:extLst>
          </p:cNvPr>
          <p:cNvCxnSpPr>
            <a:cxnSpLocks/>
          </p:cNvCxnSpPr>
          <p:nvPr/>
        </p:nvCxnSpPr>
        <p:spPr>
          <a:xfrm flipV="1">
            <a:off x="5591944" y="1620815"/>
            <a:ext cx="0" cy="216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84E8B11-17E5-4D52-9B38-FFF91BBC5A5D}"/>
              </a:ext>
            </a:extLst>
          </p:cNvPr>
          <p:cNvCxnSpPr>
            <a:cxnSpLocks/>
          </p:cNvCxnSpPr>
          <p:nvPr/>
        </p:nvCxnSpPr>
        <p:spPr>
          <a:xfrm flipV="1">
            <a:off x="11910091" y="4797152"/>
            <a:ext cx="0" cy="216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59DEA2E-D5BC-49FF-873E-983BF6948CD3}"/>
              </a:ext>
            </a:extLst>
          </p:cNvPr>
          <p:cNvSpPr txBox="1"/>
          <p:nvPr/>
        </p:nvSpPr>
        <p:spPr>
          <a:xfrm>
            <a:off x="5495690" y="1216042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BOF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A7AAE1B-3124-4398-8F66-FA56BD0365F5}"/>
              </a:ext>
            </a:extLst>
          </p:cNvPr>
          <p:cNvSpPr txBox="1"/>
          <p:nvPr/>
        </p:nvSpPr>
        <p:spPr>
          <a:xfrm>
            <a:off x="11662507" y="5076955"/>
            <a:ext cx="551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EOF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7B8255-5010-4D0A-B353-8225C5191901}"/>
              </a:ext>
            </a:extLst>
          </p:cNvPr>
          <p:cNvSpPr/>
          <p:nvPr/>
        </p:nvSpPr>
        <p:spPr>
          <a:xfrm>
            <a:off x="5689033" y="1544161"/>
            <a:ext cx="3097988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Registro Encabezado</a:t>
            </a:r>
            <a:endParaRPr lang="es-PE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22A8DB1-D921-4FDB-9039-9E9575A317B4}"/>
              </a:ext>
            </a:extLst>
          </p:cNvPr>
          <p:cNvCxnSpPr>
            <a:cxnSpLocks/>
          </p:cNvCxnSpPr>
          <p:nvPr/>
        </p:nvCxnSpPr>
        <p:spPr>
          <a:xfrm flipH="1">
            <a:off x="5663952" y="1124744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E3115EC-D8CC-4DF9-82F9-6BDA3E7689F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768863" y="1124744"/>
            <a:ext cx="911041" cy="12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9D74EA3-AF72-4704-9428-D12A9517FFC7}"/>
              </a:ext>
            </a:extLst>
          </p:cNvPr>
          <p:cNvSpPr txBox="1"/>
          <p:nvPr/>
        </p:nvSpPr>
        <p:spPr>
          <a:xfrm>
            <a:off x="6744072" y="940078"/>
            <a:ext cx="102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8 Bytes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712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7166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Acceso directo a un registro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701349" y="1484784"/>
            <a:ext cx="424252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acceder a un registro de un archivo RLF debemos saber la posición de inicio del registro.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Así, si no hubiera registro encabezado, el primer registro inicia en la posición 0.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 cada registro tuviera un tamaño de 50 Bytes entonces el segundo registro inicia en la posición 50, el tercero en la 100, el cuarto en la 150, etc.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¿Para acceder a un registro n-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ésimo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en qué posición deberíamos ubicar el cursor de posición?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BD9EAF-88AB-4511-A8AD-55C0F8788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4" y="2168654"/>
            <a:ext cx="6246139" cy="287957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10CEF67-95F2-4309-B2DD-09FF40D0230A}"/>
              </a:ext>
            </a:extLst>
          </p:cNvPr>
          <p:cNvSpPr txBox="1"/>
          <p:nvPr/>
        </p:nvSpPr>
        <p:spPr>
          <a:xfrm>
            <a:off x="4934466" y="2131114"/>
            <a:ext cx="72948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250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300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17919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7166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Acceso directo a un registro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387058" y="1124744"/>
            <a:ext cx="42425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la figura hay 10 registros, ¿cuál es la posición del registro  que corresponde al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Emp_Id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1012?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= (NR – 1)*LR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= (9-1)*50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= 400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Entonces, si posicionamos el cursor del archivo en la posición 400 (inicio del registro 1012 podremos leerlo a continuación.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fseek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() nos ayuda a posicionar el cursor en una posición deseada.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Por ejemplo,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fseek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(fd,pos,0); nos ubicará ahí. (posición 400).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BD9EAF-88AB-4511-A8AD-55C0F8788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911" y="2133600"/>
            <a:ext cx="6246139" cy="287957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2C82DD8-B8E8-404F-B9DA-A0978AD89846}"/>
              </a:ext>
            </a:extLst>
          </p:cNvPr>
          <p:cNvSpPr txBox="1"/>
          <p:nvPr/>
        </p:nvSpPr>
        <p:spPr>
          <a:xfrm>
            <a:off x="4675329" y="2096060"/>
            <a:ext cx="53708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NR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A0C5824-898F-46F5-B4DB-06832FE4AA46}"/>
              </a:ext>
            </a:extLst>
          </p:cNvPr>
          <p:cNvCxnSpPr>
            <a:cxnSpLocks/>
          </p:cNvCxnSpPr>
          <p:nvPr/>
        </p:nvCxnSpPr>
        <p:spPr>
          <a:xfrm flipV="1">
            <a:off x="1199456" y="4653136"/>
            <a:ext cx="4104455" cy="676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863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7166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Acceso directo a un registro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32806" y="1628800"/>
            <a:ext cx="424252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Hay posiciones importantes que debemos tener en cuenta: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BOF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file) es la posición 0 o inicio de archivo.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EOF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file) es la posición luego de leer el último registro o fin de archivo.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C++, cuando abrimos un archivo se posiciona el cursor en BOF.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Podemos saltar al final del archivo con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fseek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(fd,0,2)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BD9EAF-88AB-4511-A8AD-55C0F8788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911" y="2133600"/>
            <a:ext cx="6246139" cy="287957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2C82DD8-B8E8-404F-B9DA-A0978AD89846}"/>
              </a:ext>
            </a:extLst>
          </p:cNvPr>
          <p:cNvSpPr txBox="1"/>
          <p:nvPr/>
        </p:nvSpPr>
        <p:spPr>
          <a:xfrm>
            <a:off x="4675329" y="2096060"/>
            <a:ext cx="53708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NR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A0C5824-898F-46F5-B4DB-06832FE4AA46}"/>
              </a:ext>
            </a:extLst>
          </p:cNvPr>
          <p:cNvCxnSpPr>
            <a:cxnSpLocks/>
          </p:cNvCxnSpPr>
          <p:nvPr/>
        </p:nvCxnSpPr>
        <p:spPr>
          <a:xfrm flipV="1">
            <a:off x="5230260" y="2420888"/>
            <a:ext cx="0" cy="216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84E8B11-17E5-4D52-9B38-FFF91BBC5A5D}"/>
              </a:ext>
            </a:extLst>
          </p:cNvPr>
          <p:cNvCxnSpPr>
            <a:cxnSpLocks/>
          </p:cNvCxnSpPr>
          <p:nvPr/>
        </p:nvCxnSpPr>
        <p:spPr>
          <a:xfrm flipV="1">
            <a:off x="11640616" y="4797152"/>
            <a:ext cx="0" cy="216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59DEA2E-D5BC-49FF-873E-983BF6948CD3}"/>
              </a:ext>
            </a:extLst>
          </p:cNvPr>
          <p:cNvSpPr txBox="1"/>
          <p:nvPr/>
        </p:nvSpPr>
        <p:spPr>
          <a:xfrm>
            <a:off x="4928522" y="1880874"/>
            <a:ext cx="66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BOF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A7AAE1B-3124-4398-8F66-FA56BD0365F5}"/>
              </a:ext>
            </a:extLst>
          </p:cNvPr>
          <p:cNvSpPr txBox="1"/>
          <p:nvPr/>
        </p:nvSpPr>
        <p:spPr>
          <a:xfrm>
            <a:off x="11280585" y="5081236"/>
            <a:ext cx="81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EOF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557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2C66DFD9-0F70-401A-9799-409CA0E005A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681" b="1681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817E5CF7-1553-4AF0-8B1C-90C516ED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0768"/>
            <a:ext cx="4176464" cy="4536504"/>
          </a:xfrm>
        </p:spPr>
        <p:txBody>
          <a:bodyPr/>
          <a:lstStyle/>
          <a:p>
            <a:r>
              <a:rPr lang="es-PE" dirty="0"/>
              <a:t>Aplicación en </a:t>
            </a:r>
            <a:r>
              <a:rPr lang="es-PE" sz="4800" dirty="0"/>
              <a:t>main03s.cpp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98596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OPERACIONES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main03s.cpp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operaciones del laboratorio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3716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escribir()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17373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archivo nuevo ("wt"). Escribe encabezado + registros. Sobrescribe si existía.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51760"/>
            <a:ext cx="640080" cy="64008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25603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leer()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2926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"r+t", muestra NRS/LR y todos los registros en orden secuencial.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7490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modificar()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4114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nombre, calcula Pos con NR, fseek + fwrite del email nuevo.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5029200"/>
            <a:ext cx="640080" cy="64008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120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0200" y="49377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agregar()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00200" y="53035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existente, incrementa NRS, escribe al final, actualiza encabezado.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fseek / fwrite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main03s.cpp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clave: fseek y fwrite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fseek(fd, offset, origen)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SEEK_SET (inicio), SEEK_CUR (actual), SEEK_END (final).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 fseek(fd, (NR-1)*lr + le, SEEK_SET);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3794760"/>
            <a:ext cx="11155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977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fwrite(ptr, size, count, fd)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Correcto: fwrite(&amp;r, lr, 1, fd);  // tamaño, cantidad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invertir size y count. Comprobar el valor de retorno.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PROYECTO UNIDAD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CIVIL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laboratorio al Registro Civil Digital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2.5 millones de actas. Búsqueda por N° de acta o DNI debe ser rápida.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89280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ya saben hacer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 + RLF + fseek + insertar/buscar/modificar/listar.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9443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deben diseñar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acta, criterio de búsqueda, posible índice por DNI o N° acta.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99592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deben medir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búsqueda con ≥ 100 000 registros. Secuencial vs acceso directo.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493776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0474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llegamos a 5 millones, ¿sigue siendo viable solo RLF o hace falta índice/hash?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—  DISEÑO SUGERIDO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CIVIL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de diseño (no es la única solución)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 posible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NRS (cantidad de actas)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LR (bytes por acta)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ultimo_numero_acta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fecha_ultima_actualizacion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version_formato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acta (ejemplo)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NR (posición lógica)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numero_acta (clave)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dni_inscrito[12]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apellidos[40]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nombres[40]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fecha_nacimiento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lugar[30]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estado (activo/anulado)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—  COMPLEJIDAD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de búsqueda en archivo RLF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02920" y="1280160"/>
          <a:ext cx="11155680" cy="393192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índice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índice / posición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por NR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con fseek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por DNI / nombre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secuencial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o O(1)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Insertar al final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amortizado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+ índice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Modificar por NR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2.5 M de actas, O(n) puede ser inaceptable. El proyecto pide acceso directo o indexación.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—  ACTIVIDAD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de la sesión (laboratorio)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3716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escribiroagregar()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17373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que cree el archivo si no existe o agregue si ya existe. Cubre la opción 4.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51760"/>
            <a:ext cx="640080" cy="64008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25603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2 y 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2926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con al menos un registro y luego agregar más. Verificar con leer().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7490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modos de apertura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4114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wt / r+t / rb+ / wb y cuándo usar binario vs texto.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5029200"/>
            <a:ext cx="640080" cy="64008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120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0200" y="49377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con el proyecto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00200" y="53035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informe: ¿por qué RLF ayuda al Registro Civil? ¿Qué límite tiene sin índice?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—  CIERRE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de la sesión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447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tamaño por registro → posición calculable → acceso directo.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5877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NRS + LR. Desplaza los datos: Pos = (NR−1)×LR + LE.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7307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fseek + fwrite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y escribir. Base de modificar y agregar sin reescribir todo.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470916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8737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principio a escala de 2.5 M de actas. Midan, comparen, justifiquen.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20281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0F6B2AE-F4B3-4892-85DF-F04C2267F8FA}"/>
              </a:ext>
            </a:extLst>
          </p:cNvPr>
          <p:cNvSpPr txBox="1"/>
          <p:nvPr/>
        </p:nvSpPr>
        <p:spPr>
          <a:xfrm>
            <a:off x="521179" y="1772816"/>
            <a:ext cx="5760640" cy="38884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s-PE" b="1" dirty="0"/>
              <a:t>Lea el libro de </a:t>
            </a:r>
            <a:r>
              <a:rPr lang="es-PE" b="1" dirty="0" err="1"/>
              <a:t>Silberschatz</a:t>
            </a:r>
            <a:r>
              <a:rPr lang="es-PE" b="1" dirty="0"/>
              <a:t> (Accesible en drive 4ta </a:t>
            </a:r>
            <a:r>
              <a:rPr lang="es-PE" b="1" dirty="0" err="1"/>
              <a:t>edicion</a:t>
            </a:r>
            <a:r>
              <a:rPr lang="es-PE" b="1" dirty="0"/>
              <a:t>), Fundamentos de Base de Datos 4ta </a:t>
            </a:r>
            <a:r>
              <a:rPr lang="es-PE" b="1" dirty="0" err="1"/>
              <a:t>ed</a:t>
            </a:r>
            <a:r>
              <a:rPr lang="es-PE" b="1" dirty="0"/>
              <a:t>, punto 11.6 (desde </a:t>
            </a:r>
            <a:r>
              <a:rPr lang="es-PE" b="1" dirty="0" err="1"/>
              <a:t>pp</a:t>
            </a:r>
            <a:r>
              <a:rPr lang="es-PE" b="1" dirty="0"/>
              <a:t> 264 hasta </a:t>
            </a:r>
            <a:r>
              <a:rPr lang="es-PE" b="1" dirty="0" err="1"/>
              <a:t>pp</a:t>
            </a:r>
            <a:r>
              <a:rPr lang="es-PE" b="1" dirty="0"/>
              <a:t> 266)</a:t>
            </a:r>
          </a:p>
          <a:p>
            <a:pPr marL="457200" indent="-457200" algn="just">
              <a:buAutoNum type="arabicPeriod"/>
            </a:pPr>
            <a:r>
              <a:rPr lang="es-PE" sz="2400" b="1" dirty="0"/>
              <a:t>Ejemplifique que campos puedo agregar en la cabecera</a:t>
            </a:r>
            <a:r>
              <a:rPr lang="es-PE" b="1" dirty="0"/>
              <a:t>.</a:t>
            </a:r>
          </a:p>
          <a:p>
            <a:pPr marL="457200" indent="-457200" algn="just">
              <a:buAutoNum type="arabicPeriod"/>
            </a:pPr>
            <a:r>
              <a:rPr lang="es-PE" b="1" dirty="0"/>
              <a:t>Las bases de datos relacionales son el ícono de los datos estructurados. ¿Por qué? ¿Cuál es la diferencia con los datos no estructurados? </a:t>
            </a:r>
          </a:p>
          <a:p>
            <a:pPr marL="457200" indent="-457200" algn="just">
              <a:buAutoNum type="arabicPeriod"/>
            </a:pPr>
            <a:r>
              <a:rPr lang="es-PE" b="1" dirty="0"/>
              <a:t>¿Qué es SQL y qué es NoSQL?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DD78C60-189F-4762-9105-7EC751A0C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934" y="2276872"/>
            <a:ext cx="4938887" cy="275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92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—  PARA LLEVAR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62495" y="6446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preguntas formativas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08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Silberschatz — Fundamentos de BD, §11.6 (organización de archivos).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423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¿Qué campos adicionales pondrían en el encabezado de un archivo de actas?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3375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¿Por qué las BD relacionales son el ícono de los datos estructurados?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2519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¿Qué es SQL y qué es NoSQL, en una frase cada uno?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493776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1663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Si el Registro Civil crece a 5 millones de actas, ¿qué cambiarían en su diseño?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9B2A-A2B7-842D-5F5F-CF164A92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EAE85069-D4CB-EA0F-D89F-0F7AA75BA4F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19099" r="-1909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7633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3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4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5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6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7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8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9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0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2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3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4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5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6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7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8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9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0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2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3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4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5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6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7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8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9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30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3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25363</TotalTime>
  <Words>2187</Words>
  <Application>Microsoft Office PowerPoint</Application>
  <PresentationFormat>Panorámica</PresentationFormat>
  <Paragraphs>368</Paragraphs>
  <Slides>35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3" baseType="lpstr">
      <vt:lpstr>Arena Condensed</vt:lpstr>
      <vt:lpstr>Arial</vt:lpstr>
      <vt:lpstr>Calibri</vt:lpstr>
      <vt:lpstr>Calibri Light</vt:lpstr>
      <vt:lpstr>Consolas</vt:lpstr>
      <vt:lpstr>Times New Roman</vt:lpstr>
      <vt:lpstr>Wingdings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Sintesis ¿Hay alguno que falte en la piramide?</vt:lpstr>
      <vt:lpstr>Analogía</vt:lpstr>
      <vt:lpstr>Presentación de PowerPoint</vt:lpstr>
      <vt:lpstr>Nuestra data sin columnas</vt:lpstr>
      <vt:lpstr>Presentación de PowerPoint</vt:lpstr>
      <vt:lpstr>Analogía</vt:lpstr>
      <vt:lpstr>Nuestra data sin columnas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RLF</vt:lpstr>
      <vt:lpstr>RLF</vt:lpstr>
      <vt:lpstr>Begin Of File (BOF)</vt:lpstr>
      <vt:lpstr>Presentación de PowerPoint</vt:lpstr>
      <vt:lpstr>Presentación de PowerPoint</vt:lpstr>
      <vt:lpstr>Presentación de PowerPoint</vt:lpstr>
      <vt:lpstr>Presentación de PowerPoint</vt:lpstr>
      <vt:lpstr>Aplicación en main03s.cpp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 JURIDICO</dc:title>
  <dc:creator>Dr Beltran</dc:creator>
  <cp:lastModifiedBy>Max Castro Rodriguez</cp:lastModifiedBy>
  <cp:revision>849</cp:revision>
  <dcterms:created xsi:type="dcterms:W3CDTF">2018-02-24T13:56:14Z</dcterms:created>
  <dcterms:modified xsi:type="dcterms:W3CDTF">2026-09-06T15:39:47Z</dcterms:modified>
</cp:coreProperties>
</file>