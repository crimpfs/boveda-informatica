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653" r:id="rId2"/>
    <p:sldId id="540" r:id="rId3"/>
    <p:sldId id="982" r:id="rId4"/>
    <p:sldId id="656" r:id="rId5"/>
    <p:sldId id="660" r:id="rId6"/>
    <p:sldId id="661" r:id="rId7"/>
    <p:sldId id="662" r:id="rId8"/>
    <p:sldId id="663" r:id="rId9"/>
    <p:sldId id="664" r:id="rId10"/>
    <p:sldId id="665" r:id="rId11"/>
    <p:sldId id="654" r:id="rId12"/>
    <p:sldId id="658" r:id="rId13"/>
    <p:sldId id="655" r:id="rId14"/>
    <p:sldId id="657" r:id="rId15"/>
    <p:sldId id="983" r:id="rId16"/>
    <p:sldId id="988" r:id="rId17"/>
    <p:sldId id="991" r:id="rId18"/>
    <p:sldId id="992" r:id="rId19"/>
    <p:sldId id="993" r:id="rId20"/>
    <p:sldId id="994" r:id="rId21"/>
    <p:sldId id="996" r:id="rId22"/>
    <p:sldId id="997" r:id="rId23"/>
    <p:sldId id="998" r:id="rId24"/>
    <p:sldId id="984" r:id="rId25"/>
    <p:sldId id="985" r:id="rId26"/>
    <p:sldId id="989" r:id="rId27"/>
    <p:sldId id="990" r:id="rId28"/>
    <p:sldId id="995" r:id="rId29"/>
    <p:sldId id="1021" r:id="rId30"/>
    <p:sldId id="659" r:id="rId3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1870B8"/>
    <a:srgbClr val="00FF00"/>
    <a:srgbClr val="213A89"/>
    <a:srgbClr val="0000CC"/>
    <a:srgbClr val="FFFF99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8" autoAdjust="0"/>
    <p:restoredTop sz="94671" autoAdjust="0"/>
  </p:normalViewPr>
  <p:slideViewPr>
    <p:cSldViewPr>
      <p:cViewPr varScale="1">
        <p:scale>
          <a:sx n="113" d="100"/>
          <a:sy n="113" d="100"/>
        </p:scale>
        <p:origin x="106" y="17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4402"/>
    </p:cViewPr>
  </p:sorterViewPr>
  <p:notesViewPr>
    <p:cSldViewPr>
      <p:cViewPr varScale="1">
        <p:scale>
          <a:sx n="148" d="100"/>
          <a:sy n="148" d="100"/>
        </p:scale>
        <p:origin x="176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3d9" qsCatId="3D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/>
      <dgm:t>
        <a:bodyPr/>
        <a:lstStyle/>
        <a:p>
          <a:r>
            <a:rPr lang="es-PE" sz="2800" b="1" kern="1200" dirty="0"/>
            <a:t>Organización Física de Archivos 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1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1"/>
      <dgm:spPr/>
    </dgm:pt>
    <dgm:pt modelId="{FA2C3F46-A5D4-4297-9EFF-90EBAA3AF140}" type="pres">
      <dgm:prSet presAssocID="{FB00892F-EC72-4887-B184-DCF89BEE2FCE}" presName="dstNode" presStyleLbl="node1" presStyleIdx="0" presStyleCnt="1"/>
      <dgm:spPr/>
    </dgm:pt>
    <dgm:pt modelId="{67433B04-4786-459B-987D-AC1760F0DCB1}" type="pres">
      <dgm:prSet presAssocID="{293C9B94-AE7A-4C44-9DA1-0FA8F0EFEC9B}" presName="text_1" presStyleLbl="node1" presStyleIdx="0" presStyleCnt="1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1" custLinFactNeighborX="1349" custLinFactNeighborY="-4864"/>
      <dgm:spPr/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2000" kern="1200" dirty="0" err="1"/>
            <a:t>NVMe</a:t>
          </a:r>
          <a:r>
            <a:rPr lang="es-ES" sz="2000" kern="1200" dirty="0"/>
            <a:t> PCIe 4.0 vs PCIe 5.0</a:t>
          </a:r>
          <a:endParaRPr lang="es-PE" sz="2000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4AB86D-E05C-4592-B577-034037ABE6C8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        Computación Cuántica – 4 enfoques principales</a:t>
          </a:r>
          <a:endParaRPr lang="es-PE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B9DE8AF-3BD1-4E1F-9D19-22DFB90520A3}" type="parTrans" cxnId="{33751DE7-B1D0-43A9-8CDB-D170326DE782}">
      <dgm:prSet/>
      <dgm:spPr/>
      <dgm:t>
        <a:bodyPr/>
        <a:lstStyle/>
        <a:p>
          <a:endParaRPr lang="es-PE" sz="2000"/>
        </a:p>
      </dgm:t>
    </dgm:pt>
    <dgm:pt modelId="{B83FADFB-494E-42E7-B6B5-4D7CD652890F}" type="sibTrans" cxnId="{33751DE7-B1D0-43A9-8CDB-D170326DE782}">
      <dgm:prSet/>
      <dgm:spPr/>
      <dgm:t>
        <a:bodyPr/>
        <a:lstStyle/>
        <a:p>
          <a:endParaRPr lang="es-PE" sz="2000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2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2"/>
      <dgm:spPr/>
    </dgm:pt>
    <dgm:pt modelId="{FA2C3F46-A5D4-4297-9EFF-90EBAA3AF140}" type="pres">
      <dgm:prSet presAssocID="{FB00892F-EC72-4887-B184-DCF89BEE2FCE}" presName="dstNode" presStyleLbl="node1" presStyleIdx="0" presStyleCnt="2"/>
      <dgm:spPr/>
    </dgm:pt>
    <dgm:pt modelId="{67433B04-4786-459B-987D-AC1760F0DCB1}" type="pres">
      <dgm:prSet presAssocID="{293C9B94-AE7A-4C44-9DA1-0FA8F0EFEC9B}" presName="text_1" presStyleLbl="node1" presStyleIdx="0" presStyleCnt="2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2" custLinFactNeighborX="1349" custLinFactNeighborY="-4864"/>
      <dgm:spPr>
        <a:solidFill>
          <a:srgbClr val="1870B8"/>
        </a:solidFill>
      </dgm:spPr>
    </dgm:pt>
    <dgm:pt modelId="{9B5B1D60-5B76-448C-A339-A15724883A3D}" type="pres">
      <dgm:prSet presAssocID="{684AB86D-E05C-4592-B577-034037ABE6C8}" presName="text_2" presStyleLbl="node1" presStyleIdx="1" presStyleCnt="2">
        <dgm:presLayoutVars>
          <dgm:bulletEnabled val="1"/>
        </dgm:presLayoutVars>
      </dgm:prSet>
      <dgm:spPr/>
    </dgm:pt>
    <dgm:pt modelId="{F8B51FAE-E5F2-413A-8CB1-2497756A288B}" type="pres">
      <dgm:prSet presAssocID="{684AB86D-E05C-4592-B577-034037ABE6C8}" presName="accent_2" presStyleCnt="0"/>
      <dgm:spPr/>
    </dgm:pt>
    <dgm:pt modelId="{0ABF96A3-0D38-4C1C-AFC9-E758ED14F11B}" type="pres">
      <dgm:prSet presAssocID="{684AB86D-E05C-4592-B577-034037ABE6C8}" presName="accentRepeatNode" presStyleLbl="solidFgAcc1" presStyleIdx="1" presStyleCnt="2"/>
      <dgm:spPr>
        <a:solidFill>
          <a:schemeClr val="bg1"/>
        </a:solidFill>
      </dgm:spPr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C2617B3D-2DD3-4EA5-B7DE-0455F244D190}" type="presOf" srcId="{684AB86D-E05C-4592-B577-034037ABE6C8}" destId="{9B5B1D60-5B76-448C-A339-A15724883A3D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33751DE7-B1D0-43A9-8CDB-D170326DE782}" srcId="{FB00892F-EC72-4887-B184-DCF89BEE2FCE}" destId="{684AB86D-E05C-4592-B577-034037ABE6C8}" srcOrd="1" destOrd="0" parTransId="{EB9DE8AF-3BD1-4E1F-9D19-22DFB90520A3}" sibTransId="{B83FADFB-494E-42E7-B6B5-4D7CD652890F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C3925D6A-4D99-4D8C-922A-96E24FFB1A7E}" type="presParOf" srcId="{84910027-B218-4E01-933E-00FA7E18C6F0}" destId="{9B5B1D60-5B76-448C-A339-A15724883A3D}" srcOrd="3" destOrd="0" presId="urn:microsoft.com/office/officeart/2008/layout/VerticalCurvedList"/>
    <dgm:cxn modelId="{ECC37060-E022-4A19-A69B-932979F07709}" type="presParOf" srcId="{84910027-B218-4E01-933E-00FA7E18C6F0}" destId="{F8B51FAE-E5F2-413A-8CB1-2497756A288B}" srcOrd="4" destOrd="0" presId="urn:microsoft.com/office/officeart/2008/layout/VerticalCurvedList"/>
    <dgm:cxn modelId="{4403455C-7071-4775-8E3C-081EDE9CA26F}" type="presParOf" srcId="{F8B51FAE-E5F2-413A-8CB1-2497756A288B}" destId="{0ABF96A3-0D38-4C1C-AFC9-E758ED14F11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2000" kern="1200" dirty="0" err="1"/>
            <a:t>NVMe</a:t>
          </a:r>
          <a:r>
            <a:rPr lang="es-ES" sz="2000" kern="1200" dirty="0"/>
            <a:t> PCIe 4.0 vs PCIe 5.0</a:t>
          </a:r>
          <a:endParaRPr lang="es-PE" sz="2000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4AB86D-E05C-4592-B577-034037ABE6C8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        Computación Cuántica – 4 enfoques principales</a:t>
          </a:r>
          <a:endParaRPr lang="es-PE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B9DE8AF-3BD1-4E1F-9D19-22DFB90520A3}" type="parTrans" cxnId="{33751DE7-B1D0-43A9-8CDB-D170326DE782}">
      <dgm:prSet/>
      <dgm:spPr/>
      <dgm:t>
        <a:bodyPr/>
        <a:lstStyle/>
        <a:p>
          <a:endParaRPr lang="es-PE" sz="2000"/>
        </a:p>
      </dgm:t>
    </dgm:pt>
    <dgm:pt modelId="{B83FADFB-494E-42E7-B6B5-4D7CD652890F}" type="sibTrans" cxnId="{33751DE7-B1D0-43A9-8CDB-D170326DE782}">
      <dgm:prSet/>
      <dgm:spPr/>
      <dgm:t>
        <a:bodyPr/>
        <a:lstStyle/>
        <a:p>
          <a:endParaRPr lang="es-PE" sz="2000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2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2"/>
      <dgm:spPr/>
    </dgm:pt>
    <dgm:pt modelId="{FA2C3F46-A5D4-4297-9EFF-90EBAA3AF140}" type="pres">
      <dgm:prSet presAssocID="{FB00892F-EC72-4887-B184-DCF89BEE2FCE}" presName="dstNode" presStyleLbl="node1" presStyleIdx="0" presStyleCnt="2"/>
      <dgm:spPr/>
    </dgm:pt>
    <dgm:pt modelId="{67433B04-4786-459B-987D-AC1760F0DCB1}" type="pres">
      <dgm:prSet presAssocID="{293C9B94-AE7A-4C44-9DA1-0FA8F0EFEC9B}" presName="text_1" presStyleLbl="node1" presStyleIdx="0" presStyleCnt="2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2" custLinFactNeighborX="1349" custLinFactNeighborY="-4864"/>
      <dgm:spPr>
        <a:solidFill>
          <a:schemeClr val="bg1"/>
        </a:solidFill>
      </dgm:spPr>
    </dgm:pt>
    <dgm:pt modelId="{9B5B1D60-5B76-448C-A339-A15724883A3D}" type="pres">
      <dgm:prSet presAssocID="{684AB86D-E05C-4592-B577-034037ABE6C8}" presName="text_2" presStyleLbl="node1" presStyleIdx="1" presStyleCnt="2">
        <dgm:presLayoutVars>
          <dgm:bulletEnabled val="1"/>
        </dgm:presLayoutVars>
      </dgm:prSet>
      <dgm:spPr/>
    </dgm:pt>
    <dgm:pt modelId="{F8B51FAE-E5F2-413A-8CB1-2497756A288B}" type="pres">
      <dgm:prSet presAssocID="{684AB86D-E05C-4592-B577-034037ABE6C8}" presName="accent_2" presStyleCnt="0"/>
      <dgm:spPr/>
    </dgm:pt>
    <dgm:pt modelId="{0ABF96A3-0D38-4C1C-AFC9-E758ED14F11B}" type="pres">
      <dgm:prSet presAssocID="{684AB86D-E05C-4592-B577-034037ABE6C8}" presName="accentRepeatNode" presStyleLbl="solidFgAcc1" presStyleIdx="1" presStyleCnt="2"/>
      <dgm:spPr>
        <a:solidFill>
          <a:srgbClr val="1870B8"/>
        </a:solidFill>
      </dgm:spPr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C2617B3D-2DD3-4EA5-B7DE-0455F244D190}" type="presOf" srcId="{684AB86D-E05C-4592-B577-034037ABE6C8}" destId="{9B5B1D60-5B76-448C-A339-A15724883A3D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33751DE7-B1D0-43A9-8CDB-D170326DE782}" srcId="{FB00892F-EC72-4887-B184-DCF89BEE2FCE}" destId="{684AB86D-E05C-4592-B577-034037ABE6C8}" srcOrd="1" destOrd="0" parTransId="{EB9DE8AF-3BD1-4E1F-9D19-22DFB90520A3}" sibTransId="{B83FADFB-494E-42E7-B6B5-4D7CD652890F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C3925D6A-4D99-4D8C-922A-96E24FFB1A7E}" type="presParOf" srcId="{84910027-B218-4E01-933E-00FA7E18C6F0}" destId="{9B5B1D60-5B76-448C-A339-A15724883A3D}" srcOrd="3" destOrd="0" presId="urn:microsoft.com/office/officeart/2008/layout/VerticalCurvedList"/>
    <dgm:cxn modelId="{ECC37060-E022-4A19-A69B-932979F07709}" type="presParOf" srcId="{84910027-B218-4E01-933E-00FA7E18C6F0}" destId="{F8B51FAE-E5F2-413A-8CB1-2497756A288B}" srcOrd="4" destOrd="0" presId="urn:microsoft.com/office/officeart/2008/layout/VerticalCurvedList"/>
    <dgm:cxn modelId="{4403455C-7071-4775-8E3C-081EDE9CA26F}" type="presParOf" srcId="{F8B51FAE-E5F2-413A-8CB1-2497756A288B}" destId="{0ABF96A3-0D38-4C1C-AFC9-E758ED14F11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522086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1299129" y="1136228"/>
          <a:ext cx="6837601" cy="207860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26829" tIns="71120" rIns="71120" bIns="71120" numCol="1" spcCol="1270" anchor="ctr" anchorCtr="0">
          <a:noAutofit/>
          <a:sp3d extrusionH="28000" prstMaterial="matte"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Organización Física de Archivos </a:t>
          </a:r>
          <a:endParaRPr lang="es-PE" sz="2800" b="1" dirty="0"/>
        </a:p>
      </dsp:txBody>
      <dsp:txXfrm>
        <a:off x="1299129" y="1136228"/>
        <a:ext cx="6837601" cy="2078607"/>
      </dsp:txXfrm>
    </dsp:sp>
    <dsp:sp modelId="{04E8B14C-EAA3-4C36-8201-1F419CF99CC7}">
      <dsp:nvSpPr>
        <dsp:cNvPr id="0" name=""/>
        <dsp:cNvSpPr/>
      </dsp:nvSpPr>
      <dsp:spPr>
        <a:xfrm>
          <a:off x="35050" y="750023"/>
          <a:ext cx="2598259" cy="259825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882347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799834" y="621593"/>
          <a:ext cx="7313944" cy="124301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8664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NVMe</a:t>
          </a:r>
          <a:r>
            <a:rPr lang="es-ES" sz="2000" kern="1200" dirty="0"/>
            <a:t> PCIe 4.0 vs PCIe 5.0</a:t>
          </a:r>
          <a:endParaRPr lang="es-PE" sz="2000" dirty="0"/>
        </a:p>
      </dsp:txBody>
      <dsp:txXfrm>
        <a:off x="799834" y="621593"/>
        <a:ext cx="7313944" cy="1243012"/>
      </dsp:txXfrm>
    </dsp:sp>
    <dsp:sp modelId="{04E8B14C-EAA3-4C36-8201-1F419CF99CC7}">
      <dsp:nvSpPr>
        <dsp:cNvPr id="0" name=""/>
        <dsp:cNvSpPr/>
      </dsp:nvSpPr>
      <dsp:spPr>
        <a:xfrm>
          <a:off x="43912" y="390641"/>
          <a:ext cx="1553765" cy="1553765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B1D60-5B76-448C-A339-A15724883A3D}">
      <dsp:nvSpPr>
        <dsp:cNvPr id="0" name=""/>
        <dsp:cNvSpPr/>
      </dsp:nvSpPr>
      <dsp:spPr>
        <a:xfrm>
          <a:off x="799834" y="2486459"/>
          <a:ext cx="7313944" cy="124301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        Computación Cuántica – 4 enfoques principales</a:t>
          </a:r>
          <a:endParaRPr lang="es-PE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99834" y="2486459"/>
        <a:ext cx="7313944" cy="1243012"/>
      </dsp:txXfrm>
    </dsp:sp>
    <dsp:sp modelId="{0ABF96A3-0D38-4C1C-AFC9-E758ED14F11B}">
      <dsp:nvSpPr>
        <dsp:cNvPr id="0" name=""/>
        <dsp:cNvSpPr/>
      </dsp:nvSpPr>
      <dsp:spPr>
        <a:xfrm>
          <a:off x="22951" y="2331083"/>
          <a:ext cx="1553765" cy="1553765"/>
        </a:xfrm>
        <a:prstGeom prst="ellipse">
          <a:avLst/>
        </a:prstGeom>
        <a:solidFill>
          <a:schemeClr val="bg1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882347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799834" y="621593"/>
          <a:ext cx="7313944" cy="124301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8664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NVMe</a:t>
          </a:r>
          <a:r>
            <a:rPr lang="es-ES" sz="2000" kern="1200" dirty="0"/>
            <a:t> PCIe 4.0 vs PCIe 5.0</a:t>
          </a:r>
          <a:endParaRPr lang="es-PE" sz="2000" dirty="0"/>
        </a:p>
      </dsp:txBody>
      <dsp:txXfrm>
        <a:off x="799834" y="621593"/>
        <a:ext cx="7313944" cy="1243012"/>
      </dsp:txXfrm>
    </dsp:sp>
    <dsp:sp modelId="{04E8B14C-EAA3-4C36-8201-1F419CF99CC7}">
      <dsp:nvSpPr>
        <dsp:cNvPr id="0" name=""/>
        <dsp:cNvSpPr/>
      </dsp:nvSpPr>
      <dsp:spPr>
        <a:xfrm>
          <a:off x="43912" y="390641"/>
          <a:ext cx="1553765" cy="1553765"/>
        </a:xfrm>
        <a:prstGeom prst="ellipse">
          <a:avLst/>
        </a:prstGeom>
        <a:solidFill>
          <a:schemeClr val="bg1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B1D60-5B76-448C-A339-A15724883A3D}">
      <dsp:nvSpPr>
        <dsp:cNvPr id="0" name=""/>
        <dsp:cNvSpPr/>
      </dsp:nvSpPr>
      <dsp:spPr>
        <a:xfrm>
          <a:off x="799834" y="2486459"/>
          <a:ext cx="7313944" cy="124301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        Computación Cuántica – 4 enfoques principales</a:t>
          </a:r>
          <a:endParaRPr lang="es-PE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99834" y="2486459"/>
        <a:ext cx="7313944" cy="1243012"/>
      </dsp:txXfrm>
    </dsp:sp>
    <dsp:sp modelId="{0ABF96A3-0D38-4C1C-AFC9-E758ED14F11B}">
      <dsp:nvSpPr>
        <dsp:cNvPr id="0" name=""/>
        <dsp:cNvSpPr/>
      </dsp:nvSpPr>
      <dsp:spPr>
        <a:xfrm>
          <a:off x="22951" y="2331083"/>
          <a:ext cx="1553765" cy="1553765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BFC05C-7FB1-4DB3-9A26-27C83412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283D-6FFD-4DB8-B74E-0E5A9527B2B7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FF3077-1BFD-4BBD-BCC1-6FF47860D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4D494E-142D-4F5B-9FD1-199FE96812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5B9A8-2A88-40BA-B09B-952A6212BB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20429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91345" y="-27384"/>
            <a:ext cx="3124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11737304" cy="5935236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4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1484783"/>
            <a:ext cx="11737304" cy="4927145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55871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1425F-A867-AF17-2D64-DCA054895744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7505CD50-733A-F8D8-A27D-F66877CB8A1E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83AEA-AAA7-8246-5BA2-361BE08B33CA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84AD829-7E18-155C-48B5-C575F83A9C8E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D83BD-125E-A628-D62F-4CE1D9702461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2151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3352" y="476674"/>
            <a:ext cx="11665296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8620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79776" y="476674"/>
            <a:ext cx="7848872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3672407" cy="5935236"/>
          </a:xfrm>
        </p:spPr>
        <p:txBody>
          <a:bodyPr>
            <a:normAutofit/>
          </a:bodyPr>
          <a:lstStyle>
            <a:lvl1pPr algn="ctr">
              <a:defRPr sz="54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9A9F51-B81B-6BDF-C826-10E74ED4EFC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0D2D8424-B2BB-6FD7-B101-AEBDF84D367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3F6B8C-93A4-89CC-C474-7F6DA8815BA7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76D0AD-4407-2B39-D3F1-B89EA242D200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1FA6B4-705E-6379-992D-C70EC3C235D5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33149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76674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900B11-889C-F9B2-F437-7B5DB7F8F62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2BE393F-F13C-F6CE-AC5B-13F72CF728EB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1C0FF0-11D8-2FBA-C27F-8C4023494F1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E2691DD-F508-2CE1-ADBD-D3EE27956B59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16BF3D-39DE-B045-6F3B-FDFD8F55B89C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6595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61371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9ECB89A-F90A-7049-4003-5447843D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28" y="461371"/>
            <a:ext cx="6193135" cy="595847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6A4EBA-2F75-9354-91CF-D9BF675AFD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A9C14589-8787-F52B-CEB2-5B0464BEF8D3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CB4509-BD26-A3A2-2016-9C34266E7DF3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D3FF50-9AA7-C444-A1E0-7AD68ED81E5D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936806-FC56-E02F-F196-1AFF5BC806A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761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336" y="476674"/>
            <a:ext cx="5544616" cy="5935258"/>
          </a:xfrm>
        </p:spPr>
        <p:txBody>
          <a:bodyPr>
            <a:normAutofit/>
          </a:bodyPr>
          <a:lstStyle>
            <a:lvl1pPr algn="ctr">
              <a:defRPr sz="28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84D2C88-B4F3-2DCA-41EE-00CFC66AA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5638" y="476250"/>
            <a:ext cx="6264275" cy="5905500"/>
          </a:xfrm>
        </p:spPr>
        <p:txBody>
          <a:bodyPr/>
          <a:lstStyle>
            <a:lvl1pPr marL="0" indent="0" algn="ctr">
              <a:buNone/>
              <a:defRPr sz="2400" b="1" i="1"/>
            </a:lvl1pPr>
          </a:lstStyle>
          <a:p>
            <a:pPr lvl="0"/>
            <a:r>
              <a:rPr lang="en-US" dirty="0" err="1"/>
              <a:t>jjjj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61B157-BE4F-47CA-4593-BA73554D5B5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8779E56E-1AE1-C3B0-20BC-B47FBED9EF2C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220E71-0B04-8BA3-60D0-14FFA83491FB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FE814B-D371-9DA0-558B-0EFF6BED8CA1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37FD0D-4959-2997-CED0-BD999A00CEF6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1039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20429"/>
            <a:ext cx="1216732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127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01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3FC0F-0726-445E-AA72-37103EF5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002F6-6079-4FAA-B87F-0BF17A5B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AA2C94-0056-463B-957E-18A2CB9B3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95E7-59A2-42F0-822A-C2AD9061524C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57603-A9F7-41F7-A33A-95786447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24DDB-20DA-4806-9AC6-ECCDED9C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646F-C49C-4EB9-B383-7962AB850F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7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78" r:id="rId3"/>
    <p:sldLayoutId id="2147483673" r:id="rId4"/>
    <p:sldLayoutId id="2147483674" r:id="rId5"/>
    <p:sldLayoutId id="2147483675" r:id="rId6"/>
    <p:sldLayoutId id="2147483679" r:id="rId7"/>
    <p:sldLayoutId id="2147483676" r:id="rId8"/>
    <p:sldLayoutId id="2147483665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imercom.mx/el-secreto-de-la-velocidad-nvme-o-sata-que-ssd-es-para-ti/?srsltid=AfmBOooMZYOw3FNzY814yobHOdhbAk4QYzDKmOJ_jioBW2AwJn218dqd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lbibliote.com/libro-pedia/manual_matematica/?paged=55&amp;author=0" TargetMode="External"/><Relationship Id="rId2" Type="http://schemas.openxmlformats.org/officeDocument/2006/relationships/hyperlink" Target="https://www.facebook.com/icnunam/posts/ven-a-descubrir-el-mundo-de-las-part%C3%ADculas-subat%C3%B3micas-en-la-charla-aplicaciones/1140378258126037/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Agosto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40968"/>
            <a:ext cx="7992888" cy="1264831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76120" y="188640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A695-1775-90CF-4D5E-611587DA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6F2E9D3C-E753-4CDA-B31A-F3F8ED7D9A71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759128405"/>
              </p:ext>
            </p:extLst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48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695400" y="1412776"/>
            <a:ext cx="10081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Contenido: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principal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secundario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disco duro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disco sólido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CD-ROM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pen drive (memoria USB)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nube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Organización Lógica de los Archivos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Tipos de Archivos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Operaciones con Archivos (crear, abrir, escribir, leer, cerrar)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Registros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18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/>
              <a:t>Entendiendo la Organización Lógica vs. Física de Archivos en Registros</a:t>
            </a:r>
          </a:p>
          <a:p>
            <a:pPr algn="ctr"/>
            <a:endParaRPr lang="es-PE" sz="2400" dirty="0"/>
          </a:p>
          <a:p>
            <a:pPr algn="just"/>
            <a:r>
              <a:rPr lang="es-PE" sz="3200" dirty="0"/>
              <a:t>La organización física de archivos suele tratar sobre el "dónde y cómo" se almacenan los datos en el hardware, mientras que la lógica se centra en el "qué" en términos de estructura y acceso desde la perspectiva del usuario o la aplicación. 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26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800" b="1" dirty="0"/>
              <a:t>Definiciones:</a:t>
            </a:r>
          </a:p>
          <a:p>
            <a:pPr algn="just"/>
            <a:endParaRPr lang="es-PE" sz="2800" dirty="0"/>
          </a:p>
          <a:p>
            <a:pPr lvl="0" algn="just"/>
            <a:r>
              <a:rPr lang="es-PE" sz="2800" b="1" dirty="0"/>
              <a:t>Organización Lógica de Archivos (o Modelo de Datos Lógico)</a:t>
            </a:r>
            <a:r>
              <a:rPr lang="es-PE" sz="2800" dirty="0"/>
              <a:t>: Representa la visión abstracta y de alto nivel de los datos tal como los ven los usuarios o las aplicaciones. Se centra en entidades (como objetos o registros), sus atributos (propiedades) y las relaciones entre ellos, sin preocuparse por los detalles técnicos de almacenamiento. Básicamente, define "qué" aspecto tienen los datos (registros, campos y cómo están conectados lógicamente) para satisfacer necesidades comerciales o de usuarios.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54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PE" sz="2400" dirty="0"/>
          </a:p>
          <a:p>
            <a:pPr lvl="0" algn="just"/>
            <a:r>
              <a:rPr lang="es-PE" sz="2400" b="1" dirty="0"/>
              <a:t>Organización Física de Archivos (o Modelo de Datos Físico)</a:t>
            </a:r>
            <a:r>
              <a:rPr lang="es-PE" sz="2400" dirty="0"/>
              <a:t>: Se ocupa de la implementación real del almacenamiento de datos en medios físicos (por ejemplo, discos). Especifica "cómo" y "dónde" se almacenan los datos, incluyendo estructuras de tablas, tipos de datos, índices y optimizaciones para el rendimiento. Es el puente entre la visión lógica y el hardware.</a:t>
            </a:r>
          </a:p>
          <a:p>
            <a:pPr lvl="0" algn="just"/>
            <a:endParaRPr lang="en-US" sz="2400" dirty="0"/>
          </a:p>
          <a:p>
            <a:pPr lvl="0" algn="just"/>
            <a:endParaRPr lang="es-PE" sz="2400" dirty="0"/>
          </a:p>
          <a:p>
            <a:pPr algn="just"/>
            <a:r>
              <a:rPr lang="es-PE" sz="2400" dirty="0"/>
              <a:t>Estos conceptos separan responsabilidades: la lógica para el diseño y la usabilidad, la física para la eficiencia y la implementación.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31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ctr"/>
            <a:r>
              <a:rPr lang="es-PE" sz="2000" b="1" dirty="0"/>
              <a:t>Resumen de Velocidad, Ciclo de Reloj y Latencia CAS en Memorias RAM</a:t>
            </a:r>
          </a:p>
          <a:p>
            <a:pPr algn="ctr"/>
            <a:endParaRPr lang="es-PE" sz="2000" dirty="0"/>
          </a:p>
          <a:p>
            <a:pPr algn="just"/>
            <a:r>
              <a:rPr lang="es-PE" sz="2000" b="1" dirty="0"/>
              <a:t>1. Velocidad en MHz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La velocidad de la RAM (frecuencia) se mide en </a:t>
            </a:r>
            <a:r>
              <a:rPr lang="es-PE" sz="2000" dirty="0" err="1"/>
              <a:t>megahertz</a:t>
            </a:r>
            <a:r>
              <a:rPr lang="es-PE" sz="2000" dirty="0"/>
              <a:t> (MHz) o </a:t>
            </a:r>
            <a:r>
              <a:rPr lang="es-PE" sz="2000" dirty="0" err="1"/>
              <a:t>gigahertz</a:t>
            </a:r>
            <a:r>
              <a:rPr lang="es-PE" sz="2000" dirty="0"/>
              <a:t> (GHz) y representa cuántos ciclos por segundo puede realizar la memoria. Indica la tasa de transferencia de datos (ancho de banda).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DDR4 puede tener velocidades de 2133 MHz a 3200 MHz o más; DDR5, de 4800 MHz a 8400 MHz.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Mayor MHz significa más datos transferidos por segundo, mejorando el rendimiento en aplicaciones que requieren acceso rápido (como bases de datos o consultas en sistemas de archivos).</a:t>
            </a:r>
          </a:p>
          <a:p>
            <a:pPr algn="just"/>
            <a:r>
              <a:rPr lang="es-PE" sz="2000" b="1" dirty="0"/>
              <a:t>Nota</a:t>
            </a:r>
            <a:r>
              <a:rPr lang="es-PE" sz="2000" dirty="0"/>
              <a:t>: La velocidad real depende del bus del sistema y la compatibilidad con la placa base.</a:t>
            </a:r>
          </a:p>
          <a:p>
            <a:pPr algn="just"/>
            <a:r>
              <a:rPr lang="es-PE" sz="2000" dirty="0"/>
              <a:t>DDR: </a:t>
            </a:r>
            <a:r>
              <a:rPr lang="es-PE" sz="2000" dirty="0" err="1"/>
              <a:t>Double</a:t>
            </a:r>
            <a:r>
              <a:rPr lang="es-PE" sz="2000" dirty="0"/>
              <a:t> Data </a:t>
            </a:r>
            <a:r>
              <a:rPr lang="es-PE" sz="2000" dirty="0" err="1"/>
              <a:t>Rate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801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ctr"/>
            <a:r>
              <a:rPr lang="es-PE" sz="2400" b="1" dirty="0"/>
              <a:t>Resumen de Velocidad, Ciclo de Reloj y Latencia CAS en Memorias RAM</a:t>
            </a:r>
          </a:p>
          <a:p>
            <a:pPr algn="ctr"/>
            <a:endParaRPr lang="es-PE" sz="2400" dirty="0"/>
          </a:p>
          <a:p>
            <a:pPr algn="just"/>
            <a:r>
              <a:rPr lang="es-PE" sz="2000" b="1" dirty="0"/>
              <a:t>2. Ciclo de Reloj en </a:t>
            </a:r>
            <a:r>
              <a:rPr lang="es-PE" sz="2000" b="1" dirty="0" err="1"/>
              <a:t>ns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El ciclo de reloj es el tiempo que tarda la RAM en completar un ciclo, medido en nanosegundos (</a:t>
            </a:r>
            <a:r>
              <a:rPr lang="es-PE" sz="2000" dirty="0" err="1"/>
              <a:t>ns</a:t>
            </a:r>
            <a:r>
              <a:rPr lang="es-PE" sz="2000" dirty="0"/>
              <a:t>). Se calcula como: Ciclo de reloj (</a:t>
            </a:r>
            <a:r>
              <a:rPr lang="es-PE" sz="2000" dirty="0" err="1"/>
              <a:t>ns</a:t>
            </a:r>
            <a:r>
              <a:rPr lang="es-PE" sz="2000" dirty="0"/>
              <a:t>) = 1 / Frecuencia (GHz).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Una RAM de 3200 MHz (3.2 GHz) tiene un ciclo de reloj de 1 / 3.2 = ~0.3125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Un ciclo de reloj más corto (menor </a:t>
            </a:r>
            <a:r>
              <a:rPr lang="es-PE" sz="2000" dirty="0" err="1"/>
              <a:t>ns</a:t>
            </a:r>
            <a:r>
              <a:rPr lang="es-PE" sz="2000" dirty="0"/>
              <a:t>) indica mayor rapidez en las operaciones de lectura/escritura, crucial para el acceso físico a datos en sistemas de archivos.</a:t>
            </a:r>
          </a:p>
          <a:p>
            <a:pPr lvl="0" algn="just"/>
            <a:r>
              <a:rPr lang="es-PE" sz="2000" b="1" dirty="0"/>
              <a:t>Nota</a:t>
            </a:r>
            <a:r>
              <a:rPr lang="es-PE" sz="2000" dirty="0"/>
              <a:t>: El ciclo de reloj es una medida teórica; la latencia real depende de otros factores como la latencia CAS.</a:t>
            </a:r>
          </a:p>
        </p:txBody>
      </p:sp>
    </p:spTree>
    <p:extLst>
      <p:ext uri="{BB962C8B-B14F-4D97-AF65-F5344CB8AC3E}">
        <p14:creationId xmlns:p14="http://schemas.microsoft.com/office/powerpoint/2010/main" val="1486586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07368" y="1166842"/>
            <a:ext cx="1008112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s-PE" sz="2800" dirty="0"/>
          </a:p>
          <a:p>
            <a:pPr algn="just"/>
            <a:r>
              <a:rPr lang="es-PE" sz="2000" b="1" dirty="0"/>
              <a:t>3. Latencia CAS (CL)</a:t>
            </a:r>
            <a:endParaRPr lang="es-PE" sz="2000" dirty="0"/>
          </a:p>
          <a:p>
            <a:pPr lvl="0" algn="just"/>
            <a:r>
              <a:rPr lang="es-PE" sz="2000" b="1" dirty="0"/>
              <a:t>Definición</a:t>
            </a:r>
            <a:r>
              <a:rPr lang="es-PE" sz="2000" dirty="0"/>
              <a:t>: La latencia CAS (</a:t>
            </a:r>
            <a:r>
              <a:rPr lang="es-PE" sz="2000" dirty="0" err="1"/>
              <a:t>Column</a:t>
            </a:r>
            <a:r>
              <a:rPr lang="es-PE" sz="2000" dirty="0"/>
              <a:t> </a:t>
            </a:r>
            <a:r>
              <a:rPr lang="es-PE" sz="2000" dirty="0" err="1"/>
              <a:t>Address</a:t>
            </a:r>
            <a:r>
              <a:rPr lang="es-PE" sz="2000" dirty="0"/>
              <a:t> </a:t>
            </a:r>
            <a:r>
              <a:rPr lang="es-PE" sz="2000" dirty="0" err="1"/>
              <a:t>Strobe</a:t>
            </a:r>
            <a:r>
              <a:rPr lang="es-PE" sz="2000" dirty="0"/>
              <a:t>) mide el número de ciclos de reloj que tarda la RAM en responder a una solicitud de datos. Se expresa como CL seguido de un número (p. ej., CL16).</a:t>
            </a:r>
          </a:p>
          <a:p>
            <a:pPr lvl="0" algn="just"/>
            <a:r>
              <a:rPr lang="es-PE" sz="2000" b="1" dirty="0"/>
              <a:t>Ejemplo</a:t>
            </a:r>
            <a:r>
              <a:rPr lang="es-PE" sz="2000" dirty="0"/>
              <a:t>: En una RAM DDR4-3200 con CL16, la memoria tarda 16 ciclos de reloj en entregar datos. Para calcular el tiempo real: Latencia (</a:t>
            </a:r>
            <a:r>
              <a:rPr lang="es-PE" sz="2000" dirty="0" err="1"/>
              <a:t>ns</a:t>
            </a:r>
            <a:r>
              <a:rPr lang="es-PE" sz="2000" dirty="0"/>
              <a:t>) = CL × Ciclo de reloj (</a:t>
            </a:r>
            <a:r>
              <a:rPr lang="es-PE" sz="2000" dirty="0" err="1"/>
              <a:t>ns</a:t>
            </a:r>
            <a:r>
              <a:rPr lang="es-PE" sz="2000" dirty="0"/>
              <a:t>). Para 3200 MHz (0.3125 </a:t>
            </a:r>
            <a:r>
              <a:rPr lang="es-PE" sz="2000" dirty="0" err="1"/>
              <a:t>ns</a:t>
            </a:r>
            <a:r>
              <a:rPr lang="es-PE" sz="2000" dirty="0"/>
              <a:t> por ciclo), 16 × 0.3125 = 5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 algn="just"/>
            <a:r>
              <a:rPr lang="es-PE" sz="2000" b="1" dirty="0"/>
              <a:t>Importancia</a:t>
            </a:r>
            <a:r>
              <a:rPr lang="es-PE" sz="2000" dirty="0"/>
              <a:t>: Una latencia CAS más baja mejora la velocidad de respuesta, especialmente en tareas con accesos frecuentes a datos pequeños (como en organización física de archivos).</a:t>
            </a:r>
          </a:p>
          <a:p>
            <a:pPr lvl="0" algn="just"/>
            <a:r>
              <a:rPr lang="es-PE" sz="2000" b="1" dirty="0"/>
              <a:t>Nota</a:t>
            </a:r>
            <a:r>
              <a:rPr lang="es-PE" sz="2000" dirty="0"/>
              <a:t>: DDR5 suele tener CL más altas (p. ej., CL36) pero compensa con frecuencias mayores, reduciendo el tiempo real en </a:t>
            </a:r>
            <a:r>
              <a:rPr lang="es-PE" sz="2000" dirty="0" err="1"/>
              <a:t>ns</a:t>
            </a:r>
            <a:r>
              <a:rPr lang="es-PE" sz="2000" dirty="0"/>
              <a:t>.</a:t>
            </a:r>
          </a:p>
          <a:p>
            <a:pPr lvl="0"/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483202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792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sz="2400" b="1" dirty="0"/>
              <a:t>Dispositivos de Almacenamiento Primario</a:t>
            </a:r>
          </a:p>
          <a:p>
            <a:pPr algn="just"/>
            <a:r>
              <a:rPr lang="es-PE" b="1" dirty="0"/>
              <a:t>Memoria RAM</a:t>
            </a:r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1559496" y="2924944"/>
            <a:ext cx="4986049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Capacidad en GB</a:t>
            </a:r>
          </a:p>
          <a:p>
            <a:pPr algn="just"/>
            <a:r>
              <a:rPr lang="es-PE" sz="2400" b="1" dirty="0"/>
              <a:t>Velocidad en </a:t>
            </a:r>
            <a:r>
              <a:rPr lang="es-PE" sz="2400" b="1" dirty="0" err="1"/>
              <a:t>Mhz</a:t>
            </a:r>
            <a:endParaRPr lang="es-PE" sz="2400" b="1" dirty="0"/>
          </a:p>
          <a:p>
            <a:pPr algn="just"/>
            <a:r>
              <a:rPr lang="es-PE" b="1" dirty="0"/>
              <a:t>Direccionable por el CPU</a:t>
            </a:r>
          </a:p>
          <a:p>
            <a:pPr algn="just"/>
            <a:r>
              <a:rPr lang="es-PE" b="1" dirty="0"/>
              <a:t>Tecnología de núcleo de ferrita </a:t>
            </a:r>
          </a:p>
          <a:p>
            <a:pPr algn="just"/>
            <a:endParaRPr lang="es-PE" sz="3200" b="1" dirty="0"/>
          </a:p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946606-E1D6-4163-A22C-EA438E79C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52" y="2301672"/>
            <a:ext cx="27813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6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FA4D92-4C7D-4DB4-8BC1-66F0E51D2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052736"/>
            <a:ext cx="9721080" cy="53208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C711CF-4FE7-4EF3-9A85-969E28CFF34A}"/>
              </a:ext>
            </a:extLst>
          </p:cNvPr>
          <p:cNvSpPr txBox="1"/>
          <p:nvPr/>
        </p:nvSpPr>
        <p:spPr>
          <a:xfrm>
            <a:off x="263352" y="3416424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Tecnologías de RAM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4047051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7203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Física de los Archivos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47C6BCE-FBF4-4E12-8B7C-A5E1CF3673F7}"/>
              </a:ext>
            </a:extLst>
          </p:cNvPr>
          <p:cNvSpPr txBox="1"/>
          <p:nvPr/>
        </p:nvSpPr>
        <p:spPr>
          <a:xfrm>
            <a:off x="703783" y="1340768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2. </a:t>
            </a:r>
            <a:r>
              <a:rPr lang="es-PE" sz="2400" b="1" dirty="0"/>
              <a:t>Dispositivos de Almacenamiento Secundario</a:t>
            </a:r>
          </a:p>
          <a:p>
            <a:pPr algn="just"/>
            <a:r>
              <a:rPr lang="es-PE" b="1" dirty="0"/>
              <a:t>Disco Duro [HDD], SSD, Discos ópticos, Pendrive, Discos externos, </a:t>
            </a:r>
            <a:r>
              <a:rPr lang="es-PE" b="1" dirty="0" err="1"/>
              <a:t>Zipdrive</a:t>
            </a:r>
            <a:r>
              <a:rPr lang="es-PE" b="1" dirty="0"/>
              <a:t>, Cintas, NAS, entre otros.</a:t>
            </a:r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0842D4-0267-40D2-A015-D6A982D13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6" y="2693102"/>
            <a:ext cx="2362200" cy="23431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4EC4FBD-4975-43B8-8EDD-667A3F628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458" y="3065910"/>
            <a:ext cx="1724025" cy="15430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D75A58-5A32-4D92-9652-CE535A0C9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360" y="3060249"/>
            <a:ext cx="1296144" cy="11570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8C12DF-47AE-43A5-9E18-C9435F89B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816" y="2564904"/>
            <a:ext cx="2409825" cy="19907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93D706-DA7C-4B26-8002-10B9CD44A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01" y="4680236"/>
            <a:ext cx="2991793" cy="15429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E427F60-32BD-42AE-87E6-44B1BB62EA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568" y="5254651"/>
            <a:ext cx="31337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4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19159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Pendrive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16C067-C715-48D8-8ACE-895E8F5B0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2713984"/>
            <a:ext cx="2105968" cy="248952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2270D4-DF62-4D4F-B048-B69DEA58B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6" y="2564904"/>
            <a:ext cx="2857500" cy="2847975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703783" y="1340768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2. </a:t>
            </a:r>
            <a:r>
              <a:rPr lang="es-PE" sz="2400" b="1" dirty="0"/>
              <a:t>Memorias USB</a:t>
            </a:r>
          </a:p>
          <a:p>
            <a:pPr algn="just"/>
            <a:r>
              <a:rPr lang="es-PE" b="1" dirty="0"/>
              <a:t>Diversas tecnologías de encapsulado como SD, </a:t>
            </a:r>
            <a:r>
              <a:rPr lang="es-PE" b="1" dirty="0" err="1"/>
              <a:t>Memory</a:t>
            </a:r>
            <a:r>
              <a:rPr lang="es-PE" b="1" dirty="0"/>
              <a:t> </a:t>
            </a:r>
            <a:r>
              <a:rPr lang="es-PE" b="1" dirty="0" err="1"/>
              <a:t>Stick</a:t>
            </a:r>
            <a:r>
              <a:rPr lang="es-PE" b="1" dirty="0"/>
              <a:t>.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3414372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27BC-D00A-A30A-F1A6-75FBD261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29F7F9D1-4335-1E30-5164-B14E4E2986DD}"/>
              </a:ext>
            </a:extLst>
          </p:cNvPr>
          <p:cNvGraphicFramePr>
            <a:graphicFrameLocks noGrp="1"/>
          </p:cNvGraphicFramePr>
          <p:nvPr>
            <p:ph type="pic" idx="1"/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045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AC51-9CA0-45F0-C52E-49258B92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65636817-2E1D-6366-D427-3DE76B8992D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3095" r="-3095"/>
          <a:stretch>
            <a:fillRect/>
          </a:stretch>
        </p:blipFill>
        <p:spPr>
          <a:xfrm>
            <a:off x="263525" y="461963"/>
            <a:ext cx="1166495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67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C589-5643-685E-1751-209D6763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018D31-3DFF-A112-3060-B60744BA6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NVMe</a:t>
            </a:r>
            <a:r>
              <a:rPr lang="es-ES" dirty="0"/>
              <a:t> PCIe 4.0 vs PCIe 5.0</a:t>
            </a:r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34753D-5612-35CA-8007-800CBEFD2EEA}"/>
              </a:ext>
            </a:extLst>
          </p:cNvPr>
          <p:cNvSpPr txBox="1"/>
          <p:nvPr/>
        </p:nvSpPr>
        <p:spPr>
          <a:xfrm>
            <a:off x="2711624" y="1844824"/>
            <a:ext cx="7632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3600" dirty="0">
                <a:effectLst/>
              </a:rPr>
              <a:t>Almacenamiento </a:t>
            </a:r>
            <a:r>
              <a:rPr lang="es-ES" sz="3600" dirty="0" err="1">
                <a:effectLst/>
              </a:rPr>
              <a:t>NVMe</a:t>
            </a:r>
            <a:r>
              <a:rPr lang="es-ES" sz="3600" dirty="0">
                <a:effectLst/>
              </a:rPr>
              <a:t>: PCI Express 4.0 vs 5.0 En </a:t>
            </a:r>
            <a:r>
              <a:rPr lang="es-ES" sz="3600" dirty="0" err="1">
                <a:effectLst/>
              </a:rPr>
              <a:t>PCs</a:t>
            </a:r>
            <a:r>
              <a:rPr lang="es-ES" sz="3600" dirty="0">
                <a:effectLst/>
              </a:rPr>
              <a:t> de escritorio y Servidores Dell – Tiempos de acceso y transferencia</a:t>
            </a:r>
          </a:p>
        </p:txBody>
      </p:sp>
    </p:spTree>
    <p:extLst>
      <p:ext uri="{BB962C8B-B14F-4D97-AF65-F5344CB8AC3E}">
        <p14:creationId xmlns:p14="http://schemas.microsoft.com/office/powerpoint/2010/main" val="877049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66783-F866-BCEB-0D6B-55742106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DDA164-F00E-5E1F-9484-7878B6E98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dirty="0"/>
              <a:t>Jerarquía de almacenamiento clásico</a:t>
            </a:r>
          </a:p>
          <a:p>
            <a:r>
              <a:rPr lang="es-ES" dirty="0"/>
              <a:t>CPU → PCI Express → Controlador </a:t>
            </a:r>
            <a:r>
              <a:rPr lang="es-ES" dirty="0" err="1"/>
              <a:t>NVMe</a:t>
            </a:r>
            <a:r>
              <a:rPr lang="es-ES" dirty="0"/>
              <a:t> → SSD </a:t>
            </a:r>
            <a:r>
              <a:rPr lang="es-ES" dirty="0" err="1"/>
              <a:t>NVMe</a:t>
            </a:r>
            <a:r>
              <a:rPr lang="es-ES" dirty="0"/>
              <a:t> → Memoria NAND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6F829A-B31B-297E-ED5C-76A989DED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88" y="1412776"/>
            <a:ext cx="1101722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CPU (Unidad Central de Procesamiento):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origen de la solicitud de datos. Opera a frecuencias de gigahercios (GHz) con registros y cachés que responden en fracciones de nanosegundo.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PCI Express (PCIe):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bus de interconexión serie de alta velocidad. Transporta los comandos e información con un ancho de banda masivo y latencias de transporte extremadamente bajas.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Controlador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NVMe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procesador dedicado del almacenamiento. Traduce los comandos genéricos del sistema operativo en señales eléctricas específicas que la memoria flash comprende.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SSD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NVMe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dispositivo o unidad de estado sólido completa, que encapsula el hardware de control, las cachés DRAM de soporte y los canales de comunicación internos. [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hlinkClick r:id="rId2"/>
              </a:rPr>
              <a:t>1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Memoria NAND (Flash):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destino final. Las celdas de silicio donde los electrones se atrapan o liberan para almacenar los bits de forma no volátil.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590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1A0E-69CE-5DF3-0DF7-35722CD2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CA1472-B96B-72B1-50EB-624FD6C9B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>
                <a:latin typeface="Google Sans"/>
              </a:rPr>
              <a:t>Analogía de Sistemas Clásicos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32F467-CA89-DC36-42F9-5ACD6C9136CE}"/>
              </a:ext>
            </a:extLst>
          </p:cNvPr>
          <p:cNvSpPr txBox="1"/>
          <p:nvPr/>
        </p:nvSpPr>
        <p:spPr>
          <a:xfrm>
            <a:off x="1055440" y="1700808"/>
            <a:ext cx="9865096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s-ES" sz="2400" b="1" u="none" strike="noStrike" dirty="0">
                <a:effectLst/>
                <a:latin typeface="Google Sans"/>
              </a:rPr>
              <a:t>El cuello de botella de la lectura (</a:t>
            </a:r>
            <a:r>
              <a:rPr lang="es-ES" sz="2400" b="1" u="none" strike="noStrike" dirty="0" err="1">
                <a:effectLst/>
                <a:latin typeface="Google Sans"/>
              </a:rPr>
              <a:t>Readout</a:t>
            </a:r>
            <a:r>
              <a:rPr lang="es-ES" sz="2400" b="1" u="none" strike="noStrike" dirty="0">
                <a:effectLst/>
                <a:latin typeface="Google Sans"/>
              </a:rPr>
              <a:t>):</a:t>
            </a:r>
            <a:r>
              <a:rPr lang="es-ES" sz="2400" b="0" u="none" strike="noStrike" dirty="0">
                <a:effectLst/>
                <a:latin typeface="Google Sans"/>
              </a:rPr>
              <a:t> Mientras que en un SSD el paso de </a:t>
            </a:r>
            <a:r>
              <a:rPr lang="es-ES" sz="2400" b="0" i="1" u="none" strike="noStrike" dirty="0">
                <a:effectLst/>
                <a:latin typeface="Google Sans"/>
              </a:rPr>
              <a:t>Controlador </a:t>
            </a:r>
            <a:r>
              <a:rPr lang="es-ES" sz="2400" b="0" i="1" u="none" strike="noStrike" dirty="0" err="1">
                <a:effectLst/>
                <a:latin typeface="Google Sans"/>
              </a:rPr>
              <a:t>NVMe</a:t>
            </a:r>
            <a:r>
              <a:rPr lang="es-ES" sz="2400" b="0" i="1" u="none" strike="noStrike" dirty="0">
                <a:effectLst/>
                <a:latin typeface="Google Sans"/>
              </a:rPr>
              <a:t> → Memoria NAND</a:t>
            </a:r>
            <a:r>
              <a:rPr lang="es-ES" sz="2400" b="0" u="none" strike="noStrike" dirty="0">
                <a:effectLst/>
                <a:latin typeface="Google Sans"/>
              </a:rPr>
              <a:t> toma microsegundos para leer celdas físicas, en computación cuántica el paso de </a:t>
            </a:r>
            <a:r>
              <a:rPr lang="es-ES" sz="2400" b="0" i="1" u="none" strike="noStrike" dirty="0">
                <a:effectLst/>
                <a:latin typeface="Google Sans"/>
              </a:rPr>
              <a:t>Procesador (QPU) → Sistema Clásico</a:t>
            </a:r>
            <a:r>
              <a:rPr lang="es-ES" sz="2400" b="0" u="none" strike="noStrike" dirty="0">
                <a:effectLst/>
                <a:latin typeface="Google Sans"/>
              </a:rPr>
              <a:t> implica colapsar una función de onda analógica y amplificar microondas. Eso requiere hardware de radiofrecuencia (RF) y criogénico, tardando milisegundos.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s-ES" sz="2400" b="1" u="none" strike="noStrike" dirty="0">
                <a:effectLst/>
                <a:latin typeface="Google Sans"/>
              </a:rPr>
              <a:t>Diferencia de Naturaleza:</a:t>
            </a:r>
            <a:r>
              <a:rPr lang="es-ES" sz="2400" b="0" u="none" strike="noStrike" dirty="0">
                <a:effectLst/>
                <a:latin typeface="Google Sans"/>
              </a:rPr>
              <a:t> En tu flujo clásico, los datos viajan codificados en voltajes discretos estables. En el flujo cuántico de compuertas, la información pasa por fases analógicas, pulsos de láser o interferencia óptica que no se pueden almacenar en una "memoria" convencional de forma directa.</a:t>
            </a:r>
          </a:p>
        </p:txBody>
      </p:sp>
    </p:spTree>
    <p:extLst>
      <p:ext uri="{BB962C8B-B14F-4D97-AF65-F5344CB8AC3E}">
        <p14:creationId xmlns:p14="http://schemas.microsoft.com/office/powerpoint/2010/main" val="2844719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2215-7525-494F-488E-D145E47C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B0E791-F970-2B9A-956F-9003F4384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Tabla comparativa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5CE637E-E333-EF20-B43D-5C99F0E6F989}"/>
              </a:ext>
            </a:extLst>
          </p:cNvPr>
          <p:cNvGraphicFramePr>
            <a:graphicFrameLocks noGrp="1"/>
          </p:cNvGraphicFramePr>
          <p:nvPr/>
        </p:nvGraphicFramePr>
        <p:xfrm>
          <a:off x="202973" y="1556792"/>
          <a:ext cx="11664947" cy="4103370"/>
        </p:xfrm>
        <a:graphic>
          <a:graphicData uri="http://schemas.openxmlformats.org/drawingml/2006/table">
            <a:tbl>
              <a:tblPr firstRow="1" firstCol="1" bandRow="1"/>
              <a:tblGrid>
                <a:gridCol w="1666421">
                  <a:extLst>
                    <a:ext uri="{9D8B030D-6E8A-4147-A177-3AD203B41FA5}">
                      <a16:colId xmlns:a16="http://schemas.microsoft.com/office/drawing/2014/main" val="4235210975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1969370538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541257168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2840115593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1832223236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4162303199"/>
                    </a:ext>
                  </a:extLst>
                </a:gridCol>
                <a:gridCol w="1666421">
                  <a:extLst>
                    <a:ext uri="{9D8B030D-6E8A-4147-A177-3AD203B41FA5}">
                      <a16:colId xmlns:a16="http://schemas.microsoft.com/office/drawing/2014/main" val="319186527"/>
                    </a:ext>
                  </a:extLst>
                </a:gridCol>
              </a:tblGrid>
              <a:tr h="6186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Escenario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Interfaz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Líneas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Ancho de banda PCIe teórico (por dirección)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Lectura secuencial típica NVMe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Latencia de dispositivo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IOPS (aprox.)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340059"/>
                  </a:ext>
                </a:extLst>
              </a:tr>
              <a:tr h="1979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 Escritorio PCIe 4.0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PCIe 4.0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x4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~7,9 GB/s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 – 7,5 GB/s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~10–50 µs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Depende del SSD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377333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 Escritorio PCIe 5.0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PCIe 5.0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x4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~15,8 GB/s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&gt;10 GB/s (modelos top)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~10–40 µs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Depende del SSD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062441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Servidor Dell PCIe 4.0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PCIe 4.0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config.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número de lanes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SSD empresarial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~10–30 µs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carga/SSD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53017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Servidor Dell PCIe 5.0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PCIe 5.0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config.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número de lanes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SSD empresarial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~8–25 µs</a:t>
                      </a:r>
                      <a:endParaRPr lang="es-E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Según carga/SSD</a:t>
                      </a:r>
                      <a:endParaRPr lang="es-E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78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454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D4C4286-DC7F-0169-DA8B-5392DEB5DE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Escala temporal de una operación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AA6659-4CA9-5C37-1981-68E4BE04F48E}"/>
              </a:ext>
            </a:extLst>
          </p:cNvPr>
          <p:cNvSpPr txBox="1"/>
          <p:nvPr/>
        </p:nvSpPr>
        <p:spPr>
          <a:xfrm>
            <a:off x="2063552" y="1772816"/>
            <a:ext cx="9001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dirty="0"/>
              <a:t>CPU / Cache → RAM → </a:t>
            </a:r>
            <a:r>
              <a:rPr lang="es-ES" sz="4400" dirty="0" err="1"/>
              <a:t>NVMe</a:t>
            </a:r>
            <a:endParaRPr lang="es-ES" sz="4400" dirty="0"/>
          </a:p>
          <a:p>
            <a:r>
              <a:rPr lang="es-ES" sz="4400" dirty="0" err="1"/>
              <a:t>ns</a:t>
            </a:r>
            <a:r>
              <a:rPr lang="es-ES" sz="4400" dirty="0"/>
              <a:t>          → </a:t>
            </a:r>
            <a:r>
              <a:rPr lang="es-ES" sz="4400" dirty="0" err="1"/>
              <a:t>ns</a:t>
            </a:r>
            <a:r>
              <a:rPr lang="es-ES" sz="4400" dirty="0"/>
              <a:t>  → µs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70AB9D5-65DC-70AB-F72F-0C50EAFC48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1384" y="2834354"/>
            <a:ext cx="115686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y memoria: escala de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nanosegundos (</a:t>
            </a:r>
            <a:r>
              <a:rPr kumimoji="0" lang="es-ES" altLang="es-E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SSD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NVMe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latencia de dispositivo en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microsegundos (µs)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 total percibido por la aplicación puede ser mayor (SO, colas, sistema de archivos, etc.) </a:t>
            </a:r>
          </a:p>
        </p:txBody>
      </p:sp>
    </p:spTree>
    <p:extLst>
      <p:ext uri="{BB962C8B-B14F-4D97-AF65-F5344CB8AC3E}">
        <p14:creationId xmlns:p14="http://schemas.microsoft.com/office/powerpoint/2010/main" val="641430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FDDB-D9FB-2226-92D6-B45E480C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3832BE1-AEFB-CC45-B57B-AA8BD1540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Comparación conceptual</a:t>
            </a:r>
          </a:p>
          <a:p>
            <a:endParaRPr lang="es-E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DCBB3C-3870-257A-4537-5605D1EDD36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7368" y="1917994"/>
            <a:ext cx="110398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PCIe 5.0 ≈ 2× el ancho de banda de PCIe 4.0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nivel de interfaz)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SSD real suele ser el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 limitante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servidores Dell se pueden tener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múltiples unidades </a:t>
            </a:r>
            <a:r>
              <a:rPr kumimoji="0" lang="es-ES" altLang="es-E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NVMe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trabajando en paralelo </a:t>
            </a:r>
          </a:p>
        </p:txBody>
      </p:sp>
    </p:spTree>
    <p:extLst>
      <p:ext uri="{BB962C8B-B14F-4D97-AF65-F5344CB8AC3E}">
        <p14:creationId xmlns:p14="http://schemas.microsoft.com/office/powerpoint/2010/main" val="367375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D74B7-9183-DDCA-6F6C-9FAACCD8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93930A46-6086-5B92-A392-646D71A2B838}"/>
              </a:ext>
            </a:extLst>
          </p:cNvPr>
          <p:cNvGraphicFramePr>
            <a:graphicFrameLocks noGrp="1"/>
          </p:cNvGraphicFramePr>
          <p:nvPr>
            <p:ph type="pic" idx="1"/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276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FEDBD7-4E52-5B4A-97FE-B507D625E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dirty="0"/>
              <a:t>Computación Cuántica – 4 enfoques principales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F9A3D3-9F2F-3779-1AAB-E3FCD0C225D5}"/>
              </a:ext>
            </a:extLst>
          </p:cNvPr>
          <p:cNvSpPr txBox="1"/>
          <p:nvPr/>
        </p:nvSpPr>
        <p:spPr>
          <a:xfrm>
            <a:off x="3170583" y="2906421"/>
            <a:ext cx="6460434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 4 principales enfoques de Computación Cuántica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Perspectiva arquitectónica, temporal y de transferencia para Ingeniería Informática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125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8C56-71C5-C87D-6F03-CEC34B10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800ADEA5-0653-CFA6-3531-515F545FB6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4938" r="-493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6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ECCE6-3CD8-1EE0-EE06-17E0646E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B38CBA-945C-3713-C742-5ECBB118F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Visión general comparativa</a:t>
            </a:r>
          </a:p>
          <a:p>
            <a:endParaRPr lang="es-ES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086DBEC-CF80-EF2F-D1BC-F03F16A0BC0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84785"/>
          <a:ext cx="10515600" cy="4299587"/>
        </p:xfrm>
        <a:graphic>
          <a:graphicData uri="http://schemas.openxmlformats.org/drawingml/2006/table">
            <a:tbl>
              <a:tblPr firstRow="1" firstCol="1" bandRow="1"/>
              <a:tblGrid>
                <a:gridCol w="1314450">
                  <a:extLst>
                    <a:ext uri="{9D8B030D-6E8A-4147-A177-3AD203B41FA5}">
                      <a16:colId xmlns:a16="http://schemas.microsoft.com/office/drawing/2014/main" val="22216411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147739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685131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926447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017283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356502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8598308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70039640"/>
                    </a:ext>
                  </a:extLst>
                </a:gridCol>
              </a:tblGrid>
              <a:tr h="660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Enfoque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Unidad Básica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Mecanismo de Control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Aplicación Principal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Tiempo de Operación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Tiempo de Lectura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Transferencia QPU ↔ Clásico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Madurez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64677"/>
                  </a:ext>
                </a:extLst>
              </a:tr>
              <a:tr h="10006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Compuertas (Gate-Based)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Qubit (Supercond. / Ión)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Pulsos de microondas o láser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Algoritmos generales (Shor, Grover)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 ns – 100 µs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 ns – 1 ms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Alta (GB/s vía RF/microondas)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Intermedia-Alta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80274"/>
                  </a:ext>
                </a:extLst>
              </a:tr>
              <a:tr h="660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Recocido Cuántico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Qubit (espín acoplado)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Evolución de Hamiltonianos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Optimización combinatoria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 – 20 µs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~100 µs – 1 ms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Media (latencia de red)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Alta (nicho)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139242"/>
                  </a:ext>
                </a:extLst>
              </a:tr>
              <a:tr h="660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Topológica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Anyones no abelianos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Trenzado geométrico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Computación tolerante a fallos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Depende de arquitectura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Depende de arquitectura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 desarrollo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Baja / Experimental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791332"/>
                  </a:ext>
                </a:extLst>
              </a:tr>
              <a:tr h="660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Fotónica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Fotón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Interferencia + divisores de haz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Simulación y redes cuánticas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 – 100 ps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 – 10 ns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Muy Alta (Gb/s → TB/s)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Intermedia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28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079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0AC1-2D91-34E2-4093-405743F7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FAC418-2229-0AB8-75D6-C23B3A11A3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Escala temporal de referencia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23A3E-89F7-B452-47C2-CEB00B5A75B2}"/>
              </a:ext>
            </a:extLst>
          </p:cNvPr>
          <p:cNvSpPr txBox="1"/>
          <p:nvPr/>
        </p:nvSpPr>
        <p:spPr>
          <a:xfrm>
            <a:off x="983432" y="1328019"/>
            <a:ext cx="10009112" cy="446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(Picosegundo):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\(10^{-12}\) segundos.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Etiqueta técnica: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Computación Fotónica.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 la velocidad a la que viajan y se interfieren los fotones dentro del chip óptico.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(Nanosegundo):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\(10^{-9}\) segundos.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Etiqueta técnica: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Compuertas de Superconductores.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Tiempo estándar en el que se ejecutan las operaciones lógicas en procesadores como los de IBM o Google. [</a:t>
            </a:r>
            <a:r>
              <a:rPr lang="es-ES" sz="1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1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µs (Microsegundo):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\(10^{-6}\) segundos.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Etiqueta técnica: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Recocido Cuántico / Iones Atrapados.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Tiempo en el que evoluciona el Hamiltoniano en D-Wave o en el que operan los láseres sobre iones. [</a:t>
            </a:r>
            <a:r>
              <a:rPr lang="es-ES" sz="1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1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ms (Milisegundo):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\(10^{-3}\) segundos.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Etiqueta técnica: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Tiempos de Lectura (</a:t>
            </a:r>
            <a:r>
              <a:rPr lang="es-ES" sz="1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Readout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 estado cuántico se colapsa y los sistemas clásicos tardan esta escala en medir y promediar el resultado físico.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 (Segundo):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\(1.0\) segundo.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Etiqueta técnica: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Tiempo de Acceso Total (Fin a Fin).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latencia que experimenta el usuario clásico desde que envía(activa) el algoritmo por la nube hasta que recibe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074683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D3C3-15CF-4D33-8470-A8424BEA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5AA4CB-FF58-89A1-B951-35F6B65FE1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Escala temporal de referencia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33B387-37CC-B6DE-9ADC-9A98F23DE171}"/>
              </a:ext>
            </a:extLst>
          </p:cNvPr>
          <p:cNvSpPr txBox="1"/>
          <p:nvPr/>
        </p:nvSpPr>
        <p:spPr>
          <a:xfrm>
            <a:off x="2999656" y="1556792"/>
            <a:ext cx="6460434" cy="155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CPU / Cache clásica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escala de </a:t>
            </a:r>
            <a:r>
              <a:rPr lang="es-E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SSD </a:t>
            </a:r>
            <a:r>
              <a:rPr lang="es-E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NVMe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escala de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µs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Operaciones cuánticas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desde </a:t>
            </a:r>
            <a:r>
              <a:rPr lang="es-E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(fotónica) hasta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(lectura completa)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48DFEA-74AD-374C-F098-04E9A3A6C1CD}"/>
              </a:ext>
            </a:extLst>
          </p:cNvPr>
          <p:cNvSpPr txBox="1"/>
          <p:nvPr/>
        </p:nvSpPr>
        <p:spPr>
          <a:xfrm>
            <a:off x="1271464" y="3748220"/>
            <a:ext cx="9433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Nota de rigor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Los valores son rangos de referencia. Dependen de la tecnología, arquitectura, hardware de control y sistema de lectura.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se comparan directamente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 tiempos de acceso a RAM clásica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4644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2028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682689" y="1700808"/>
            <a:ext cx="10260129" cy="38164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highlight>
                  <a:srgbClr val="CCFFFF"/>
                </a:highlight>
              </a:rPr>
              <a:t>EFECTUE UN RESUMEN DE:</a:t>
            </a:r>
          </a:p>
          <a:p>
            <a:pPr marL="457200" indent="-457200" algn="just">
              <a:buAutoNum type="arabicPeriod"/>
            </a:pPr>
            <a:r>
              <a:rPr lang="es-ES" sz="2400" b="1" dirty="0"/>
              <a:t>Indague de los 4 principales enfoques de Computación Cuántica.</a:t>
            </a:r>
          </a:p>
          <a:p>
            <a:pPr marL="457200" indent="-457200" algn="just">
              <a:buAutoNum type="arabicPeriod"/>
            </a:pPr>
            <a:r>
              <a:rPr lang="es-ES" b="1" dirty="0"/>
              <a:t>Averigua</a:t>
            </a:r>
            <a:r>
              <a:rPr lang="es-ES" sz="2400" b="1" dirty="0"/>
              <a:t> sobre los dos computadores cuánticos en América Latina</a:t>
            </a:r>
            <a:r>
              <a:rPr lang="es-PE" b="1" dirty="0"/>
              <a:t>.</a:t>
            </a:r>
          </a:p>
          <a:p>
            <a:pPr marL="457200" indent="-457200" algn="just">
              <a:buAutoNum type="arabicPeriod"/>
            </a:pPr>
            <a:r>
              <a:rPr lang="es-PE" sz="2400" b="1" dirty="0"/>
              <a:t>La nanotecnología había pronosticado hace varios años que íbamos a tener dispositivos de almacenamiento basados en átomos, ¿en qué trabaja la ciencia en este sentido? ¿Cuáles serán los dispositivos de almacenamiento del futuro? ¿Qué características tendrán?</a:t>
            </a:r>
          </a:p>
        </p:txBody>
      </p:sp>
    </p:spTree>
    <p:extLst>
      <p:ext uri="{BB962C8B-B14F-4D97-AF65-F5344CB8AC3E}">
        <p14:creationId xmlns:p14="http://schemas.microsoft.com/office/powerpoint/2010/main" val="3632592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25270</TotalTime>
  <Words>2079</Words>
  <Application>Microsoft Office PowerPoint</Application>
  <PresentationFormat>Panorámica</PresentationFormat>
  <Paragraphs>234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40" baseType="lpstr">
      <vt:lpstr>Arena Condensed</vt:lpstr>
      <vt:lpstr>Arial</vt:lpstr>
      <vt:lpstr>Calibri</vt:lpstr>
      <vt:lpstr>Calibri Light</vt:lpstr>
      <vt:lpstr>Courier New</vt:lpstr>
      <vt:lpstr>Google Sans</vt:lpstr>
      <vt:lpstr>Symbol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 Castro Rodriguez</cp:lastModifiedBy>
  <cp:revision>845</cp:revision>
  <dcterms:created xsi:type="dcterms:W3CDTF">2018-02-24T13:56:14Z</dcterms:created>
  <dcterms:modified xsi:type="dcterms:W3CDTF">2026-08-30T18:23:34Z</dcterms:modified>
</cp:coreProperties>
</file>