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3"/>
  </p:notesMasterIdLst>
  <p:handoutMasterIdLst>
    <p:handoutMasterId r:id="rId24"/>
  </p:handoutMasterIdLst>
  <p:sldIdLst>
    <p:sldId id="653" r:id="rId2"/>
    <p:sldId id="540" r:id="rId3"/>
    <p:sldId id="982" r:id="rId4"/>
    <p:sldId id="656" r:id="rId5"/>
    <p:sldId id="654" r:id="rId6"/>
    <p:sldId id="660" r:id="rId7"/>
    <p:sldId id="668" r:id="rId8"/>
    <p:sldId id="669" r:id="rId9"/>
    <p:sldId id="661" r:id="rId10"/>
    <p:sldId id="670" r:id="rId11"/>
    <p:sldId id="662" r:id="rId12"/>
    <p:sldId id="671" r:id="rId13"/>
    <p:sldId id="663" r:id="rId14"/>
    <p:sldId id="664" r:id="rId15"/>
    <p:sldId id="665" r:id="rId16"/>
    <p:sldId id="672" r:id="rId17"/>
    <p:sldId id="666" r:id="rId18"/>
    <p:sldId id="667" r:id="rId19"/>
    <p:sldId id="673" r:id="rId20"/>
    <p:sldId id="1021" r:id="rId21"/>
    <p:sldId id="659" r:id="rId2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70B8"/>
    <a:srgbClr val="00FF00"/>
    <a:srgbClr val="CCFFFF"/>
    <a:srgbClr val="213A89"/>
    <a:srgbClr val="0000CC"/>
    <a:srgbClr val="FFFF99"/>
    <a:srgbClr val="EEEDEB"/>
    <a:srgbClr val="F1F1F1"/>
    <a:srgbClr val="E6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98" autoAdjust="0"/>
    <p:restoredTop sz="94671" autoAdjust="0"/>
  </p:normalViewPr>
  <p:slideViewPr>
    <p:cSldViewPr>
      <p:cViewPr varScale="1">
        <p:scale>
          <a:sx n="113" d="100"/>
          <a:sy n="113" d="100"/>
        </p:scale>
        <p:origin x="106" y="17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32" y="6923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4402"/>
    </p:cViewPr>
  </p:sorterViewPr>
  <p:notesViewPr>
    <p:cSldViewPr>
      <p:cViewPr varScale="1">
        <p:scale>
          <a:sx n="148" d="100"/>
          <a:sy n="148" d="100"/>
        </p:scale>
        <p:origin x="1762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0892F-EC72-4887-B184-DCF89BEE2FCE}" type="doc">
      <dgm:prSet loTypeId="urn:microsoft.com/office/officeart/2008/layout/VerticalCurvedList" loCatId="list" qsTypeId="urn:microsoft.com/office/officeart/2005/8/quickstyle/3d9" qsCatId="3D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293C9B94-AE7A-4C44-9DA1-0FA8F0EFEC9B}">
      <dgm:prSet phldrT="[Texto]" custT="1"/>
      <dgm:spPr/>
      <dgm:t>
        <a:bodyPr/>
        <a:lstStyle/>
        <a:p>
          <a:r>
            <a:rPr lang="es-ES" sz="2800" b="1" kern="1200" dirty="0">
              <a:latin typeface="Arial" panose="020B0604020202020204" pitchFamily="34" charset="0"/>
              <a:cs typeface="Arial" panose="020B0604020202020204" pitchFamily="34" charset="0"/>
            </a:rPr>
            <a:t>Organización Lógica del Archivo</a:t>
          </a:r>
          <a:endParaRPr lang="es-PE" sz="2800" b="1" dirty="0"/>
        </a:p>
      </dgm:t>
    </dgm:pt>
    <dgm:pt modelId="{95814C47-CB11-40AC-91EC-4025475C2C9C}" type="parTrans" cxnId="{97132041-2C8F-4614-8EC5-8084A6B79E72}">
      <dgm:prSet/>
      <dgm:spPr/>
      <dgm:t>
        <a:bodyPr/>
        <a:lstStyle/>
        <a:p>
          <a:endParaRPr lang="es-PE" sz="2000"/>
        </a:p>
      </dgm:t>
    </dgm:pt>
    <dgm:pt modelId="{6396FD51-C364-438F-B570-77A20A072E72}" type="sibTrans" cxnId="{97132041-2C8F-4614-8EC5-8084A6B79E72}">
      <dgm:prSet/>
      <dgm:spPr/>
      <dgm:t>
        <a:bodyPr/>
        <a:lstStyle/>
        <a:p>
          <a:endParaRPr lang="es-PE" sz="2000"/>
        </a:p>
      </dgm:t>
    </dgm:pt>
    <dgm:pt modelId="{683F5F6A-EA1B-43B0-A55E-E2769BAC4123}" type="pres">
      <dgm:prSet presAssocID="{FB00892F-EC72-4887-B184-DCF89BEE2FCE}" presName="Name0" presStyleCnt="0">
        <dgm:presLayoutVars>
          <dgm:chMax val="7"/>
          <dgm:chPref val="7"/>
          <dgm:dir/>
        </dgm:presLayoutVars>
      </dgm:prSet>
      <dgm:spPr/>
    </dgm:pt>
    <dgm:pt modelId="{84910027-B218-4E01-933E-00FA7E18C6F0}" type="pres">
      <dgm:prSet presAssocID="{FB00892F-EC72-4887-B184-DCF89BEE2FCE}" presName="Name1" presStyleCnt="0"/>
      <dgm:spPr/>
    </dgm:pt>
    <dgm:pt modelId="{8FC490E7-1FD9-4EE0-B4DB-9E56D0ABF072}" type="pres">
      <dgm:prSet presAssocID="{FB00892F-EC72-4887-B184-DCF89BEE2FCE}" presName="cycle" presStyleCnt="0"/>
      <dgm:spPr/>
    </dgm:pt>
    <dgm:pt modelId="{B818F943-8162-48F1-BBC1-0216AEC71003}" type="pres">
      <dgm:prSet presAssocID="{FB00892F-EC72-4887-B184-DCF89BEE2FCE}" presName="srcNode" presStyleLbl="node1" presStyleIdx="0" presStyleCnt="1"/>
      <dgm:spPr/>
    </dgm:pt>
    <dgm:pt modelId="{A7BDD032-8F54-4940-8261-D9979C63CF27}" type="pres">
      <dgm:prSet presAssocID="{FB00892F-EC72-4887-B184-DCF89BEE2FCE}" presName="conn" presStyleLbl="parChTrans1D2" presStyleIdx="0" presStyleCnt="1"/>
      <dgm:spPr/>
    </dgm:pt>
    <dgm:pt modelId="{D81B4D94-0910-4BBD-B239-AA7D2C96A780}" type="pres">
      <dgm:prSet presAssocID="{FB00892F-EC72-4887-B184-DCF89BEE2FCE}" presName="extraNode" presStyleLbl="node1" presStyleIdx="0" presStyleCnt="1"/>
      <dgm:spPr/>
    </dgm:pt>
    <dgm:pt modelId="{FA2C3F46-A5D4-4297-9EFF-90EBAA3AF140}" type="pres">
      <dgm:prSet presAssocID="{FB00892F-EC72-4887-B184-DCF89BEE2FCE}" presName="dstNode" presStyleLbl="node1" presStyleIdx="0" presStyleCnt="1"/>
      <dgm:spPr/>
    </dgm:pt>
    <dgm:pt modelId="{67433B04-4786-459B-987D-AC1760F0DCB1}" type="pres">
      <dgm:prSet presAssocID="{293C9B94-AE7A-4C44-9DA1-0FA8F0EFEC9B}" presName="text_1" presStyleLbl="node1" presStyleIdx="0" presStyleCnt="1">
        <dgm:presLayoutVars>
          <dgm:bulletEnabled val="1"/>
        </dgm:presLayoutVars>
      </dgm:prSet>
      <dgm:spPr/>
    </dgm:pt>
    <dgm:pt modelId="{F865064F-E3E0-443A-ACB6-8A264D00ACE0}" type="pres">
      <dgm:prSet presAssocID="{293C9B94-AE7A-4C44-9DA1-0FA8F0EFEC9B}" presName="accent_1" presStyleCnt="0"/>
      <dgm:spPr/>
    </dgm:pt>
    <dgm:pt modelId="{04E8B14C-EAA3-4C36-8201-1F419CF99CC7}" type="pres">
      <dgm:prSet presAssocID="{293C9B94-AE7A-4C44-9DA1-0FA8F0EFEC9B}" presName="accentRepeatNode" presStyleLbl="solidFgAcc1" presStyleIdx="0" presStyleCnt="1" custLinFactNeighborX="1349" custLinFactNeighborY="-4864"/>
      <dgm:spPr/>
    </dgm:pt>
  </dgm:ptLst>
  <dgm:cxnLst>
    <dgm:cxn modelId="{3325DC15-C3DA-406F-917D-EC25CB37C76D}" type="presOf" srcId="{6396FD51-C364-438F-B570-77A20A072E72}" destId="{A7BDD032-8F54-4940-8261-D9979C63CF27}" srcOrd="0" destOrd="0" presId="urn:microsoft.com/office/officeart/2008/layout/VerticalCurvedList"/>
    <dgm:cxn modelId="{38E5BB22-70E2-4C6D-BB54-F14FDDE9EBBA}" type="presOf" srcId="{FB00892F-EC72-4887-B184-DCF89BEE2FCE}" destId="{683F5F6A-EA1B-43B0-A55E-E2769BAC4123}" srcOrd="0" destOrd="0" presId="urn:microsoft.com/office/officeart/2008/layout/VerticalCurvedList"/>
    <dgm:cxn modelId="{97132041-2C8F-4614-8EC5-8084A6B79E72}" srcId="{FB00892F-EC72-4887-B184-DCF89BEE2FCE}" destId="{293C9B94-AE7A-4C44-9DA1-0FA8F0EFEC9B}" srcOrd="0" destOrd="0" parTransId="{95814C47-CB11-40AC-91EC-4025475C2C9C}" sibTransId="{6396FD51-C364-438F-B570-77A20A072E72}"/>
    <dgm:cxn modelId="{DDF77A88-E25A-4A55-BB7C-3416070AFD19}" type="presOf" srcId="{293C9B94-AE7A-4C44-9DA1-0FA8F0EFEC9B}" destId="{67433B04-4786-459B-987D-AC1760F0DCB1}" srcOrd="0" destOrd="0" presId="urn:microsoft.com/office/officeart/2008/layout/VerticalCurvedList"/>
    <dgm:cxn modelId="{32C53818-76BD-48EE-8AC4-27C504B68E2E}" type="presParOf" srcId="{683F5F6A-EA1B-43B0-A55E-E2769BAC4123}" destId="{84910027-B218-4E01-933E-00FA7E18C6F0}" srcOrd="0" destOrd="0" presId="urn:microsoft.com/office/officeart/2008/layout/VerticalCurvedList"/>
    <dgm:cxn modelId="{A57266AF-D89A-4224-9D05-3A80A403C065}" type="presParOf" srcId="{84910027-B218-4E01-933E-00FA7E18C6F0}" destId="{8FC490E7-1FD9-4EE0-B4DB-9E56D0ABF072}" srcOrd="0" destOrd="0" presId="urn:microsoft.com/office/officeart/2008/layout/VerticalCurvedList"/>
    <dgm:cxn modelId="{3BBAFFB8-4ABD-45B3-A4DD-5361134BDFA3}" type="presParOf" srcId="{8FC490E7-1FD9-4EE0-B4DB-9E56D0ABF072}" destId="{B818F943-8162-48F1-BBC1-0216AEC71003}" srcOrd="0" destOrd="0" presId="urn:microsoft.com/office/officeart/2008/layout/VerticalCurvedList"/>
    <dgm:cxn modelId="{559FC1CC-AEC9-4C6B-8D02-0DF78289A516}" type="presParOf" srcId="{8FC490E7-1FD9-4EE0-B4DB-9E56D0ABF072}" destId="{A7BDD032-8F54-4940-8261-D9979C63CF27}" srcOrd="1" destOrd="0" presId="urn:microsoft.com/office/officeart/2008/layout/VerticalCurvedList"/>
    <dgm:cxn modelId="{30C5F15A-5A2A-4964-819B-4D96E948E2AB}" type="presParOf" srcId="{8FC490E7-1FD9-4EE0-B4DB-9E56D0ABF072}" destId="{D81B4D94-0910-4BBD-B239-AA7D2C96A780}" srcOrd="2" destOrd="0" presId="urn:microsoft.com/office/officeart/2008/layout/VerticalCurvedList"/>
    <dgm:cxn modelId="{9DBBB8DB-9710-4919-9115-B0F761D52B20}" type="presParOf" srcId="{8FC490E7-1FD9-4EE0-B4DB-9E56D0ABF072}" destId="{FA2C3F46-A5D4-4297-9EFF-90EBAA3AF140}" srcOrd="3" destOrd="0" presId="urn:microsoft.com/office/officeart/2008/layout/VerticalCurvedList"/>
    <dgm:cxn modelId="{D8D7BE9B-0DDD-437E-BDFC-F3FCEBFBF38A}" type="presParOf" srcId="{84910027-B218-4E01-933E-00FA7E18C6F0}" destId="{67433B04-4786-459B-987D-AC1760F0DCB1}" srcOrd="1" destOrd="0" presId="urn:microsoft.com/office/officeart/2008/layout/VerticalCurvedList"/>
    <dgm:cxn modelId="{B1A9DA69-A380-4A72-BAA9-FB8FAD75437C}" type="presParOf" srcId="{84910027-B218-4E01-933E-00FA7E18C6F0}" destId="{F865064F-E3E0-443A-ACB6-8A264D00ACE0}" srcOrd="2" destOrd="0" presId="urn:microsoft.com/office/officeart/2008/layout/VerticalCurvedList"/>
    <dgm:cxn modelId="{36A44595-4E3F-42AA-A289-26CA4D8074EE}" type="presParOf" srcId="{F865064F-E3E0-443A-ACB6-8A264D00ACE0}" destId="{04E8B14C-EAA3-4C36-8201-1F419CF99CC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DD032-8F54-4940-8261-D9979C63CF27}">
      <dsp:nvSpPr>
        <dsp:cNvPr id="0" name=""/>
        <dsp:cNvSpPr/>
      </dsp:nvSpPr>
      <dsp:spPr>
        <a:xfrm>
          <a:off x="-4522086" y="-753783"/>
          <a:ext cx="5858631" cy="5858631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22735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3B04-4786-459B-987D-AC1760F0DCB1}">
      <dsp:nvSpPr>
        <dsp:cNvPr id="0" name=""/>
        <dsp:cNvSpPr/>
      </dsp:nvSpPr>
      <dsp:spPr>
        <a:xfrm>
          <a:off x="1299129" y="1136228"/>
          <a:ext cx="6837601" cy="207860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26829" tIns="71120" rIns="71120" bIns="71120" numCol="1" spcCol="1270" anchor="ctr" anchorCtr="0">
          <a:noAutofit/>
          <a:sp3d extrusionH="28000" prstMaterial="matte"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Arial" panose="020B0604020202020204" pitchFamily="34" charset="0"/>
              <a:cs typeface="Arial" panose="020B0604020202020204" pitchFamily="34" charset="0"/>
            </a:rPr>
            <a:t>Organización Lógica del Archivo</a:t>
          </a:r>
          <a:endParaRPr lang="es-PE" sz="2800" b="1" dirty="0"/>
        </a:p>
      </dsp:txBody>
      <dsp:txXfrm>
        <a:off x="1299129" y="1136228"/>
        <a:ext cx="6837601" cy="2078607"/>
      </dsp:txXfrm>
    </dsp:sp>
    <dsp:sp modelId="{04E8B14C-EAA3-4C36-8201-1F419CF99CC7}">
      <dsp:nvSpPr>
        <dsp:cNvPr id="0" name=""/>
        <dsp:cNvSpPr/>
      </dsp:nvSpPr>
      <dsp:spPr>
        <a:xfrm>
          <a:off x="35050" y="750023"/>
          <a:ext cx="2598259" cy="2598259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BFC05C-7FB1-4DB3-9A26-27C8341203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1283D-6FFD-4DB8-B74E-0E5A9527B2B7}" type="datetimeFigureOut">
              <a:rPr lang="es-PE" smtClean="0"/>
              <a:t>30/08/2026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FF3077-1BFD-4BBD-BCC1-6FF47860DE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4D494E-142D-4F5B-9FD1-199FE96812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5B9A8-2A88-40BA-B09B-952A6212BB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376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ED00D-1F11-4750-9501-AA02EC4A30E8}" type="datetimeFigureOut">
              <a:rPr lang="es-PE" smtClean="0"/>
              <a:t>30/08/2026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15F3A-9D15-40F3-91F0-77D668E033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603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15F3A-9D15-40F3-91F0-77D668E033B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5187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5" name="Rectángulo 4"/>
          <p:cNvSpPr/>
          <p:nvPr userDrawn="1"/>
        </p:nvSpPr>
        <p:spPr>
          <a:xfrm>
            <a:off x="0" y="-20429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onector recto 3"/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DF191AB1-742A-4B48-9639-86765F9ADEB9}"/>
              </a:ext>
            </a:extLst>
          </p:cNvPr>
          <p:cNvSpPr/>
          <p:nvPr userDrawn="1"/>
        </p:nvSpPr>
        <p:spPr>
          <a:xfrm>
            <a:off x="191345" y="-27384"/>
            <a:ext cx="312497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476693"/>
            <a:ext cx="11737304" cy="5935236"/>
          </a:xfrm>
        </p:spPr>
        <p:txBody>
          <a:bodyPr>
            <a:normAutofit/>
          </a:bodyPr>
          <a:lstStyle>
            <a:lvl1pPr algn="just">
              <a:defRPr sz="4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945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1484783"/>
            <a:ext cx="11737304" cy="4927145"/>
          </a:xfrm>
        </p:spPr>
        <p:txBody>
          <a:bodyPr>
            <a:normAutofit/>
          </a:bodyPr>
          <a:lstStyle>
            <a:lvl1pPr algn="just">
              <a:defRPr sz="4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4813"/>
            <a:ext cx="11664950" cy="936625"/>
          </a:xfrm>
        </p:spPr>
        <p:txBody>
          <a:bodyPr/>
          <a:lstStyle>
            <a:lvl1pPr marL="0" indent="0" algn="ctr">
              <a:buNone/>
              <a:defRPr sz="4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E88249-FAC1-F793-294C-A62046130772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B618BD20-2A9C-A379-5033-764E3EDB17C4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EA05CA-C096-E167-847E-A157DA0B5022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4E76DE3-C981-7120-3839-0F6F689AFEAF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7A3F5F-406B-C80C-8896-4C4E596D3F03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55871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4813"/>
            <a:ext cx="11664950" cy="936625"/>
          </a:xfrm>
        </p:spPr>
        <p:txBody>
          <a:bodyPr/>
          <a:lstStyle>
            <a:lvl1pPr marL="0" indent="0" algn="ctr">
              <a:buNone/>
              <a:defRPr sz="4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71425F-A867-AF17-2D64-DCA054895744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7505CD50-733A-F8D8-A27D-F66877CB8A1E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483AEA-AAA7-8246-5BA2-361BE08B33CA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84AD829-7E18-155C-48B5-C575F83A9C8E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3FD83BD-125E-A628-D62F-4CE1D9702461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421517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3352" y="476674"/>
            <a:ext cx="11665296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B078B0-B0EF-BA76-1A1D-162FFE83B5E1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79EF9C4-57DA-C53F-3623-E954C2A0A3A5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36BE9B-C4C2-712E-74B7-C6844DD96B8C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B463A90-503C-3E8C-2F63-AA4FAF145E95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6898B9-A255-9E77-2DA0-7B2539DDD1BD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286200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79776" y="476674"/>
            <a:ext cx="7848872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6AB101B-0D92-78D9-5F7F-0DE9FF48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476693"/>
            <a:ext cx="3672407" cy="5935236"/>
          </a:xfrm>
        </p:spPr>
        <p:txBody>
          <a:bodyPr>
            <a:normAutofit/>
          </a:bodyPr>
          <a:lstStyle>
            <a:lvl1pPr algn="ctr">
              <a:defRPr sz="54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9A9F51-B81B-6BDF-C826-10E74ED4EFC2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0D2D8424-B2BB-6FD7-B101-AEBDF84D3677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3F6B8C-93A4-89CC-C474-7F6DA8815BA7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B76D0AD-4407-2B39-D3F1-B89EA242D200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91FA6B4-705E-6379-992D-C70EC3C235D5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33149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12024" y="476674"/>
            <a:ext cx="5616624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2900B11-889C-F9B2-F437-7B5DB7F8F628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2BE393F-F13C-F6CE-AC5B-13F72CF728EB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1C0FF0-11D8-2FBA-C27F-8C4023494F1C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E2691DD-F508-2CE1-ADBD-D3EE27956B59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C16BF3D-39DE-B045-6F3B-FDFD8F55B89C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65958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12024" y="461371"/>
            <a:ext cx="5616624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79ECB89A-F90A-7049-4003-5447843DA8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328" y="461371"/>
            <a:ext cx="6193135" cy="5958479"/>
          </a:xfrm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6A4EBA-2F75-9354-91CF-D9BF675AFDE1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A9C14589-8787-F52B-CEB2-5B0464BEF8D3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CB4509-BD26-A3A2-2016-9C34266E7DF3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5D3FF50-9AA7-C444-A1E0-7AD68ED81E5D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936806-FC56-E02F-F196-1AFF5BC806AD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387619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6AB101B-0D92-78D9-5F7F-0DE9FF48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336" y="476674"/>
            <a:ext cx="5544616" cy="5935258"/>
          </a:xfrm>
        </p:spPr>
        <p:txBody>
          <a:bodyPr>
            <a:normAutofit/>
          </a:bodyPr>
          <a:lstStyle>
            <a:lvl1pPr algn="ctr">
              <a:defRPr sz="28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84D2C88-B4F3-2DCA-41EE-00CFC66AA5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5638" y="476250"/>
            <a:ext cx="6264275" cy="5905500"/>
          </a:xfrm>
        </p:spPr>
        <p:txBody>
          <a:bodyPr/>
          <a:lstStyle>
            <a:lvl1pPr marL="0" indent="0" algn="ctr">
              <a:buNone/>
              <a:defRPr sz="2400" b="1" i="1"/>
            </a:lvl1pPr>
          </a:lstStyle>
          <a:p>
            <a:pPr lvl="0"/>
            <a:r>
              <a:rPr lang="en-US" dirty="0" err="1"/>
              <a:t>jjjj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C61B157-BE4F-47CA-4593-BA73554D5B58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8779E56E-1AE1-C3B0-20BC-B47FBED9EF2C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220E71-0B04-8BA3-60D0-14FFA83491FB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FE814B-D371-9DA0-558B-0EFF6BED8CA1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37FD0D-4959-2997-CED0-BD999A00CEF6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4103920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93600E9-D280-3B9C-436C-E324378200DE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22 CuadroTexto">
            <a:extLst>
              <a:ext uri="{FF2B5EF4-FFF2-40B4-BE49-F238E27FC236}">
                <a16:creationId xmlns:a16="http://schemas.microsoft.com/office/drawing/2014/main" id="{D855B747-FBB3-0F09-7C67-9EF29D6D1CB7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795D9F-74AE-10B7-6447-D2100064B169}"/>
              </a:ext>
            </a:extLst>
          </p:cNvPr>
          <p:cNvSpPr/>
          <p:nvPr userDrawn="1"/>
        </p:nvSpPr>
        <p:spPr>
          <a:xfrm>
            <a:off x="0" y="-20429"/>
            <a:ext cx="1216732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B722F68-CE3B-635E-64AB-7E1618740685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1CE3E72E-ECA6-BB4C-1A9C-6D4E34D6D438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381271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8544092" y="6525358"/>
            <a:ext cx="3381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2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Organización de Archivos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111" y="188640"/>
            <a:ext cx="1666754" cy="529571"/>
          </a:xfrm>
          <a:prstGeom prst="rect">
            <a:avLst/>
          </a:prstGeom>
        </p:spPr>
      </p:pic>
      <p:sp>
        <p:nvSpPr>
          <p:cNvPr id="5" name="Rectángulo 4"/>
          <p:cNvSpPr/>
          <p:nvPr userDrawn="1"/>
        </p:nvSpPr>
        <p:spPr>
          <a:xfrm>
            <a:off x="0" y="0"/>
            <a:ext cx="11925593" cy="9087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onector recto 3"/>
          <p:cNvCxnSpPr/>
          <p:nvPr userDrawn="1"/>
        </p:nvCxnSpPr>
        <p:spPr>
          <a:xfrm>
            <a:off x="0" y="908720"/>
            <a:ext cx="9408368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541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E3FC0F-0726-445E-AA72-37103EF5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9002F6-6079-4FAA-B87F-0BF17A5BC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AA2C94-0056-463B-957E-18A2CB9B3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95E7-59A2-42F0-822A-C2AD9061524C}" type="datetimeFigureOut">
              <a:rPr lang="es-PE" smtClean="0"/>
              <a:t>30/08/2026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A57603-A9F7-41F7-A33A-957864473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C24DDB-20DA-4806-9AC6-ECCDED9CA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E646F-C49C-4EB9-B383-7962AB850F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875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7" r:id="rId2"/>
    <p:sldLayoutId id="2147483678" r:id="rId3"/>
    <p:sldLayoutId id="2147483673" r:id="rId4"/>
    <p:sldLayoutId id="2147483674" r:id="rId5"/>
    <p:sldLayoutId id="2147483675" r:id="rId6"/>
    <p:sldLayoutId id="2147483679" r:id="rId7"/>
    <p:sldLayoutId id="2147483676" r:id="rId8"/>
    <p:sldLayoutId id="2147483665" r:id="rId9"/>
    <p:sldLayoutId id="214748368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439816" y="4797152"/>
            <a:ext cx="4752527" cy="115212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Profesor: Mg. Ing. Max Castro Rodriguez</a:t>
            </a: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3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Trujillo, Agosto de 2026</a:t>
            </a:r>
          </a:p>
          <a:p>
            <a:pPr algn="ctr"/>
            <a:endParaRPr lang="es-PE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C" sz="1300" dirty="0">
              <a:solidFill>
                <a:schemeClr val="bg1">
                  <a:lumMod val="95000"/>
                  <a:lumOff val="5000"/>
                </a:schemeClr>
              </a:solidFill>
              <a:latin typeface="Arena Condensed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855640" y="3140968"/>
            <a:ext cx="7992888" cy="1264831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C" sz="4400" b="1" dirty="0">
                <a:solidFill>
                  <a:schemeClr val="bg2">
                    <a:lumMod val="10000"/>
                  </a:schemeClr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430653" y="1200837"/>
            <a:ext cx="8842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sz="4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2423592" y="1916832"/>
            <a:ext cx="88428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Ciencias Físicas y Matemáticas</a:t>
            </a:r>
          </a:p>
          <a:p>
            <a:pPr algn="ctr"/>
            <a:r>
              <a:rPr lang="es-PE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Escuela Profesional de Informática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D444FC-3B7B-468B-8356-824282DF3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413241"/>
            <a:ext cx="1530346" cy="13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3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176120" y="188640"/>
            <a:ext cx="39421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comenzar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67408" y="1988840"/>
            <a:ext cx="100811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stimado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estudiante: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Importante revisar el sílabo en cuanto  a la unidad 1.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la sesión sincrónica; mantenga apagado su micrófono; levante la mano para participar.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los foros de socialización del sílabo.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dudas luego de la sesión sincrónica use el Foro de Consejería.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las clases de laboratorio debe organizarse para tener a la mano su laptop o PC, así podrá participar siguiendo las pautas y compartiendo pantalla.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Organice su tiempo para realizar todas las actividades formativas.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Recuerde que está integrado a un grupo conformado al azar.</a:t>
            </a:r>
          </a:p>
        </p:txBody>
      </p:sp>
    </p:spTree>
    <p:extLst>
      <p:ext uri="{BB962C8B-B14F-4D97-AF65-F5344CB8AC3E}">
        <p14:creationId xmlns:p14="http://schemas.microsoft.com/office/powerpoint/2010/main" val="280385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FA695-1775-90CF-4D5E-611587DA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ción de imagen 3">
            <a:extLst>
              <a:ext uri="{FF2B5EF4-FFF2-40B4-BE49-F238E27FC236}">
                <a16:creationId xmlns:a16="http://schemas.microsoft.com/office/drawing/2014/main" id="{6F2E9D3C-E753-4CDA-B31A-F3F8ED7D9A71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2722507865"/>
              </p:ext>
            </p:extLst>
          </p:nvPr>
        </p:nvGraphicFramePr>
        <p:xfrm>
          <a:off x="2639616" y="1124744"/>
          <a:ext cx="8136731" cy="435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448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236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767408" y="1988840"/>
            <a:ext cx="10081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Contenido: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Organización del disco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Física: platos, pistas, sectores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Cilindros, bloques</a:t>
            </a:r>
          </a:p>
          <a:p>
            <a:pPr marL="342900" indent="-342900"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Tiempos de acceso a los archivos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Tiempo de búsqueda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Tiempo de rotación (latencia)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Tiempo de transferencia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144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del Disco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88390-9257-4AB2-BDA1-4400AA7661C2}"/>
              </a:ext>
            </a:extLst>
          </p:cNvPr>
          <p:cNvSpPr txBox="1"/>
          <p:nvPr/>
        </p:nvSpPr>
        <p:spPr>
          <a:xfrm>
            <a:off x="911424" y="1772816"/>
            <a:ext cx="10260129" cy="7920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s-PE" sz="2400" b="1" dirty="0"/>
              <a:t>Dispositivos de Almacenamiento Secundario</a:t>
            </a:r>
          </a:p>
          <a:p>
            <a:pPr algn="just"/>
            <a:r>
              <a:rPr lang="es-PE" b="1" dirty="0"/>
              <a:t>Disco duro</a:t>
            </a:r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1559496" y="2924944"/>
            <a:ext cx="4986049" cy="1944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Capacidad en TB</a:t>
            </a:r>
          </a:p>
          <a:p>
            <a:pPr algn="just"/>
            <a:r>
              <a:rPr lang="es-PE" sz="2400" b="1" dirty="0"/>
              <a:t>Velocidad en rpm</a:t>
            </a:r>
          </a:p>
          <a:p>
            <a:pPr algn="just"/>
            <a:r>
              <a:rPr lang="es-PE" b="1" dirty="0"/>
              <a:t>No direccionable por el CPU</a:t>
            </a:r>
          </a:p>
          <a:p>
            <a:pPr algn="just"/>
            <a:r>
              <a:rPr lang="es-PE" b="1" dirty="0"/>
              <a:t>Tecnología magnética</a:t>
            </a:r>
          </a:p>
          <a:p>
            <a:pPr algn="just"/>
            <a:endParaRPr lang="es-PE" sz="3200" b="1" dirty="0"/>
          </a:p>
          <a:p>
            <a:pPr algn="just"/>
            <a:endParaRPr lang="es-PE" sz="2400" b="1" dirty="0"/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A3E65CE-7A7F-47E8-8F0D-D6A976537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545" y="2564904"/>
            <a:ext cx="4618120" cy="30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96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del Disco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88390-9257-4AB2-BDA1-4400AA7661C2}"/>
              </a:ext>
            </a:extLst>
          </p:cNvPr>
          <p:cNvSpPr txBox="1"/>
          <p:nvPr/>
        </p:nvSpPr>
        <p:spPr>
          <a:xfrm>
            <a:off x="911424" y="1772816"/>
            <a:ext cx="10260129" cy="7920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s-PE" sz="2400" b="1" dirty="0"/>
              <a:t>Dispositivos de Almacenamiento Secundario</a:t>
            </a:r>
          </a:p>
          <a:p>
            <a:pPr algn="just"/>
            <a:r>
              <a:rPr lang="es-PE" b="1" dirty="0"/>
              <a:t>Disco duro</a:t>
            </a:r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892124" y="2924944"/>
            <a:ext cx="6696744" cy="31683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Sector lógico (celda), unidad básica de almacenamiento.</a:t>
            </a:r>
          </a:p>
          <a:p>
            <a:pPr algn="just"/>
            <a:r>
              <a:rPr lang="es-PE" b="1" dirty="0"/>
              <a:t>Sector, conjunto de sectores lógicos.</a:t>
            </a:r>
          </a:p>
          <a:p>
            <a:pPr algn="just"/>
            <a:r>
              <a:rPr lang="es-PE" sz="2400" b="1" dirty="0"/>
              <a:t>Pista, concéntrica al eje de rotación.</a:t>
            </a:r>
          </a:p>
          <a:p>
            <a:pPr algn="just"/>
            <a:r>
              <a:rPr lang="es-PE" b="1" dirty="0"/>
              <a:t>Cilindro, conjunto de pistas concéntricas.</a:t>
            </a:r>
          </a:p>
          <a:p>
            <a:pPr algn="just"/>
            <a:r>
              <a:rPr lang="es-PE" b="1" dirty="0"/>
              <a:t>Plato, aporta con una o dos caras.</a:t>
            </a:r>
          </a:p>
          <a:p>
            <a:pPr algn="just"/>
            <a:r>
              <a:rPr lang="es-PE" b="1" dirty="0"/>
              <a:t>Otros conceptos: superficie, </a:t>
            </a:r>
            <a:r>
              <a:rPr lang="es-PE" b="1" dirty="0" err="1"/>
              <a:t>cluster</a:t>
            </a:r>
            <a:r>
              <a:rPr lang="es-PE" b="1" dirty="0"/>
              <a:t>.</a:t>
            </a:r>
          </a:p>
          <a:p>
            <a:pPr algn="just"/>
            <a:endParaRPr lang="es-PE" sz="3200" b="1" dirty="0"/>
          </a:p>
          <a:p>
            <a:pPr algn="just"/>
            <a:endParaRPr lang="es-PE" sz="2400" b="1" dirty="0"/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D23DD72-D4F1-4A5E-921E-A5D6687E7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868" y="1052736"/>
            <a:ext cx="3600400" cy="521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99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6542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Lógica del Archivo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88390-9257-4AB2-BDA1-4400AA7661C2}"/>
              </a:ext>
            </a:extLst>
          </p:cNvPr>
          <p:cNvSpPr txBox="1"/>
          <p:nvPr/>
        </p:nvSpPr>
        <p:spPr>
          <a:xfrm>
            <a:off x="911424" y="1124744"/>
            <a:ext cx="10260129" cy="50405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s-PE" b="1" dirty="0"/>
              <a:t>Fragmentación externa: </a:t>
            </a:r>
            <a:r>
              <a:rPr lang="es-PE" dirty="0"/>
              <a:t>Se refiere a la </a:t>
            </a:r>
            <a:r>
              <a:rPr lang="es-PE" b="1" dirty="0"/>
              <a:t>dispersión</a:t>
            </a:r>
            <a:r>
              <a:rPr lang="es-PE" dirty="0"/>
              <a:t> de los bloques libres (espacio vacío) en el disco. Ocurre cuando el espacio disponible está dividido en fragmentos pequeños y no contiguos, lo que dificulta asignar grandes bloques continuos a nuevos archivos grandes</a:t>
            </a:r>
            <a:r>
              <a:rPr lang="es-PE" b="1" dirty="0"/>
              <a:t>(*)</a:t>
            </a:r>
            <a:r>
              <a:rPr lang="es-PE" dirty="0"/>
              <a:t>. En términos de archivos, esto se manifiesta como </a:t>
            </a:r>
            <a:r>
              <a:rPr lang="es-PE" b="1" dirty="0"/>
              <a:t>archivos divididos en múltiples partes no adyacentes</a:t>
            </a:r>
            <a:r>
              <a:rPr lang="es-PE" dirty="0"/>
              <a:t>, lo que </a:t>
            </a:r>
            <a:r>
              <a:rPr lang="es-PE" b="1" dirty="0"/>
              <a:t>ralentiza el acceso en </a:t>
            </a:r>
            <a:r>
              <a:rPr lang="es-PE" b="1" dirty="0" err="1"/>
              <a:t>HDDs</a:t>
            </a:r>
            <a:r>
              <a:rPr lang="es-PE" dirty="0"/>
              <a:t>.</a:t>
            </a:r>
          </a:p>
          <a:p>
            <a:pPr marL="457200" indent="-457200" algn="just">
              <a:buAutoNum type="arabicPeriod"/>
            </a:pPr>
            <a:r>
              <a:rPr lang="es-PE" b="1" dirty="0"/>
              <a:t>Fragmentación interna: </a:t>
            </a:r>
            <a:r>
              <a:rPr lang="es-PE" dirty="0"/>
              <a:t>Sucede dentro de un bloque asignado. Por ejemplo, si el </a:t>
            </a:r>
            <a:r>
              <a:rPr lang="es-PE" b="1" dirty="0"/>
              <a:t>sistema de archivos usa bloques de 4 KB </a:t>
            </a:r>
            <a:r>
              <a:rPr lang="es-PE" dirty="0"/>
              <a:t>y un archivo ocupa solo 2 KB, los 2 KB restantes se desperdician (no se usan para otros datos). </a:t>
            </a:r>
            <a:r>
              <a:rPr lang="es-PE" b="1" dirty="0"/>
              <a:t>Esto es un problema de eficiencia en el uso del espacio</a:t>
            </a:r>
            <a:r>
              <a:rPr lang="es-PE" dirty="0"/>
              <a:t>, no tanto de rendimiento.</a:t>
            </a:r>
          </a:p>
          <a:p>
            <a:pPr algn="just"/>
            <a:r>
              <a:rPr lang="es-PE" b="1" dirty="0">
                <a:solidFill>
                  <a:srgbClr val="0000CC"/>
                </a:solidFill>
              </a:rPr>
              <a:t>(*)Ejemplo: </a:t>
            </a:r>
            <a:r>
              <a:rPr lang="es-PE" dirty="0">
                <a:solidFill>
                  <a:srgbClr val="0000CC"/>
                </a:solidFill>
              </a:rPr>
              <a:t>Imagina un disco como una estantería. Si tienes huecos de 1 libro entre libros ocupados, y necesitas guardar un libro que ocupa 5 huecos seguidos, </a:t>
            </a:r>
            <a:r>
              <a:rPr lang="es-PE" b="1" dirty="0">
                <a:solidFill>
                  <a:srgbClr val="0000CC"/>
                </a:solidFill>
              </a:rPr>
              <a:t>no puedes aunque tengas 5 huecos disponibles</a:t>
            </a:r>
            <a:r>
              <a:rPr lang="es-PE" dirty="0">
                <a:solidFill>
                  <a:srgbClr val="0000CC"/>
                </a:solidFill>
              </a:rPr>
              <a:t>.</a:t>
            </a:r>
          </a:p>
          <a:p>
            <a:pPr marL="457200" indent="-457200" algn="just">
              <a:buAutoNum type="arabicPeriod"/>
            </a:pPr>
            <a:endParaRPr lang="es-PE" sz="2400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892124" y="2924944"/>
            <a:ext cx="4843836" cy="31683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PE" sz="2400" b="1" dirty="0"/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232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6542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Lógica del Archivo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88390-9257-4AB2-BDA1-4400AA7661C2}"/>
              </a:ext>
            </a:extLst>
          </p:cNvPr>
          <p:cNvSpPr txBox="1"/>
          <p:nvPr/>
        </p:nvSpPr>
        <p:spPr>
          <a:xfrm>
            <a:off x="911424" y="1124744"/>
            <a:ext cx="10260129" cy="50405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3200" b="1" dirty="0"/>
              <a:t>El proceso de desfragmentación</a:t>
            </a:r>
          </a:p>
          <a:p>
            <a:r>
              <a:rPr lang="es-PE" sz="3200" dirty="0"/>
              <a:t>La desfragmentación (usando herramientas como el Desfragmentador de Disco en Windows o comandos como </a:t>
            </a:r>
            <a:r>
              <a:rPr lang="es-PE" sz="3200" dirty="0" err="1"/>
              <a:t>defrag</a:t>
            </a:r>
            <a:r>
              <a:rPr lang="es-PE" sz="3200" dirty="0"/>
              <a:t> en línea de comandos) </a:t>
            </a:r>
            <a:r>
              <a:rPr lang="es-PE" sz="3200" b="1" dirty="0"/>
              <a:t>reorganiza los archivos para que sus partes queden en bloques contiguos</a:t>
            </a:r>
            <a:r>
              <a:rPr lang="es-PE" sz="3200" dirty="0"/>
              <a:t>. Esto elimina o reduce la </a:t>
            </a:r>
            <a:r>
              <a:rPr lang="es-PE" sz="3200" b="1" dirty="0"/>
              <a:t>fragmentación externa</a:t>
            </a:r>
            <a:r>
              <a:rPr lang="es-PE" sz="3200" dirty="0"/>
              <a:t> al compactar los datos y los espacios libres, haciendo que el disco sea más eficiente en lecturas/escrituras secuenciales.</a:t>
            </a:r>
          </a:p>
          <a:p>
            <a:pPr algn="l"/>
            <a:r>
              <a:rPr lang="es-PE" b="1" dirty="0"/>
              <a:t>Nota: </a:t>
            </a:r>
            <a:r>
              <a:rPr lang="es-PE" dirty="0"/>
              <a:t>Para discos muy usados, es mejor combinarlo con mantenimiento regular, como limpiar archivos temporales o usar </a:t>
            </a:r>
            <a:r>
              <a:rPr lang="es-PE" dirty="0" err="1"/>
              <a:t>HDDs</a:t>
            </a:r>
            <a:r>
              <a:rPr lang="es-PE" dirty="0"/>
              <a:t> con más espacio libre (idealmente &gt;20% libre para reducir fragmentación rápida).</a:t>
            </a:r>
          </a:p>
          <a:p>
            <a:endParaRPr lang="es-PE" sz="3200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892124" y="2924944"/>
            <a:ext cx="4843836" cy="31683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PE" sz="2400" b="1" dirty="0"/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</p:txBody>
      </p:sp>
    </p:spTree>
    <p:extLst>
      <p:ext uri="{BB962C8B-B14F-4D97-AF65-F5344CB8AC3E}">
        <p14:creationId xmlns:p14="http://schemas.microsoft.com/office/powerpoint/2010/main" val="1705711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6542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Lógica del Archivo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88390-9257-4AB2-BDA1-4400AA7661C2}"/>
              </a:ext>
            </a:extLst>
          </p:cNvPr>
          <p:cNvSpPr txBox="1"/>
          <p:nvPr/>
        </p:nvSpPr>
        <p:spPr>
          <a:xfrm>
            <a:off x="911424" y="1772816"/>
            <a:ext cx="10260129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s-PE" b="1" dirty="0"/>
              <a:t>El archivo se desfragmenta para eliminar la fragmentación externa del disco. De esta forma solo quedará como problema subsistente la fragmentación interna.</a:t>
            </a: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892124" y="2924944"/>
            <a:ext cx="5491908" cy="32403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. Factor de intercalación. </a:t>
            </a:r>
            <a:r>
              <a:rPr lang="es-PE" dirty="0"/>
              <a:t>Cada cierto número de sectores </a:t>
            </a:r>
            <a:r>
              <a:rPr lang="es-PE" b="1" dirty="0"/>
              <a:t>se escriben datos del archivo.</a:t>
            </a:r>
            <a:endParaRPr lang="es-PE" sz="2400" b="1" dirty="0"/>
          </a:p>
          <a:p>
            <a:pPr algn="just"/>
            <a:r>
              <a:rPr lang="es-PE" sz="2400" b="1" dirty="0"/>
              <a:t>. Mientras el cabezal lee los datos de los sectores y los transfiere al bus del disco </a:t>
            </a:r>
            <a:r>
              <a:rPr lang="es-PE" sz="2400" dirty="0"/>
              <a:t>el disco continua girando, en la siguiente lectura</a:t>
            </a:r>
            <a:r>
              <a:rPr lang="es-PE" sz="2400" b="1" dirty="0"/>
              <a:t> el cabezal volverá a leer más datos pero no los contiguos al sector anteriormente leído.</a:t>
            </a:r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F67BB5D-6F40-4495-86C5-7C15A6A0B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42" y="2996344"/>
            <a:ext cx="4290432" cy="23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27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6542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Lógica del Archivo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88390-9257-4AB2-BDA1-4400AA7661C2}"/>
              </a:ext>
            </a:extLst>
          </p:cNvPr>
          <p:cNvSpPr txBox="1"/>
          <p:nvPr/>
        </p:nvSpPr>
        <p:spPr>
          <a:xfrm>
            <a:off x="911424" y="1772816"/>
            <a:ext cx="10260129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Pista - Sectores (512 bytes - 4KB). </a:t>
            </a:r>
            <a:r>
              <a:rPr lang="es-PE" dirty="0"/>
              <a:t>Si los sectores estaban demasiado "juntos" físicamente, el disco giraba tan rápido que se perdía el siguiente sector.</a:t>
            </a:r>
            <a:r>
              <a:rPr lang="es-PE" b="1" dirty="0"/>
              <a:t> El factor se expresa como N:1, donde N indica cuántos sectores físicos se saltan entre lecturas lógicas consecutivas.</a:t>
            </a:r>
          </a:p>
          <a:p>
            <a:pPr marL="457200" indent="-457200" algn="just">
              <a:buAutoNum type="arabicPeriod"/>
            </a:pPr>
            <a:endParaRPr lang="es-PE" b="1" dirty="0"/>
          </a:p>
          <a:p>
            <a:pPr algn="just"/>
            <a:r>
              <a:rPr lang="es-PE" b="1" dirty="0"/>
              <a:t>Ejemplo: Intercalado 1:1 = </a:t>
            </a:r>
            <a:r>
              <a:rPr lang="es-PE" dirty="0"/>
              <a:t>Sectores consecutivos (ideal para hardware rápido, pero en discos lentos causaba demoras).</a:t>
            </a:r>
          </a:p>
          <a:p>
            <a:pPr algn="just"/>
            <a:r>
              <a:rPr lang="es-PE" b="1" dirty="0"/>
              <a:t>Intercalado 2:1 = </a:t>
            </a:r>
            <a:r>
              <a:rPr lang="es-PE" dirty="0"/>
              <a:t>Se lee un sector, se salta uno, se lee el siguiente (da más tiempo para procesar).</a:t>
            </a:r>
            <a:endParaRPr lang="es-PE" sz="2400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581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6542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Lógica del Archivo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88390-9257-4AB2-BDA1-4400AA7661C2}"/>
              </a:ext>
            </a:extLst>
          </p:cNvPr>
          <p:cNvSpPr txBox="1"/>
          <p:nvPr/>
        </p:nvSpPr>
        <p:spPr>
          <a:xfrm>
            <a:off x="911424" y="1772816"/>
            <a:ext cx="10260129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s-PE" b="1" dirty="0"/>
              <a:t>El archivo se desfragmenta para eliminar la fragmentación externa del disco. De esta forma solo quedará como problema subsistente la fragmentación interna.</a:t>
            </a: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892124" y="2924944"/>
            <a:ext cx="4843836" cy="31683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. </a:t>
            </a:r>
            <a:r>
              <a:rPr lang="es-PE" dirty="0"/>
              <a:t>Las primeras pistas guardan información del </a:t>
            </a:r>
            <a:r>
              <a:rPr lang="es-PE" b="1" dirty="0"/>
              <a:t>sistema de archivos del sistema operativo.</a:t>
            </a:r>
          </a:p>
          <a:p>
            <a:pPr algn="just"/>
            <a:r>
              <a:rPr lang="es-PE" b="1" dirty="0"/>
              <a:t>. Factor de intercalación. </a:t>
            </a:r>
            <a:r>
              <a:rPr lang="es-PE" dirty="0"/>
              <a:t>Cada cierto número de sectores se escriben datos del archivo.</a:t>
            </a:r>
          </a:p>
          <a:p>
            <a:pPr algn="just"/>
            <a:r>
              <a:rPr lang="es-PE" b="1" dirty="0"/>
              <a:t>. </a:t>
            </a:r>
            <a:r>
              <a:rPr lang="es-PE" b="1" dirty="0" err="1"/>
              <a:t>Defragmentar</a:t>
            </a:r>
            <a:r>
              <a:rPr lang="es-PE" b="1" dirty="0"/>
              <a:t> </a:t>
            </a:r>
            <a:r>
              <a:rPr lang="es-PE" dirty="0"/>
              <a:t>el disco mejora la performance de leer los archivos</a:t>
            </a:r>
            <a:r>
              <a:rPr lang="es-PE" b="1" dirty="0"/>
              <a:t>.</a:t>
            </a:r>
            <a:endParaRPr lang="es-PE" sz="3200" b="1" dirty="0"/>
          </a:p>
          <a:p>
            <a:pPr algn="just"/>
            <a:endParaRPr lang="es-PE" sz="2400" b="1" dirty="0"/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53F4B1-DABE-4174-96CA-6572F6E2F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3212976"/>
            <a:ext cx="47053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822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6542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Organización Lógica del Archivo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4F03E42-5302-4434-860C-5DDBA3717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92" y="1196752"/>
            <a:ext cx="7056784" cy="488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27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87565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de acceso a los datos de un archivo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88390-9257-4AB2-BDA1-4400AA7661C2}"/>
              </a:ext>
            </a:extLst>
          </p:cNvPr>
          <p:cNvSpPr txBox="1"/>
          <p:nvPr/>
        </p:nvSpPr>
        <p:spPr>
          <a:xfrm>
            <a:off x="911424" y="1772816"/>
            <a:ext cx="10260129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Existen varios parámetros de rendimiento del disco, dependen del sistema operativo, del computador, del dispositivo en sí.</a:t>
            </a: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892124" y="2924944"/>
            <a:ext cx="4843836" cy="31683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Existen 3 tiempos que estudiaremos:</a:t>
            </a:r>
          </a:p>
          <a:p>
            <a:pPr algn="just"/>
            <a:r>
              <a:rPr lang="es-PE" b="1" dirty="0"/>
              <a:t>. Tiempo de búsqueda</a:t>
            </a:r>
          </a:p>
          <a:p>
            <a:pPr algn="just"/>
            <a:r>
              <a:rPr lang="es-PE" sz="2400" b="1" dirty="0"/>
              <a:t>. Tiempo de rotación (Latencia)</a:t>
            </a:r>
          </a:p>
          <a:p>
            <a:pPr algn="just"/>
            <a:r>
              <a:rPr lang="es-PE" b="1" dirty="0"/>
              <a:t>. Tiempo de transferencia</a:t>
            </a:r>
          </a:p>
          <a:p>
            <a:pPr algn="just"/>
            <a:endParaRPr lang="es-PE" sz="2400" b="1" dirty="0"/>
          </a:p>
          <a:p>
            <a:pPr algn="just"/>
            <a:r>
              <a:rPr lang="es-PE" b="1" dirty="0"/>
              <a:t>Véase el punto 11.5 del Libro Sistemas Operativos de </a:t>
            </a:r>
            <a:r>
              <a:rPr lang="es-PE" b="1" dirty="0" err="1"/>
              <a:t>Stalling</a:t>
            </a:r>
            <a:r>
              <a:rPr lang="es-PE" b="1" dirty="0"/>
              <a:t> 5ta ed. </a:t>
            </a:r>
            <a:r>
              <a:rPr lang="es-PE" b="1" dirty="0" err="1"/>
              <a:t>pp</a:t>
            </a:r>
            <a:r>
              <a:rPr lang="es-PE" b="1" dirty="0"/>
              <a:t> 503</a:t>
            </a:r>
            <a:endParaRPr lang="es-PE" sz="2400" b="1" dirty="0"/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843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87565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de acceso a los datos de un archivo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911424" y="1484784"/>
            <a:ext cx="4843836" cy="41044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. Tiempo de búsqueda</a:t>
            </a:r>
          </a:p>
          <a:p>
            <a:pPr algn="just"/>
            <a:r>
              <a:rPr lang="es-PE" sz="2400" b="1" dirty="0"/>
              <a:t>Es el tiempo transcurrido desde que el cabezal parte del reposo y llega hasta la pista dónde se encuentra el inicio de un archivo.</a:t>
            </a:r>
          </a:p>
          <a:p>
            <a:pPr algn="just"/>
            <a:endParaRPr lang="es-PE" b="1" dirty="0"/>
          </a:p>
          <a:p>
            <a:pPr algn="just"/>
            <a:r>
              <a:rPr lang="es-PE" sz="2400" b="1" dirty="0"/>
              <a:t>Podemos asumir que en los discos actuales de 3.5” de diámetro el promedio de este tiempo está en 10ms</a:t>
            </a:r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0276CB3-4999-4C8F-82E9-4BD4DE508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088" y="1382279"/>
            <a:ext cx="3837423" cy="20781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894FB99-0D38-486D-BD86-3D1556036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066" y="3717032"/>
            <a:ext cx="3829445" cy="237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78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87565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de acceso a los datos de un archivo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2280606-D83C-4624-9A1E-0D442EFB51C0}"/>
              </a:ext>
            </a:extLst>
          </p:cNvPr>
          <p:cNvSpPr txBox="1"/>
          <p:nvPr/>
        </p:nvSpPr>
        <p:spPr>
          <a:xfrm>
            <a:off x="911424" y="1124744"/>
            <a:ext cx="4843836" cy="51125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b="1" dirty="0"/>
              <a:t>. Tiempo de rotación (Latencia)</a:t>
            </a:r>
          </a:p>
          <a:p>
            <a:pPr algn="just"/>
            <a:r>
              <a:rPr lang="es-PE" sz="2400" b="1" dirty="0"/>
              <a:t>Es el tiempo que debe esperar el cabezal hasta posicionarse sobre el sector deseado donde se encuentra el inicio del archivo a leer.</a:t>
            </a:r>
          </a:p>
          <a:p>
            <a:pPr algn="just"/>
            <a:r>
              <a:rPr lang="es-PE" b="1" dirty="0" err="1"/>
              <a:t>Tr</a:t>
            </a:r>
            <a:r>
              <a:rPr lang="es-PE" b="1" dirty="0"/>
              <a:t> = ½ </a:t>
            </a:r>
            <a:r>
              <a:rPr lang="es-PE" b="1" dirty="0" err="1"/>
              <a:t>Trev</a:t>
            </a:r>
            <a:endParaRPr lang="es-PE" b="1" dirty="0"/>
          </a:p>
          <a:p>
            <a:pPr algn="just"/>
            <a:endParaRPr lang="es-PE" sz="2400" b="1" dirty="0"/>
          </a:p>
          <a:p>
            <a:pPr algn="just"/>
            <a:r>
              <a:rPr lang="es-PE" b="1" dirty="0" err="1"/>
              <a:t>Trev</a:t>
            </a:r>
            <a:r>
              <a:rPr lang="es-PE" b="1" dirty="0"/>
              <a:t>, es el tiempo que tarda el disco en dar una vuelta.</a:t>
            </a:r>
            <a:endParaRPr lang="es-PE" sz="2400" b="1" dirty="0"/>
          </a:p>
          <a:p>
            <a:pPr algn="just"/>
            <a:r>
              <a:rPr lang="es-PE" sz="2400" b="1" dirty="0"/>
              <a:t>¿Por qué se estima este tiempo en ½ del tiempo de revolución?</a:t>
            </a:r>
          </a:p>
          <a:p>
            <a:pPr algn="just"/>
            <a:r>
              <a:rPr lang="es-PE" sz="2400" b="1" dirty="0"/>
              <a:t>Si un disco gira a 7200rpm ¿cuánto es su latencia?</a:t>
            </a:r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marL="457200" indent="-457200" algn="just">
              <a:buAutoNum type="arabicPeriod"/>
            </a:pPr>
            <a:endParaRPr lang="es-PE" sz="2400" b="1" dirty="0"/>
          </a:p>
          <a:p>
            <a:pPr algn="just"/>
            <a:endParaRPr lang="es-PE" b="1" dirty="0"/>
          </a:p>
          <a:p>
            <a:pPr algn="just"/>
            <a:endParaRPr lang="es-PE" sz="2400" b="1" dirty="0"/>
          </a:p>
          <a:p>
            <a:pPr algn="l"/>
            <a:endParaRPr lang="es-P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D625C2-5D47-42A6-9395-206B6A159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48" y="2492896"/>
            <a:ext cx="4412729" cy="278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65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87565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de acceso a los datos de un archivo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E5034F-ADAE-488D-AB32-92553FB5B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028" y="3132257"/>
            <a:ext cx="9825369" cy="32490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A6CFFF-61A0-4C40-AA38-EE0E1A916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29" y="980728"/>
            <a:ext cx="8608597" cy="201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8F026B6-ECD1-4EA5-A3A0-980B0BAB40AF}"/>
              </a:ext>
            </a:extLst>
          </p:cNvPr>
          <p:cNvSpPr/>
          <p:nvPr/>
        </p:nvSpPr>
        <p:spPr>
          <a:xfrm>
            <a:off x="695399" y="436510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07891DD-567A-4822-9F77-BAB852A9D216}"/>
              </a:ext>
            </a:extLst>
          </p:cNvPr>
          <p:cNvSpPr/>
          <p:nvPr/>
        </p:nvSpPr>
        <p:spPr>
          <a:xfrm>
            <a:off x="695400" y="134076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35837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87565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de acceso a los datos de un archivo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ítulo 2">
                <a:extLst>
                  <a:ext uri="{FF2B5EF4-FFF2-40B4-BE49-F238E27FC236}">
                    <a16:creationId xmlns:a16="http://schemas.microsoft.com/office/drawing/2014/main" id="{22280606-D83C-4624-9A1E-0D442EFB51C0}"/>
                  </a:ext>
                </a:extLst>
              </p:cNvPr>
              <p:cNvSpPr txBox="1"/>
              <p:nvPr/>
            </p:nvSpPr>
            <p:spPr>
              <a:xfrm>
                <a:off x="911424" y="1484784"/>
                <a:ext cx="7200800" cy="475252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PE" b="1" dirty="0"/>
                  <a:t>. Tiempo de transferencia</a:t>
                </a:r>
              </a:p>
              <a:p>
                <a:pPr algn="just"/>
                <a:r>
                  <a:rPr lang="es-PE" sz="2400" b="1" dirty="0"/>
                  <a:t>Es el tiempo que transcurre para transferir un archivo.</a:t>
                </a:r>
              </a:p>
              <a:p>
                <a:pPr algn="just"/>
                <a:r>
                  <a:rPr lang="es-PE" sz="2400" b="1" dirty="0"/>
                  <a:t>El tiempo de transferencia de los datos del archivo guardados sobre una pista sería:</a:t>
                </a:r>
              </a:p>
              <a:p>
                <a:pPr algn="just"/>
                <a:endParaRPr lang="es-PE" b="1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1" i="1" smtClean="0">
                          <a:latin typeface="Cambria Math" panose="02040503050406030204" pitchFamily="18" charset="0"/>
                        </a:rPr>
                        <m:t>𝑻𝒕</m:t>
                      </m:r>
                      <m:r>
                        <a:rPr lang="es-PE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s-MX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s-MX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s-MX" sz="2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MX" sz="2400" b="1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s-MX" sz="2400" b="1" i="1" smtClean="0">
                          <a:latin typeface="Cambria Math" panose="02040503050406030204" pitchFamily="18" charset="0"/>
                        </a:rPr>
                        <m:t>𝑻𝒓𝒆𝒗</m:t>
                      </m:r>
                    </m:oMath>
                  </m:oMathPara>
                </a14:m>
                <a:endParaRPr lang="es-PE" sz="2400" b="1" dirty="0"/>
              </a:p>
              <a:p>
                <a:pPr algn="just"/>
                <a:r>
                  <a:rPr lang="es-PE" b="1" dirty="0"/>
                  <a:t>F:  el factor de intercalación</a:t>
                </a:r>
              </a:p>
              <a:p>
                <a:pPr algn="just"/>
                <a:r>
                  <a:rPr lang="es-PE" b="1" dirty="0"/>
                  <a:t>b: el número de bytes del archivo en una pista</a:t>
                </a:r>
                <a:endParaRPr lang="es-PE" sz="2400" b="1" dirty="0"/>
              </a:p>
              <a:p>
                <a:pPr algn="just"/>
                <a:r>
                  <a:rPr lang="es-PE" sz="2400" b="1" dirty="0"/>
                  <a:t>N: el número de bytes de una pista</a:t>
                </a:r>
              </a:p>
              <a:p>
                <a:pPr algn="just"/>
                <a:endParaRPr lang="es-PE" b="1" dirty="0"/>
              </a:p>
              <a:p>
                <a:pPr algn="just"/>
                <a:endParaRPr lang="es-PE" sz="2400" b="1" dirty="0"/>
              </a:p>
              <a:p>
                <a:pPr algn="l"/>
                <a:endParaRPr lang="es-PE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Subtítulo 2">
                <a:extLst>
                  <a:ext uri="{FF2B5EF4-FFF2-40B4-BE49-F238E27FC236}">
                    <a16:creationId xmlns:a16="http://schemas.microsoft.com/office/drawing/2014/main" id="{22280606-D83C-4624-9A1E-0D442EFB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24" y="1484784"/>
                <a:ext cx="7200800" cy="4752528"/>
              </a:xfrm>
              <a:prstGeom prst="rect">
                <a:avLst/>
              </a:prstGeom>
              <a:blipFill>
                <a:blip r:embed="rId3"/>
                <a:stretch>
                  <a:fillRect l="-1355" t="-1797" r="-127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>
            <a:extLst>
              <a:ext uri="{FF2B5EF4-FFF2-40B4-BE49-F238E27FC236}">
                <a16:creationId xmlns:a16="http://schemas.microsoft.com/office/drawing/2014/main" id="{FC293022-FC3E-4B37-AF37-867E93C25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354" y="2996952"/>
            <a:ext cx="510864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63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87565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de acceso a los datos de un archivo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09C2415-0750-497F-9FFE-FCC1406A3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1674225"/>
            <a:ext cx="10937963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09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87565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de acceso a los datos de un archivo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EC38F7-1986-4C0F-BDBB-8C0154AA5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8720"/>
            <a:ext cx="5419725" cy="33242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152F30E-94B7-4836-A578-00FE97A70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80" y="2420888"/>
            <a:ext cx="7196876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51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20281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0F6B2AE-F4B3-4892-85DF-F04C2267F8FA}"/>
              </a:ext>
            </a:extLst>
          </p:cNvPr>
          <p:cNvSpPr txBox="1"/>
          <p:nvPr/>
        </p:nvSpPr>
        <p:spPr>
          <a:xfrm>
            <a:off x="623392" y="1988840"/>
            <a:ext cx="10260129" cy="35283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s-PE" b="1" dirty="0"/>
              <a:t>Con el libro de W. </a:t>
            </a:r>
            <a:r>
              <a:rPr lang="es-PE" b="1" dirty="0" err="1"/>
              <a:t>Stalling</a:t>
            </a:r>
            <a:r>
              <a:rPr lang="es-PE" b="1" dirty="0"/>
              <a:t>, Sistemas Operativos punto 11.5 (desde </a:t>
            </a:r>
            <a:r>
              <a:rPr lang="es-PE" b="1" dirty="0" err="1"/>
              <a:t>pp</a:t>
            </a:r>
            <a:r>
              <a:rPr lang="es-PE" b="1" dirty="0"/>
              <a:t> 503 hasta </a:t>
            </a:r>
            <a:r>
              <a:rPr lang="es-PE" b="1" dirty="0" err="1"/>
              <a:t>pp</a:t>
            </a:r>
            <a:r>
              <a:rPr lang="es-PE" b="1" dirty="0"/>
              <a:t> 506)</a:t>
            </a:r>
          </a:p>
          <a:p>
            <a:pPr marL="457200" indent="-457200" algn="just">
              <a:buAutoNum type="arabicPeriod"/>
            </a:pPr>
            <a:r>
              <a:rPr lang="es-ES" sz="2400" b="1" dirty="0"/>
              <a:t>Si duplicamos la velocidad de rotación del disco (de 7200 a 14400 rpm), ¿qué componentes de Ta se reducen y en qué proporción?</a:t>
            </a:r>
            <a:r>
              <a:rPr lang="es-PE" b="1" dirty="0"/>
              <a:t>.</a:t>
            </a:r>
          </a:p>
          <a:p>
            <a:pPr marL="457200" indent="-457200" algn="just">
              <a:buAutoNum type="arabicPeriod"/>
            </a:pPr>
            <a:r>
              <a:rPr lang="es-ES" b="1" dirty="0"/>
              <a:t>¿Por qué un archivo muy fragmentado tiene un F más alto y, por tanto, un </a:t>
            </a:r>
            <a:r>
              <a:rPr lang="es-ES" b="1" dirty="0" err="1"/>
              <a:t>Tt</a:t>
            </a:r>
            <a:r>
              <a:rPr lang="es-ES" b="1" dirty="0"/>
              <a:t> mayor?</a:t>
            </a:r>
            <a:r>
              <a:rPr lang="es-PE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318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9B2A-A2B7-842D-5F5F-CF164A92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EAE85069-D4CB-EA0F-D89F-0F7AA75BA4F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19099" r="-1909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7633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3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4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5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6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7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8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9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0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2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3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4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5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6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7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25261</TotalTime>
  <Words>1177</Words>
  <Application>Microsoft Office PowerPoint</Application>
  <PresentationFormat>Panorámica</PresentationFormat>
  <Paragraphs>150</Paragraphs>
  <Slides>21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Arena Condensed</vt:lpstr>
      <vt:lpstr>Arial</vt:lpstr>
      <vt:lpstr>Calibri</vt:lpstr>
      <vt:lpstr>Calibri Light</vt:lpstr>
      <vt:lpstr>Cambria Math</vt:lpstr>
      <vt:lpstr>Times New Roman</vt:lpstr>
      <vt:lpstr>Wingdings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 JURIDICO</dc:title>
  <dc:creator>Dr Beltran</dc:creator>
  <cp:lastModifiedBy>Max Castro Rodriguez</cp:lastModifiedBy>
  <cp:revision>844</cp:revision>
  <dcterms:created xsi:type="dcterms:W3CDTF">2018-02-24T13:56:14Z</dcterms:created>
  <dcterms:modified xsi:type="dcterms:W3CDTF">2026-08-30T18:48:19Z</dcterms:modified>
</cp:coreProperties>
</file>