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53" r:id="rId2"/>
    <p:sldId id="540" r:id="rId3"/>
    <p:sldId id="982" r:id="rId4"/>
    <p:sldId id="256" r:id="rId5"/>
    <p:sldId id="257" r:id="rId6"/>
    <p:sldId id="258" r:id="rId7"/>
    <p:sldId id="259" r:id="rId8"/>
    <p:sldId id="260" r:id="rId9"/>
    <p:sldId id="261" r:id="rId10"/>
    <p:sldId id="278" r:id="rId11"/>
    <p:sldId id="262" r:id="rId12"/>
    <p:sldId id="263" r:id="rId13"/>
    <p:sldId id="264" r:id="rId14"/>
    <p:sldId id="265" r:id="rId15"/>
    <p:sldId id="277" r:id="rId16"/>
    <p:sldId id="266" r:id="rId17"/>
    <p:sldId id="267" r:id="rId18"/>
    <p:sldId id="268" r:id="rId19"/>
    <p:sldId id="269" r:id="rId20"/>
    <p:sldId id="276" r:id="rId21"/>
    <p:sldId id="270" r:id="rId22"/>
    <p:sldId id="272" r:id="rId23"/>
    <p:sldId id="273" r:id="rId24"/>
    <p:sldId id="275" r:id="rId25"/>
    <p:sldId id="65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96" y="20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4" d="100"/>
          <a:sy n="154" d="100"/>
        </p:scale>
        <p:origin x="66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Listas</a:t>
          </a:r>
          <a:r>
            <a:rPr lang="en-US" sz="28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 </a:t>
          </a:r>
          <a:r>
            <a:rPr lang="en-US" sz="2800" b="1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enlazadas</a:t>
          </a:r>
          <a:r>
            <a:rPr lang="en-US" sz="28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 - </a:t>
          </a:r>
          <a:r>
            <a:rPr lang="en-US" sz="2800" b="1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Repaso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B3E38AEE-62B2-48FD-9840-B7F603186F6A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 Laboratorio – Aplicación 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129A57F-9906-4F59-83FD-90EFEF168385}" type="parTrans" cxnId="{37DA70F5-F75C-476E-A916-BFAA635604F1}">
      <dgm:prSet/>
      <dgm:spPr/>
      <dgm:t>
        <a:bodyPr/>
        <a:lstStyle/>
        <a:p>
          <a:endParaRPr lang="es-ES"/>
        </a:p>
      </dgm:t>
    </dgm:pt>
    <dgm:pt modelId="{575F4433-1DF5-4EFE-BB51-1F9B5850D614}" type="sibTrans" cxnId="{37DA70F5-F75C-476E-A916-BFAA635604F1}">
      <dgm:prSet/>
      <dgm:spPr/>
      <dgm:t>
        <a:bodyPr/>
        <a:lstStyle/>
        <a:p>
          <a:endParaRPr lang="es-ES"/>
        </a:p>
      </dgm:t>
    </dgm:pt>
    <dgm:pt modelId="{39716C6E-1A9D-4EAF-B496-D90881A9BF8B}">
      <dgm:prSet phldrT="[Texto]" custT="1"/>
      <dgm:spPr>
        <a:solidFill>
          <a:srgbClr val="0070C0"/>
        </a:solidFill>
      </dgm:spPr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Listas enlazadas:</a:t>
          </a:r>
          <a:endParaRPr lang="en-US" sz="16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eliminación y aplicaciones reales</a:t>
          </a:r>
          <a:endParaRPr lang="es-PE" sz="2800" b="1" dirty="0"/>
        </a:p>
      </dgm:t>
    </dgm:pt>
    <dgm:pt modelId="{1E05DD21-B370-4A57-9B62-1569BC8F1DB2}" type="parTrans" cxnId="{EA89AB5C-ECE7-4642-A7F2-C58288D9C4F2}">
      <dgm:prSet/>
      <dgm:spPr/>
      <dgm:t>
        <a:bodyPr/>
        <a:lstStyle/>
        <a:p>
          <a:endParaRPr lang="es-ES"/>
        </a:p>
      </dgm:t>
    </dgm:pt>
    <dgm:pt modelId="{89E0621F-BCAF-4971-9808-7109E6D6E7D1}" type="sibTrans" cxnId="{EA89AB5C-ECE7-4642-A7F2-C58288D9C4F2}">
      <dgm:prSet/>
      <dgm:spPr/>
      <dgm:t>
        <a:bodyPr/>
        <a:lstStyle/>
        <a:p>
          <a:endParaRPr lang="es-ES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3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3"/>
      <dgm:spPr/>
    </dgm:pt>
    <dgm:pt modelId="{FA2C3F46-A5D4-4297-9EFF-90EBAA3AF140}" type="pres">
      <dgm:prSet presAssocID="{FB00892F-EC72-4887-B184-DCF89BEE2FCE}" presName="dstNode" presStyleLbl="node1" presStyleIdx="0" presStyleCnt="3"/>
      <dgm:spPr/>
    </dgm:pt>
    <dgm:pt modelId="{67433B04-4786-459B-987D-AC1760F0DCB1}" type="pres">
      <dgm:prSet presAssocID="{293C9B94-AE7A-4C44-9DA1-0FA8F0EFEC9B}" presName="text_1" presStyleLbl="node1" presStyleIdx="0" presStyleCnt="3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3" custLinFactNeighborX="1349" custLinFactNeighborY="-4864"/>
      <dgm:spPr>
        <a:solidFill>
          <a:srgbClr val="1870B8"/>
        </a:solidFill>
      </dgm:spPr>
    </dgm:pt>
    <dgm:pt modelId="{F1E15A63-F438-4689-8DC7-F4BA0A95A8DD}" type="pres">
      <dgm:prSet presAssocID="{39716C6E-1A9D-4EAF-B496-D90881A9BF8B}" presName="text_2" presStyleLbl="node1" presStyleIdx="1" presStyleCnt="3">
        <dgm:presLayoutVars>
          <dgm:bulletEnabled val="1"/>
        </dgm:presLayoutVars>
      </dgm:prSet>
      <dgm:spPr/>
    </dgm:pt>
    <dgm:pt modelId="{6C995947-1A38-4268-BE09-D3A6F4B82E8D}" type="pres">
      <dgm:prSet presAssocID="{39716C6E-1A9D-4EAF-B496-D90881A9BF8B}" presName="accent_2" presStyleCnt="0"/>
      <dgm:spPr/>
    </dgm:pt>
    <dgm:pt modelId="{307D0C93-A11E-4E10-8688-9CD06C8D0510}" type="pres">
      <dgm:prSet presAssocID="{39716C6E-1A9D-4EAF-B496-D90881A9BF8B}" presName="accentRepeatNode" presStyleLbl="solidFgAcc1" presStyleIdx="1" presStyleCnt="3"/>
      <dgm:spPr>
        <a:solidFill>
          <a:srgbClr val="0070C0"/>
        </a:solidFill>
        <a:ln>
          <a:solidFill>
            <a:schemeClr val="accent1"/>
          </a:solidFill>
        </a:ln>
      </dgm:spPr>
    </dgm:pt>
    <dgm:pt modelId="{A5FD30FE-4A06-4213-B114-6EC5CC306C2E}" type="pres">
      <dgm:prSet presAssocID="{B3E38AEE-62B2-48FD-9840-B7F603186F6A}" presName="text_3" presStyleLbl="node1" presStyleIdx="2" presStyleCnt="3">
        <dgm:presLayoutVars>
          <dgm:bulletEnabled val="1"/>
        </dgm:presLayoutVars>
      </dgm:prSet>
      <dgm:spPr/>
    </dgm:pt>
    <dgm:pt modelId="{C81DE5D6-FA91-4161-8947-FDE83A5150A8}" type="pres">
      <dgm:prSet presAssocID="{B3E38AEE-62B2-48FD-9840-B7F603186F6A}" presName="accent_3" presStyleCnt="0"/>
      <dgm:spPr/>
    </dgm:pt>
    <dgm:pt modelId="{15134819-E5DC-4315-9BA6-88888D7D8EED}" type="pres">
      <dgm:prSet presAssocID="{B3E38AEE-62B2-48FD-9840-B7F603186F6A}" presName="accentRepeatNode" presStyleLbl="solidFgAcc1" presStyleIdx="2" presStyleCnt="3"/>
      <dgm:spPr/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EA89AB5C-ECE7-4642-A7F2-C58288D9C4F2}" srcId="{FB00892F-EC72-4887-B184-DCF89BEE2FCE}" destId="{39716C6E-1A9D-4EAF-B496-D90881A9BF8B}" srcOrd="1" destOrd="0" parTransId="{1E05DD21-B370-4A57-9B62-1569BC8F1DB2}" sibTransId="{89E0621F-BCAF-4971-9808-7109E6D6E7D1}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D9B3FB66-26A1-4E38-A90D-4E5852F41BB1}" type="presOf" srcId="{39716C6E-1A9D-4EAF-B496-D90881A9BF8B}" destId="{F1E15A63-F438-4689-8DC7-F4BA0A95A8DD}" srcOrd="0" destOrd="0" presId="urn:microsoft.com/office/officeart/2008/layout/VerticalCurvedList"/>
    <dgm:cxn modelId="{E6C3334D-4C30-4567-8967-076409C7176F}" type="presOf" srcId="{B3E38AEE-62B2-48FD-9840-B7F603186F6A}" destId="{A5FD30FE-4A06-4213-B114-6EC5CC306C2E}" srcOrd="0" destOrd="0" presId="urn:microsoft.com/office/officeart/2008/layout/VerticalCurvedList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37DA70F5-F75C-476E-A916-BFAA635604F1}" srcId="{FB00892F-EC72-4887-B184-DCF89BEE2FCE}" destId="{B3E38AEE-62B2-48FD-9840-B7F603186F6A}" srcOrd="2" destOrd="0" parTransId="{7129A57F-9906-4F59-83FD-90EFEF168385}" sibTransId="{575F4433-1DF5-4EFE-BB51-1F9B5850D614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12EC3C16-8B12-46DC-BB5B-CEF5959CF29F}" type="presParOf" srcId="{84910027-B218-4E01-933E-00FA7E18C6F0}" destId="{F1E15A63-F438-4689-8DC7-F4BA0A95A8DD}" srcOrd="3" destOrd="0" presId="urn:microsoft.com/office/officeart/2008/layout/VerticalCurvedList"/>
    <dgm:cxn modelId="{758508CE-A460-4EBE-982E-7BB4B2E0B4C2}" type="presParOf" srcId="{84910027-B218-4E01-933E-00FA7E18C6F0}" destId="{6C995947-1A38-4268-BE09-D3A6F4B82E8D}" srcOrd="4" destOrd="0" presId="urn:microsoft.com/office/officeart/2008/layout/VerticalCurvedList"/>
    <dgm:cxn modelId="{78F75A97-E895-491F-8BFF-6D93B1759782}" type="presParOf" srcId="{6C995947-1A38-4268-BE09-D3A6F4B82E8D}" destId="{307D0C93-A11E-4E10-8688-9CD06C8D0510}" srcOrd="0" destOrd="0" presId="urn:microsoft.com/office/officeart/2008/layout/VerticalCurvedList"/>
    <dgm:cxn modelId="{C0062878-756B-473A-A8ED-20A42237974F}" type="presParOf" srcId="{84910027-B218-4E01-933E-00FA7E18C6F0}" destId="{A5FD30FE-4A06-4213-B114-6EC5CC306C2E}" srcOrd="5" destOrd="0" presId="urn:microsoft.com/office/officeart/2008/layout/VerticalCurvedList"/>
    <dgm:cxn modelId="{8593747E-0C18-41AF-9CEA-580D92699EDC}" type="presParOf" srcId="{84910027-B218-4E01-933E-00FA7E18C6F0}" destId="{C81DE5D6-FA91-4161-8947-FDE83A5150A8}" srcOrd="6" destOrd="0" presId="urn:microsoft.com/office/officeart/2008/layout/VerticalCurvedList"/>
    <dgm:cxn modelId="{10A0753D-7E55-497A-A009-193F41DF379A}" type="presParOf" srcId="{C81DE5D6-FA91-4161-8947-FDE83A5150A8}" destId="{15134819-E5DC-4315-9BA6-88888D7D8E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3689117" y="-566790"/>
          <a:ext cx="4397481" cy="4397481"/>
        </a:xfrm>
        <a:prstGeom prst="blockArc">
          <a:avLst>
            <a:gd name="adj1" fmla="val 18900000"/>
            <a:gd name="adj2" fmla="val 2700000"/>
            <a:gd name="adj3" fmla="val 491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455521" y="326390"/>
          <a:ext cx="5604278" cy="652780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8144" tIns="71120" rIns="71120" bIns="7112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Listas</a:t>
          </a:r>
          <a:r>
            <a:rPr lang="en-US" sz="2800" b="1" kern="1200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 </a:t>
          </a:r>
          <a:r>
            <a:rPr lang="en-US" sz="2800" b="1" kern="1200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enlazadas</a:t>
          </a:r>
          <a:r>
            <a:rPr lang="en-US" sz="2800" b="1" kern="1200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 - </a:t>
          </a:r>
          <a:r>
            <a:rPr lang="en-US" sz="2800" b="1" kern="1200" dirty="0" err="1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Repaso</a:t>
          </a:r>
          <a:endParaRPr lang="es-PE" sz="2800" b="1" kern="1200" dirty="0"/>
        </a:p>
      </dsp:txBody>
      <dsp:txXfrm>
        <a:off x="455521" y="326390"/>
        <a:ext cx="5604278" cy="652780"/>
      </dsp:txXfrm>
    </dsp:sp>
    <dsp:sp modelId="{04E8B14C-EAA3-4C36-8201-1F419CF99CC7}">
      <dsp:nvSpPr>
        <dsp:cNvPr id="0" name=""/>
        <dsp:cNvSpPr/>
      </dsp:nvSpPr>
      <dsp:spPr>
        <a:xfrm>
          <a:off x="58541" y="205103"/>
          <a:ext cx="815975" cy="815975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15A63-F438-4689-8DC7-F4BA0A95A8DD}">
      <dsp:nvSpPr>
        <dsp:cNvPr id="0" name=""/>
        <dsp:cNvSpPr/>
      </dsp:nvSpPr>
      <dsp:spPr>
        <a:xfrm>
          <a:off x="692806" y="1305560"/>
          <a:ext cx="5366993" cy="652780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8144" tIns="40640" rIns="40640" bIns="406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Listas enlazadas:</a:t>
          </a:r>
          <a:endParaRPr lang="en-US" sz="16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rPr>
            <a:t>eliminación y aplicaciones reales</a:t>
          </a:r>
          <a:endParaRPr lang="es-PE" sz="2800" b="1" dirty="0"/>
        </a:p>
      </dsp:txBody>
      <dsp:txXfrm>
        <a:off x="692806" y="1305560"/>
        <a:ext cx="5366993" cy="652780"/>
      </dsp:txXfrm>
    </dsp:sp>
    <dsp:sp modelId="{307D0C93-A11E-4E10-8688-9CD06C8D0510}">
      <dsp:nvSpPr>
        <dsp:cNvPr id="0" name=""/>
        <dsp:cNvSpPr/>
      </dsp:nvSpPr>
      <dsp:spPr>
        <a:xfrm>
          <a:off x="284819" y="1223962"/>
          <a:ext cx="815975" cy="815975"/>
        </a:xfrm>
        <a:prstGeom prst="ellipse">
          <a:avLst/>
        </a:prstGeom>
        <a:solidFill>
          <a:srgbClr val="0070C0"/>
        </a:soli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D30FE-4A06-4213-B114-6EC5CC306C2E}">
      <dsp:nvSpPr>
        <dsp:cNvPr id="0" name=""/>
        <dsp:cNvSpPr/>
      </dsp:nvSpPr>
      <dsp:spPr>
        <a:xfrm>
          <a:off x="455521" y="2284730"/>
          <a:ext cx="5604278" cy="652780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 Laboratorio – Aplicación 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455521" y="2284730"/>
        <a:ext cx="5604278" cy="652780"/>
      </dsp:txXfrm>
    </dsp:sp>
    <dsp:sp modelId="{15134819-E5DC-4315-9BA6-88888D7D8EED}">
      <dsp:nvSpPr>
        <dsp:cNvPr id="0" name=""/>
        <dsp:cNvSpPr/>
      </dsp:nvSpPr>
      <dsp:spPr>
        <a:xfrm>
          <a:off x="47533" y="2203132"/>
          <a:ext cx="815975" cy="81597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3A24462-9B99-B5E9-A648-92E1F929F2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343DD8-7B94-54BE-E375-E7CBBA6DEE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C7C9-D23F-4FCF-A95D-7F424F17E897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833C55-FACB-0D71-4565-D1C5DFCB11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F31C88-9BA2-A57F-DEDF-63C4C0E1EA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C061C-DBF9-4A3A-BE77-C30B349925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534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38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4840003"/>
            <a:ext cx="9144000" cy="3034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350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7110282" y="4904696"/>
            <a:ext cx="1836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9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15322"/>
            <a:ext cx="9125490" cy="249492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249492"/>
            <a:ext cx="9144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43509" y="-5992"/>
            <a:ext cx="1998221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C" sz="105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9497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4840003"/>
            <a:ext cx="9144000" cy="3034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350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7110282" y="4904696"/>
            <a:ext cx="1836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9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15322"/>
            <a:ext cx="9144000" cy="249492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249492"/>
            <a:ext cx="9144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43509" y="-20538"/>
            <a:ext cx="2343729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C" sz="105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509" y="357520"/>
            <a:ext cx="8802978" cy="4451427"/>
          </a:xfrm>
        </p:spPr>
        <p:txBody>
          <a:bodyPr>
            <a:normAutofit/>
          </a:bodyPr>
          <a:lstStyle>
            <a:lvl1pPr algn="just">
              <a:defRPr sz="3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3919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509" y="1113588"/>
            <a:ext cx="8802978" cy="3695359"/>
          </a:xfrm>
        </p:spPr>
        <p:txBody>
          <a:bodyPr>
            <a:normAutofit/>
          </a:bodyPr>
          <a:lstStyle>
            <a:lvl1pPr algn="just">
              <a:defRPr sz="3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4066" y="303610"/>
            <a:ext cx="8748713" cy="702469"/>
          </a:xfrm>
        </p:spPr>
        <p:txBody>
          <a:bodyPr/>
          <a:lstStyle>
            <a:lvl1pPr marL="0" indent="0" algn="ctr">
              <a:buNone/>
              <a:defRPr sz="33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4840003"/>
            <a:ext cx="9144000" cy="3034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350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7110282" y="4904696"/>
            <a:ext cx="1836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9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9144000" cy="249492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249492"/>
            <a:ext cx="9144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43509" y="-5992"/>
            <a:ext cx="1998221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C" sz="105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70111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7514" y="357505"/>
            <a:ext cx="8748972" cy="4451444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4840003"/>
            <a:ext cx="9144000" cy="3034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350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7110282" y="4904696"/>
            <a:ext cx="1836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9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9144000" cy="249492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249492"/>
            <a:ext cx="9144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43509" y="-5992"/>
            <a:ext cx="1998221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C" sz="105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29998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86ED12-C084-9FB6-2C08-715C1EDFB6D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1374"/>
            <a:ext cx="9144000" cy="51407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329863" y="3597864"/>
            <a:ext cx="3564395" cy="86409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975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 algn="ctr">
              <a:buFont typeface="Wingdings" panose="05000000000000000000" pitchFamily="2" charset="2"/>
              <a:buChar char="§"/>
            </a:pPr>
            <a:endParaRPr lang="es-PE" sz="975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975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Octubre de 2026</a:t>
            </a:r>
          </a:p>
          <a:p>
            <a:pPr algn="ctr"/>
            <a:endParaRPr lang="es-PE" sz="975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975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41730" y="2355727"/>
            <a:ext cx="5994666" cy="94862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33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822990" y="900628"/>
            <a:ext cx="66321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3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817694" y="1437624"/>
            <a:ext cx="663214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1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38" y="1059931"/>
            <a:ext cx="1147760" cy="102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382091" y="141480"/>
            <a:ext cx="30075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75556" y="1491630"/>
            <a:ext cx="7560840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5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sz="1350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257175" indent="-257175">
              <a:buAutoNum type="alphaLcParenR"/>
            </a:pPr>
            <a:r>
              <a:rPr lang="es-PE" sz="1350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71FA695-1775-90CF-4D5E-611587DA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6F2E9D3C-E753-4CDA-B31A-F3F8ED7D9A71}"/>
              </a:ext>
            </a:extLst>
          </p:cNvPr>
          <p:cNvGraphicFramePr>
            <a:graphicFrameLocks noGrp="1"/>
          </p:cNvGraphicFramePr>
          <p:nvPr>
            <p:ph type="pic" idx="4294967295"/>
            <p:extLst>
              <p:ext uri="{D42A27DB-BD31-4B8C-83A1-F6EECF244321}">
                <p14:modId xmlns:p14="http://schemas.microsoft.com/office/powerpoint/2010/main" val="2092985624"/>
              </p:ext>
            </p:extLst>
          </p:nvPr>
        </p:nvGraphicFramePr>
        <p:xfrm>
          <a:off x="3041650" y="842963"/>
          <a:ext cx="6102350" cy="326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4482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07 · ORGANIZACIÓN DE ARCHIVOS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Listas enlazadas: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eliminación y aplicaciones reales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tema · Borrado lógico y físico · De C++ a sistemas que usan a diario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(Spotify, historial, asistencia, free lists)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Ing. Max Castro Rodríguez · UNT · Informática · 4.° ciclo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cerrar el tema así?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implementaron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777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ASC/DESC por apellido y nombre + URE (borrado lógico) en C++.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cerrar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5544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físico vs lógico; cuándo conviene cada uno.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 frecuente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331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SQL Server tiene índices y ORDER BY, ¿para qué sirve esto?»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hoy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108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como modelo mental, en archivos propios, historiales, free lists y como base de ideas de indexación.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86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</a:t>
            </a:r>
            <a:r>
              <a:rPr lang="en-US" sz="1300" b="1" dirty="0" err="1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permamente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886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tipo Spotify + control de asistencia: orden en secuencia, no solo «tablas mágicas».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Repaso en 60 segundos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enlazada en archivo RLF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registro = nodo (datos + número del siguiente).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 / UR / PRn / URn = cabezas en el encabezado.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 / AR / SRn / ARn = «punteros» = NR del siguiente.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 de lista = −1.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Físicamente: orden de inserción. Lógicamente: orden por la cadena.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desde PR siguiendo SR → listado ya ordenado en O(n).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lista: cargar todo + ordenar → O(n log n) o peor en cada reporte.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Eliminación LÓGICA — lo que ya practicaron (URE)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Localizar el registro (por clave o NR).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Desenlazarlo de las cadenas activas (SR, AR, SRn, ARn…).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Enlazarlo a la lista de eliminados: ARE = URE; URE = NR.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registro SIGUE en el archivo; ya no aparece en reportes activos.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033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Ese hueco se puede reutilizar en un alta futura (free list).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Eliminación FÍSICA — el registro desaparece del archivo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315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el espacio del registro deja de formar parte del archivo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se compacta). Ya no hay fila «fantasma».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RLF clásico es costoso: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No se puede «agujerear» fácil el archivo de longitud fija.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Opciones típicas: marcar y compactar después; o reescribir el archivo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sin el registro; o reutilizar solo vía lista de libres (que es lógica).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en el laboratorio priorizamos eliminación lógica + URE: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idea que soft-delete y free list en sistemas reales.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pura se usa cuando hay obligación legal de borrar, o archivos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pequeños, o fases de mantenimiento (compactación nocturna).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Lógica vs física — decisión de diseño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24688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040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594360"/>
            <a:ext cx="28346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704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(URE)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594360"/>
            <a:ext cx="28346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704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2468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252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¿Sigue en disco?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143000"/>
            <a:ext cx="2834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252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143000"/>
            <a:ext cx="2834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252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(o se compacta)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691640"/>
            <a:ext cx="246888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inmediato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169164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(punteros)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69164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si compacta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2468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2240280"/>
            <a:ext cx="2834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7180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(free list)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2240280"/>
            <a:ext cx="2834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compactar / reescribir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246888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898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/ undo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278892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278892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difícil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97880" y="3447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mejor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886200"/>
            <a:ext cx="246888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C++ del curso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388620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3" name="Text 41"/>
          <p:cNvSpPr/>
          <p:nvPr/>
        </p:nvSpPr>
        <p:spPr>
          <a:xfrm>
            <a:off x="297180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implementaron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52160" y="3886200"/>
            <a:ext cx="28346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5" name="Text 43"/>
          <p:cNvSpPr/>
          <p:nvPr/>
        </p:nvSpPr>
        <p:spPr>
          <a:xfrm>
            <a:off x="589788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+ mantenimiento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E13B9B-3E08-FFC7-1774-AD964AC4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52" y="271404"/>
            <a:ext cx="6965577" cy="436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5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cosas distintas (no las mezclen)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640080"/>
            <a:ext cx="278892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enlazada (lab)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mantienen SR/AR/URE.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materializado en la cadena.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desde PR: O(n) ordenado.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6400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640080"/>
            <a:ext cx="278892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7498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B-tree (SQL)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mantiene un árbol sobre la clave.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puntual ~ O(log n).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permiten orden.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6400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640080"/>
            <a:ext cx="278892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7498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(SQL)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173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petición en la consulta.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usa índice o ordena.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 su lista SR del main06.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¿ORDER BY APELLIDO crea una lista enlazada?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hay índice útil sobre APELLIDO → el motor recorre el índice.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no hay índice → ordena el resultado (memoria/disco), típico O(n log n).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ningún caso ejecuta su algoritmo de inserción con SR del laboratorio.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«ORDER BY pide un orden; el B-tree o el sort lo resuelven.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SR es un diseño explícito de orden materializado en archivo.»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Entonces… ¿para qué sirve lo del laboratorio?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 / undo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hacia atrás y adelante (doble enlace).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6400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y colas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pista, cola de reproducción, reordenar local.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list (URE)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huecos sin compactar todo — idea muy real.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48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propio RLF/RLV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hay motor SQL: sistemas embebidos, labs, motores simples.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mental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índices y punteros a páginas: misma familia de ideas.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4747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/ marcaciones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840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temporal de eventos por persona.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/ historial tipo Spotify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canción es un nodo: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título, artista, URL (o ruta), SR (siguiente en la lista).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Insertar en orden (por título) o al final de una playlist personalizada.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Eliminar de la cola sin reescribir todo el archivo → lógico + URE.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«Reproducir» = abrir la URL del nodo actual; «Siguiente» = seguir SR.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estamos afirmando que Spotify use su main06 en producción.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afirmando que el patrón lista + borrado lógico aparece 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reproductores, colas y buffers; y que ustedes ya saben implementarlo.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C968D5-FD68-93D2-0BA2-EDFA788D3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2" y="305490"/>
            <a:ext cx="6275721" cy="417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81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</a:t>
            </a: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800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Sistema de control de asistencia (marcaciones)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marcación (ingreso / salida) es un evento en el tiempo.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trabajador se puede mantener una cadena: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última marcación ← … ← primera del día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naturales: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¿A qué hora fue su primer ingreso?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¿Cuál fue su última salida?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Listar el día en orden cronológico sin reordenar en RAM cada vez.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sistema web (.NET + SQL) usarán tablas + índice por (DNI, fechaHora).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les enseña por qué ese orden importa y qué costo tiene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mantenerlo a mano versus delegarlo al índice.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Otras</a:t>
            </a: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700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aplicaciones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(LIFO)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en editor: push/pop en la cabeza — O(1).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59436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(FIFO)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325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impresión / jobs: enqueue al final, dequeue al inicio.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59436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web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325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Atrás / adelante: lista doble (prev/next).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memoria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libres enlazados (free list) en el SO.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/ feed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recientes como cadena por fecha.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606040"/>
            <a:ext cx="2788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 índice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«siguiente en orden» prepara B-tree e índices.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beneficia esto a su sistema Blazor + SQL?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que copiar SR en cada tabla bancaria.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deben saber decidir: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consultas necesitan orden? → índice + ORDER BY.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borrados son lógicos? → Activo = 0 / soft-delete (idea URE).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¿Hay historial de eventos? → tabla de hechos ordenada por fecha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(o cadena si el dominio es un archivo/log propio).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¿La UI debe mostrar el «camino» del algoritmo? → lo vieron en el lab;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 Blazor pueden animar el recorrido de un índice o de una lista didáctica.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no compite con SQL Server: les enseña lo que el motor oculta.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rápido de decisión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6634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6583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548640"/>
            <a:ext cx="356616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193792" y="658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22529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ya ordenado desde archivo propio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115568"/>
            <a:ext cx="3566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193792" y="12252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SR (lab C++)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82496"/>
            <a:ext cx="46634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7922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1 cuenta entre millones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682496"/>
            <a:ext cx="356616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5" name="Text 13"/>
          <p:cNvSpPr/>
          <p:nvPr/>
        </p:nvSpPr>
        <p:spPr>
          <a:xfrm>
            <a:off x="5193792" y="17922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B-tree ~ O(log 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3591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ordenado en SQL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249424"/>
            <a:ext cx="3566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93792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(+ índice si existe)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46634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9260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huecos de borrados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2816352"/>
            <a:ext cx="356616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29260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 / free list / soft-delete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49300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atrás/adelante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3383280"/>
            <a:ext cx="3566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193792" y="34930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doble (Prev/Next)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50208"/>
            <a:ext cx="466344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05993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bancario realista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3950208"/>
            <a:ext cx="3566160" cy="50292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1" name="Text 29"/>
          <p:cNvSpPr/>
          <p:nvPr/>
        </p:nvSpPr>
        <p:spPr>
          <a:xfrm>
            <a:off x="5193792" y="40599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+ borrado lógico; lista solo si el diseño lo pide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5C089C-46BB-5CE9-4A4C-0195E0B7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" y="180467"/>
            <a:ext cx="8101854" cy="44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1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Laboratorio de hoy — «Mini Spotify» en archivo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Archivo de canciones (texto) + lista enlazada por título (SR) y eliminados (URE).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Base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crear, ver físico, ver cadena, abrir URL (reproducir).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Ustedes completan: insertar en orden y eliminar lógico (desenlace + URE).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Datos iniciales en canciones_rlv.txt (título|artista|url).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033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Meta en ~1 hora de foco: que la playlist suene en orden y sobreviva a borrados.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que ya no deberían decir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«SQL arma la lista SR con ORDER BY»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no es su algoritmo de inserción.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«Borrar lógico borra del disco»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 deja el registro; URE lo saca de la lista activa.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«Esto no sirve porque hay B-tree»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194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en archivo propio, historiales y como modelo mental.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«Físico y lógico son lo mismo»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compacta/desaparece; el otro marca y reutiliza.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«PR es el primer registro físico»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es la cabeza lógica; el físico 1 puede ser otro.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4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tema listas enlazadas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“Físicamente desordenado,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lógicamente ordenado.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Borrado lógico: el hueco también se gestiona.”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laboratorio Mini Spotify — completen insertar y eliminar en la cadena.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 a paso de </a:t>
            </a:r>
            <a:r>
              <a:rPr lang="en-US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</a:t>
            </a:r>
            <a:r>
              <a:rPr lang="en-US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enlazada</a:t>
            </a:r>
            <a:r>
              <a:rPr lang="en-US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800" b="1" dirty="0" err="1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pizarra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I(rosa) I(lorenzo) I(carmen) E(lorenzo)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un grupo: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Encabezado NRS, PR, 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Cadena PR → … → −1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Qué cambió en URE al eliminar Lorenzo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en una frase del estudiante: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archivo no se reordenó; solo movimos punteros.»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· UNT · Listas enlazadas — cierre y aplicaciones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0" y="48280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xfrm>
            <a:off x="0" y="357188"/>
            <a:ext cx="8750300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2053</Words>
  <Application>Microsoft Office PowerPoint</Application>
  <PresentationFormat>Presentación en pantalla (16:9)</PresentationFormat>
  <Paragraphs>275</Paragraphs>
  <Slides>25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Arena Condensed</vt:lpstr>
      <vt:lpstr>Arial</vt:lpstr>
      <vt:lpstr>Calibri</vt:lpstr>
      <vt:lpstr>Georgia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07 — Listas enlazadas: eliminación y aplicaciones reales</dc:title>
  <dc:subject>Organización de Archivos · UNT</dc:subject>
  <dc:creator>Mg. Ing. Max Castro Rodriguez</dc:creator>
  <cp:lastModifiedBy>Max Castro Rodriguez</cp:lastModifiedBy>
  <cp:revision>5</cp:revision>
  <dcterms:created xsi:type="dcterms:W3CDTF">2026-10-04T15:57:00Z</dcterms:created>
  <dcterms:modified xsi:type="dcterms:W3CDTF">2026-10-04T17:12:54Z</dcterms:modified>
</cp:coreProperties>
</file>