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7"/>
  </p:notesMasterIdLst>
  <p:handoutMasterIdLst>
    <p:handoutMasterId r:id="rId28"/>
  </p:handoutMasterIdLst>
  <p:sldIdLst>
    <p:sldId id="653" r:id="rId2"/>
    <p:sldId id="540" r:id="rId3"/>
    <p:sldId id="982" r:id="rId4"/>
    <p:sldId id="1018" r:id="rId5"/>
    <p:sldId id="1013" r:id="rId6"/>
    <p:sldId id="1015" r:id="rId7"/>
    <p:sldId id="1014" r:id="rId8"/>
    <p:sldId id="1019" r:id="rId9"/>
    <p:sldId id="1020" r:id="rId10"/>
    <p:sldId id="1016" r:id="rId11"/>
    <p:sldId id="1017" r:id="rId12"/>
    <p:sldId id="1024" r:id="rId13"/>
    <p:sldId id="1025" r:id="rId14"/>
    <p:sldId id="1026" r:id="rId15"/>
    <p:sldId id="1023" r:id="rId16"/>
    <p:sldId id="1021" r:id="rId17"/>
    <p:sldId id="1027" r:id="rId18"/>
    <p:sldId id="1012" r:id="rId19"/>
    <p:sldId id="1028" r:id="rId20"/>
    <p:sldId id="1029" r:id="rId21"/>
    <p:sldId id="1030" r:id="rId22"/>
    <p:sldId id="1031" r:id="rId23"/>
    <p:sldId id="1032" r:id="rId24"/>
    <p:sldId id="1033" r:id="rId25"/>
    <p:sldId id="659" r:id="rId2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70B8"/>
    <a:srgbClr val="00FF00"/>
    <a:srgbClr val="CCFFFF"/>
    <a:srgbClr val="213A89"/>
    <a:srgbClr val="0000CC"/>
    <a:srgbClr val="FFFF99"/>
    <a:srgbClr val="EEEDEB"/>
    <a:srgbClr val="F1F1F1"/>
    <a:srgbClr val="E6E2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98" autoAdjust="0"/>
    <p:restoredTop sz="94671" autoAdjust="0"/>
  </p:normalViewPr>
  <p:slideViewPr>
    <p:cSldViewPr>
      <p:cViewPr varScale="1">
        <p:scale>
          <a:sx n="127" d="100"/>
          <a:sy n="127" d="100"/>
        </p:scale>
        <p:origin x="120" y="147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32" y="6923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4402"/>
    </p:cViewPr>
  </p:sorterViewPr>
  <p:notesViewPr>
    <p:cSldViewPr>
      <p:cViewPr varScale="1">
        <p:scale>
          <a:sx n="148" d="100"/>
          <a:sy n="148" d="100"/>
        </p:scale>
        <p:origin x="1762" y="9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ES" sz="2800" b="1" kern="1200" dirty="0"/>
            <a:t>Sistema de Registro Civil Digital – Búsqueda de Actas de Nacimiento</a:t>
          </a:r>
          <a:endParaRPr lang="es-PE" sz="2800" b="1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684AB86D-E05C-4592-B577-034037ABE6C8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Historial de Navegación Inteligente + Sistema Bancario de Alto Volumen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EB9DE8AF-3BD1-4E1F-9D19-22DFB90520A3}" type="parTrans" cxnId="{FB26E26B-E7C1-4D73-A2FE-09EA7B53F9BC}">
      <dgm:prSet/>
      <dgm:spPr/>
      <dgm:t>
        <a:bodyPr/>
        <a:lstStyle/>
        <a:p>
          <a:endParaRPr lang="es-PE" sz="2000"/>
        </a:p>
      </dgm:t>
    </dgm:pt>
    <dgm:pt modelId="{B83FADFB-494E-42E7-B6B5-4D7CD652890F}" type="sibTrans" cxnId="{FB26E26B-E7C1-4D73-A2FE-09EA7B53F9BC}">
      <dgm:prSet/>
      <dgm:spPr/>
      <dgm:t>
        <a:bodyPr/>
        <a:lstStyle/>
        <a:p>
          <a:endParaRPr lang="es-PE" sz="2000"/>
        </a:p>
      </dgm:t>
    </dgm:pt>
    <dgm:pt modelId="{B3E38AEE-62B2-48FD-9840-B7F603186F6A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Motor de Búsqueda Nacional de Identidad (DNI + Nombres)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129A57F-9906-4F59-83FD-90EFEF168385}" type="parTrans" cxnId="{37DA70F5-F75C-476E-A916-BFAA635604F1}">
      <dgm:prSet/>
      <dgm:spPr/>
    </dgm:pt>
    <dgm:pt modelId="{575F4433-1DF5-4EFE-BB51-1F9B5850D614}" type="sibTrans" cxnId="{37DA70F5-F75C-476E-A916-BFAA635604F1}">
      <dgm:prSet/>
      <dgm:spPr/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3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3"/>
      <dgm:spPr/>
    </dgm:pt>
    <dgm:pt modelId="{FA2C3F46-A5D4-4297-9EFF-90EBAA3AF140}" type="pres">
      <dgm:prSet presAssocID="{FB00892F-EC72-4887-B184-DCF89BEE2FCE}" presName="dstNode" presStyleLbl="node1" presStyleIdx="0" presStyleCnt="3"/>
      <dgm:spPr/>
    </dgm:pt>
    <dgm:pt modelId="{67433B04-4786-459B-987D-AC1760F0DCB1}" type="pres">
      <dgm:prSet presAssocID="{293C9B94-AE7A-4C44-9DA1-0FA8F0EFEC9B}" presName="text_1" presStyleLbl="node1" presStyleIdx="0" presStyleCnt="3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3" custLinFactNeighborX="1349" custLinFactNeighborY="-4864"/>
      <dgm:spPr>
        <a:solidFill>
          <a:srgbClr val="1870B8"/>
        </a:solidFill>
      </dgm:spPr>
    </dgm:pt>
    <dgm:pt modelId="{9B5B1D60-5B76-448C-A339-A15724883A3D}" type="pres">
      <dgm:prSet presAssocID="{684AB86D-E05C-4592-B577-034037ABE6C8}" presName="text_2" presStyleLbl="node1" presStyleIdx="1" presStyleCnt="3">
        <dgm:presLayoutVars>
          <dgm:bulletEnabled val="1"/>
        </dgm:presLayoutVars>
      </dgm:prSet>
      <dgm:spPr/>
    </dgm:pt>
    <dgm:pt modelId="{F8B51FAE-E5F2-413A-8CB1-2497756A288B}" type="pres">
      <dgm:prSet presAssocID="{684AB86D-E05C-4592-B577-034037ABE6C8}" presName="accent_2" presStyleCnt="0"/>
      <dgm:spPr/>
    </dgm:pt>
    <dgm:pt modelId="{0ABF96A3-0D38-4C1C-AFC9-E758ED14F11B}" type="pres">
      <dgm:prSet presAssocID="{684AB86D-E05C-4592-B577-034037ABE6C8}" presName="accentRepeatNode" presStyleLbl="solidFgAcc1" presStyleIdx="1" presStyleCnt="3"/>
      <dgm:spPr/>
    </dgm:pt>
    <dgm:pt modelId="{2E430331-DC28-499D-83E5-1300A2C532AF}" type="pres">
      <dgm:prSet presAssocID="{B3E38AEE-62B2-48FD-9840-B7F603186F6A}" presName="text_3" presStyleLbl="node1" presStyleIdx="2" presStyleCnt="3">
        <dgm:presLayoutVars>
          <dgm:bulletEnabled val="1"/>
        </dgm:presLayoutVars>
      </dgm:prSet>
      <dgm:spPr/>
    </dgm:pt>
    <dgm:pt modelId="{D8CC217A-6396-4FEB-B42A-D38CE63126AE}" type="pres">
      <dgm:prSet presAssocID="{B3E38AEE-62B2-48FD-9840-B7F603186F6A}" presName="accent_3" presStyleCnt="0"/>
      <dgm:spPr/>
    </dgm:pt>
    <dgm:pt modelId="{15134819-E5DC-4315-9BA6-88888D7D8EED}" type="pres">
      <dgm:prSet presAssocID="{B3E38AEE-62B2-48FD-9840-B7F603186F6A}" presName="accentRepeatNode" presStyleLbl="solidFgAcc1" presStyleIdx="2" presStyleCnt="3"/>
      <dgm:spPr/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FB26E26B-E7C1-4D73-A2FE-09EA7B53F9BC}" srcId="{FB00892F-EC72-4887-B184-DCF89BEE2FCE}" destId="{684AB86D-E05C-4592-B577-034037ABE6C8}" srcOrd="1" destOrd="0" parTransId="{EB9DE8AF-3BD1-4E1F-9D19-22DFB90520A3}" sibTransId="{B83FADFB-494E-42E7-B6B5-4D7CD652890F}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E74393B4-8D2A-4758-8978-663E74945B77}" type="presOf" srcId="{684AB86D-E05C-4592-B577-034037ABE6C8}" destId="{9B5B1D60-5B76-448C-A339-A15724883A3D}" srcOrd="0" destOrd="0" presId="urn:microsoft.com/office/officeart/2008/layout/VerticalCurvedList"/>
    <dgm:cxn modelId="{E70DA4DD-DF6C-4566-A130-E9181F2D9989}" type="presOf" srcId="{B3E38AEE-62B2-48FD-9840-B7F603186F6A}" destId="{2E430331-DC28-499D-83E5-1300A2C532AF}" srcOrd="0" destOrd="0" presId="urn:microsoft.com/office/officeart/2008/layout/VerticalCurvedList"/>
    <dgm:cxn modelId="{37DA70F5-F75C-476E-A916-BFAA635604F1}" srcId="{FB00892F-EC72-4887-B184-DCF89BEE2FCE}" destId="{B3E38AEE-62B2-48FD-9840-B7F603186F6A}" srcOrd="2" destOrd="0" parTransId="{7129A57F-9906-4F59-83FD-90EFEF168385}" sibTransId="{575F4433-1DF5-4EFE-BB51-1F9B5850D614}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  <dgm:cxn modelId="{58245C24-B6BC-4644-9758-FF1CDBDE4A7E}" type="presParOf" srcId="{84910027-B218-4E01-933E-00FA7E18C6F0}" destId="{9B5B1D60-5B76-448C-A339-A15724883A3D}" srcOrd="3" destOrd="0" presId="urn:microsoft.com/office/officeart/2008/layout/VerticalCurvedList"/>
    <dgm:cxn modelId="{0EE4BB47-F43D-42B8-89F1-99911632C551}" type="presParOf" srcId="{84910027-B218-4E01-933E-00FA7E18C6F0}" destId="{F8B51FAE-E5F2-413A-8CB1-2497756A288B}" srcOrd="4" destOrd="0" presId="urn:microsoft.com/office/officeart/2008/layout/VerticalCurvedList"/>
    <dgm:cxn modelId="{53B5DFA7-4828-4F52-8CD3-9B40E73D5DBD}" type="presParOf" srcId="{F8B51FAE-E5F2-413A-8CB1-2497756A288B}" destId="{0ABF96A3-0D38-4C1C-AFC9-E758ED14F11B}" srcOrd="0" destOrd="0" presId="urn:microsoft.com/office/officeart/2008/layout/VerticalCurvedList"/>
    <dgm:cxn modelId="{B279E39B-923F-49AD-9983-2C6C25787ED8}" type="presParOf" srcId="{84910027-B218-4E01-933E-00FA7E18C6F0}" destId="{2E430331-DC28-499D-83E5-1300A2C532AF}" srcOrd="5" destOrd="0" presId="urn:microsoft.com/office/officeart/2008/layout/VerticalCurvedList"/>
    <dgm:cxn modelId="{205E27C6-E88E-460A-BCBA-311781844CEE}" type="presParOf" srcId="{84910027-B218-4E01-933E-00FA7E18C6F0}" destId="{D8CC217A-6396-4FEB-B42A-D38CE63126AE}" srcOrd="6" destOrd="0" presId="urn:microsoft.com/office/officeart/2008/layout/VerticalCurvedList"/>
    <dgm:cxn modelId="{12965689-3501-4F07-A0F6-A9B37E84822D}" type="presParOf" srcId="{D8CC217A-6396-4FEB-B42A-D38CE63126AE}" destId="{15134819-E5DC-4315-9BA6-88888D7D8E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ES" sz="2800" b="1" kern="1200" dirty="0"/>
            <a:t>Sistema de Registro Civil Digital – Búsqueda de Actas de Nacimiento</a:t>
          </a:r>
          <a:endParaRPr lang="es-PE" sz="2800" b="1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684AB86D-E05C-4592-B577-034037ABE6C8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Historial de Navegación Inteligente + Sistema Bancario de Alto Volumen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EB9DE8AF-3BD1-4E1F-9D19-22DFB90520A3}" type="parTrans" cxnId="{FB26E26B-E7C1-4D73-A2FE-09EA7B53F9BC}">
      <dgm:prSet/>
      <dgm:spPr/>
      <dgm:t>
        <a:bodyPr/>
        <a:lstStyle/>
        <a:p>
          <a:endParaRPr lang="es-PE" sz="2000"/>
        </a:p>
      </dgm:t>
    </dgm:pt>
    <dgm:pt modelId="{B83FADFB-494E-42E7-B6B5-4D7CD652890F}" type="sibTrans" cxnId="{FB26E26B-E7C1-4D73-A2FE-09EA7B53F9BC}">
      <dgm:prSet/>
      <dgm:spPr/>
      <dgm:t>
        <a:bodyPr/>
        <a:lstStyle/>
        <a:p>
          <a:endParaRPr lang="es-PE" sz="2000"/>
        </a:p>
      </dgm:t>
    </dgm:pt>
    <dgm:pt modelId="{B3E38AEE-62B2-48FD-9840-B7F603186F6A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Motor de Búsqueda Nacional de Identidad (DNI + Nombres)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129A57F-9906-4F59-83FD-90EFEF168385}" type="parTrans" cxnId="{37DA70F5-F75C-476E-A916-BFAA635604F1}">
      <dgm:prSet/>
      <dgm:spPr/>
    </dgm:pt>
    <dgm:pt modelId="{575F4433-1DF5-4EFE-BB51-1F9B5850D614}" type="sibTrans" cxnId="{37DA70F5-F75C-476E-A916-BFAA635604F1}">
      <dgm:prSet/>
      <dgm:spPr/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3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3"/>
      <dgm:spPr/>
    </dgm:pt>
    <dgm:pt modelId="{FA2C3F46-A5D4-4297-9EFF-90EBAA3AF140}" type="pres">
      <dgm:prSet presAssocID="{FB00892F-EC72-4887-B184-DCF89BEE2FCE}" presName="dstNode" presStyleLbl="node1" presStyleIdx="0" presStyleCnt="3"/>
      <dgm:spPr/>
    </dgm:pt>
    <dgm:pt modelId="{67433B04-4786-459B-987D-AC1760F0DCB1}" type="pres">
      <dgm:prSet presAssocID="{293C9B94-AE7A-4C44-9DA1-0FA8F0EFEC9B}" presName="text_1" presStyleLbl="node1" presStyleIdx="0" presStyleCnt="3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3" custLinFactNeighborX="1349" custLinFactNeighborY="-4864"/>
      <dgm:spPr>
        <a:solidFill>
          <a:schemeClr val="accent2">
            <a:lumMod val="60000"/>
            <a:lumOff val="40000"/>
          </a:schemeClr>
        </a:solidFill>
      </dgm:spPr>
    </dgm:pt>
    <dgm:pt modelId="{9B5B1D60-5B76-448C-A339-A15724883A3D}" type="pres">
      <dgm:prSet presAssocID="{684AB86D-E05C-4592-B577-034037ABE6C8}" presName="text_2" presStyleLbl="node1" presStyleIdx="1" presStyleCnt="3">
        <dgm:presLayoutVars>
          <dgm:bulletEnabled val="1"/>
        </dgm:presLayoutVars>
      </dgm:prSet>
      <dgm:spPr/>
    </dgm:pt>
    <dgm:pt modelId="{F8B51FAE-E5F2-413A-8CB1-2497756A288B}" type="pres">
      <dgm:prSet presAssocID="{684AB86D-E05C-4592-B577-034037ABE6C8}" presName="accent_2" presStyleCnt="0"/>
      <dgm:spPr/>
    </dgm:pt>
    <dgm:pt modelId="{0ABF96A3-0D38-4C1C-AFC9-E758ED14F11B}" type="pres">
      <dgm:prSet presAssocID="{684AB86D-E05C-4592-B577-034037ABE6C8}" presName="accentRepeatNode" presStyleLbl="solidFgAcc1" presStyleIdx="1" presStyleCnt="3"/>
      <dgm:spPr>
        <a:solidFill>
          <a:srgbClr val="1870B8"/>
        </a:solidFill>
      </dgm:spPr>
    </dgm:pt>
    <dgm:pt modelId="{2E430331-DC28-499D-83E5-1300A2C532AF}" type="pres">
      <dgm:prSet presAssocID="{B3E38AEE-62B2-48FD-9840-B7F603186F6A}" presName="text_3" presStyleLbl="node1" presStyleIdx="2" presStyleCnt="3">
        <dgm:presLayoutVars>
          <dgm:bulletEnabled val="1"/>
        </dgm:presLayoutVars>
      </dgm:prSet>
      <dgm:spPr/>
    </dgm:pt>
    <dgm:pt modelId="{D8CC217A-6396-4FEB-B42A-D38CE63126AE}" type="pres">
      <dgm:prSet presAssocID="{B3E38AEE-62B2-48FD-9840-B7F603186F6A}" presName="accent_3" presStyleCnt="0"/>
      <dgm:spPr/>
    </dgm:pt>
    <dgm:pt modelId="{15134819-E5DC-4315-9BA6-88888D7D8EED}" type="pres">
      <dgm:prSet presAssocID="{B3E38AEE-62B2-48FD-9840-B7F603186F6A}" presName="accentRepeatNode" presStyleLbl="solidFgAcc1" presStyleIdx="2" presStyleCnt="3"/>
      <dgm:spPr/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FB26E26B-E7C1-4D73-A2FE-09EA7B53F9BC}" srcId="{FB00892F-EC72-4887-B184-DCF89BEE2FCE}" destId="{684AB86D-E05C-4592-B577-034037ABE6C8}" srcOrd="1" destOrd="0" parTransId="{EB9DE8AF-3BD1-4E1F-9D19-22DFB90520A3}" sibTransId="{B83FADFB-494E-42E7-B6B5-4D7CD652890F}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E74393B4-8D2A-4758-8978-663E74945B77}" type="presOf" srcId="{684AB86D-E05C-4592-B577-034037ABE6C8}" destId="{9B5B1D60-5B76-448C-A339-A15724883A3D}" srcOrd="0" destOrd="0" presId="urn:microsoft.com/office/officeart/2008/layout/VerticalCurvedList"/>
    <dgm:cxn modelId="{E70DA4DD-DF6C-4566-A130-E9181F2D9989}" type="presOf" srcId="{B3E38AEE-62B2-48FD-9840-B7F603186F6A}" destId="{2E430331-DC28-499D-83E5-1300A2C532AF}" srcOrd="0" destOrd="0" presId="urn:microsoft.com/office/officeart/2008/layout/VerticalCurvedList"/>
    <dgm:cxn modelId="{37DA70F5-F75C-476E-A916-BFAA635604F1}" srcId="{FB00892F-EC72-4887-B184-DCF89BEE2FCE}" destId="{B3E38AEE-62B2-48FD-9840-B7F603186F6A}" srcOrd="2" destOrd="0" parTransId="{7129A57F-9906-4F59-83FD-90EFEF168385}" sibTransId="{575F4433-1DF5-4EFE-BB51-1F9B5850D614}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  <dgm:cxn modelId="{58245C24-B6BC-4644-9758-FF1CDBDE4A7E}" type="presParOf" srcId="{84910027-B218-4E01-933E-00FA7E18C6F0}" destId="{9B5B1D60-5B76-448C-A339-A15724883A3D}" srcOrd="3" destOrd="0" presId="urn:microsoft.com/office/officeart/2008/layout/VerticalCurvedList"/>
    <dgm:cxn modelId="{0EE4BB47-F43D-42B8-89F1-99911632C551}" type="presParOf" srcId="{84910027-B218-4E01-933E-00FA7E18C6F0}" destId="{F8B51FAE-E5F2-413A-8CB1-2497756A288B}" srcOrd="4" destOrd="0" presId="urn:microsoft.com/office/officeart/2008/layout/VerticalCurvedList"/>
    <dgm:cxn modelId="{53B5DFA7-4828-4F52-8CD3-9B40E73D5DBD}" type="presParOf" srcId="{F8B51FAE-E5F2-413A-8CB1-2497756A288B}" destId="{0ABF96A3-0D38-4C1C-AFC9-E758ED14F11B}" srcOrd="0" destOrd="0" presId="urn:microsoft.com/office/officeart/2008/layout/VerticalCurvedList"/>
    <dgm:cxn modelId="{B279E39B-923F-49AD-9983-2C6C25787ED8}" type="presParOf" srcId="{84910027-B218-4E01-933E-00FA7E18C6F0}" destId="{2E430331-DC28-499D-83E5-1300A2C532AF}" srcOrd="5" destOrd="0" presId="urn:microsoft.com/office/officeart/2008/layout/VerticalCurvedList"/>
    <dgm:cxn modelId="{205E27C6-E88E-460A-BCBA-311781844CEE}" type="presParOf" srcId="{84910027-B218-4E01-933E-00FA7E18C6F0}" destId="{D8CC217A-6396-4FEB-B42A-D38CE63126AE}" srcOrd="6" destOrd="0" presId="urn:microsoft.com/office/officeart/2008/layout/VerticalCurvedList"/>
    <dgm:cxn modelId="{12965689-3501-4F07-A0F6-A9B37E84822D}" type="presParOf" srcId="{D8CC217A-6396-4FEB-B42A-D38CE63126AE}" destId="{15134819-E5DC-4315-9BA6-88888D7D8E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00892F-EC72-4887-B184-DCF89BEE2FCE}" type="doc">
      <dgm:prSet loTypeId="urn:microsoft.com/office/officeart/2008/layout/VerticalCurv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s-PE"/>
        </a:p>
      </dgm:t>
    </dgm:pt>
    <dgm:pt modelId="{293C9B94-AE7A-4C44-9DA1-0FA8F0EFEC9B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ES" sz="2800" b="1" kern="1200" dirty="0"/>
            <a:t>Sistema de Registro Civil Digital – Búsqueda de Actas de Nacimiento</a:t>
          </a:r>
          <a:endParaRPr lang="es-PE" sz="2800" b="1" dirty="0"/>
        </a:p>
      </dgm:t>
    </dgm:pt>
    <dgm:pt modelId="{95814C47-CB11-40AC-91EC-4025475C2C9C}" type="parTrans" cxnId="{97132041-2C8F-4614-8EC5-8084A6B79E72}">
      <dgm:prSet/>
      <dgm:spPr/>
      <dgm:t>
        <a:bodyPr/>
        <a:lstStyle/>
        <a:p>
          <a:endParaRPr lang="es-PE" sz="2000"/>
        </a:p>
      </dgm:t>
    </dgm:pt>
    <dgm:pt modelId="{6396FD51-C364-438F-B570-77A20A072E72}" type="sibTrans" cxnId="{97132041-2C8F-4614-8EC5-8084A6B79E72}">
      <dgm:prSet/>
      <dgm:spPr/>
      <dgm:t>
        <a:bodyPr/>
        <a:lstStyle/>
        <a:p>
          <a:endParaRPr lang="es-PE" sz="2000"/>
        </a:p>
      </dgm:t>
    </dgm:pt>
    <dgm:pt modelId="{684AB86D-E05C-4592-B577-034037ABE6C8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Historial de Navegación Inteligente + Sistema Bancario de Alto Volumen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EB9DE8AF-3BD1-4E1F-9D19-22DFB90520A3}" type="parTrans" cxnId="{FB26E26B-E7C1-4D73-A2FE-09EA7B53F9BC}">
      <dgm:prSet/>
      <dgm:spPr/>
      <dgm:t>
        <a:bodyPr/>
        <a:lstStyle/>
        <a:p>
          <a:endParaRPr lang="es-PE" sz="2000"/>
        </a:p>
      </dgm:t>
    </dgm:pt>
    <dgm:pt modelId="{B83FADFB-494E-42E7-B6B5-4D7CD652890F}" type="sibTrans" cxnId="{FB26E26B-E7C1-4D73-A2FE-09EA7B53F9BC}">
      <dgm:prSet/>
      <dgm:spPr/>
      <dgm:t>
        <a:bodyPr/>
        <a:lstStyle/>
        <a:p>
          <a:endParaRPr lang="es-PE" sz="2000"/>
        </a:p>
      </dgm:t>
    </dgm:pt>
    <dgm:pt modelId="{B3E38AEE-62B2-48FD-9840-B7F603186F6A}">
      <dgm:prSet phldrT="[Texto]" custT="1"/>
      <dgm:spPr>
        <a:solidFill>
          <a:srgbClr val="0070C0"/>
        </a:solidFill>
        <a:ln>
          <a:noFill/>
        </a:ln>
        <a:effectLst/>
      </dgm:spPr>
      <dgm:t>
        <a:bodyPr spcFirstLastPara="0" vert="horz" wrap="square" lIns="531311" tIns="50800" rIns="50800" bIns="508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Motor de Búsqueda Nacional de Identidad (DNI + Nombres)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gm:t>
    </dgm:pt>
    <dgm:pt modelId="{7129A57F-9906-4F59-83FD-90EFEF168385}" type="parTrans" cxnId="{37DA70F5-F75C-476E-A916-BFAA635604F1}">
      <dgm:prSet/>
      <dgm:spPr/>
      <dgm:t>
        <a:bodyPr/>
        <a:lstStyle/>
        <a:p>
          <a:endParaRPr lang="es-ES"/>
        </a:p>
      </dgm:t>
    </dgm:pt>
    <dgm:pt modelId="{575F4433-1DF5-4EFE-BB51-1F9B5850D614}" type="sibTrans" cxnId="{37DA70F5-F75C-476E-A916-BFAA635604F1}">
      <dgm:prSet/>
      <dgm:spPr/>
      <dgm:t>
        <a:bodyPr/>
        <a:lstStyle/>
        <a:p>
          <a:endParaRPr lang="es-ES"/>
        </a:p>
      </dgm:t>
    </dgm:pt>
    <dgm:pt modelId="{683F5F6A-EA1B-43B0-A55E-E2769BAC4123}" type="pres">
      <dgm:prSet presAssocID="{FB00892F-EC72-4887-B184-DCF89BEE2FCE}" presName="Name0" presStyleCnt="0">
        <dgm:presLayoutVars>
          <dgm:chMax val="7"/>
          <dgm:chPref val="7"/>
          <dgm:dir/>
        </dgm:presLayoutVars>
      </dgm:prSet>
      <dgm:spPr/>
    </dgm:pt>
    <dgm:pt modelId="{84910027-B218-4E01-933E-00FA7E18C6F0}" type="pres">
      <dgm:prSet presAssocID="{FB00892F-EC72-4887-B184-DCF89BEE2FCE}" presName="Name1" presStyleCnt="0"/>
      <dgm:spPr/>
    </dgm:pt>
    <dgm:pt modelId="{8FC490E7-1FD9-4EE0-B4DB-9E56D0ABF072}" type="pres">
      <dgm:prSet presAssocID="{FB00892F-EC72-4887-B184-DCF89BEE2FCE}" presName="cycle" presStyleCnt="0"/>
      <dgm:spPr/>
    </dgm:pt>
    <dgm:pt modelId="{B818F943-8162-48F1-BBC1-0216AEC71003}" type="pres">
      <dgm:prSet presAssocID="{FB00892F-EC72-4887-B184-DCF89BEE2FCE}" presName="srcNode" presStyleLbl="node1" presStyleIdx="0" presStyleCnt="3"/>
      <dgm:spPr/>
    </dgm:pt>
    <dgm:pt modelId="{A7BDD032-8F54-4940-8261-D9979C63CF27}" type="pres">
      <dgm:prSet presAssocID="{FB00892F-EC72-4887-B184-DCF89BEE2FCE}" presName="conn" presStyleLbl="parChTrans1D2" presStyleIdx="0" presStyleCnt="1"/>
      <dgm:spPr/>
    </dgm:pt>
    <dgm:pt modelId="{D81B4D94-0910-4BBD-B239-AA7D2C96A780}" type="pres">
      <dgm:prSet presAssocID="{FB00892F-EC72-4887-B184-DCF89BEE2FCE}" presName="extraNode" presStyleLbl="node1" presStyleIdx="0" presStyleCnt="3"/>
      <dgm:spPr/>
    </dgm:pt>
    <dgm:pt modelId="{FA2C3F46-A5D4-4297-9EFF-90EBAA3AF140}" type="pres">
      <dgm:prSet presAssocID="{FB00892F-EC72-4887-B184-DCF89BEE2FCE}" presName="dstNode" presStyleLbl="node1" presStyleIdx="0" presStyleCnt="3"/>
      <dgm:spPr/>
    </dgm:pt>
    <dgm:pt modelId="{67433B04-4786-459B-987D-AC1760F0DCB1}" type="pres">
      <dgm:prSet presAssocID="{293C9B94-AE7A-4C44-9DA1-0FA8F0EFEC9B}" presName="text_1" presStyleLbl="node1" presStyleIdx="0" presStyleCnt="3">
        <dgm:presLayoutVars>
          <dgm:bulletEnabled val="1"/>
        </dgm:presLayoutVars>
      </dgm:prSet>
      <dgm:spPr/>
    </dgm:pt>
    <dgm:pt modelId="{F865064F-E3E0-443A-ACB6-8A264D00ACE0}" type="pres">
      <dgm:prSet presAssocID="{293C9B94-AE7A-4C44-9DA1-0FA8F0EFEC9B}" presName="accent_1" presStyleCnt="0"/>
      <dgm:spPr/>
    </dgm:pt>
    <dgm:pt modelId="{04E8B14C-EAA3-4C36-8201-1F419CF99CC7}" type="pres">
      <dgm:prSet presAssocID="{293C9B94-AE7A-4C44-9DA1-0FA8F0EFEC9B}" presName="accentRepeatNode" presStyleLbl="solidFgAcc1" presStyleIdx="0" presStyleCnt="3" custLinFactNeighborX="1349" custLinFactNeighborY="-4864"/>
      <dgm:spPr>
        <a:solidFill>
          <a:schemeClr val="accent2">
            <a:lumMod val="60000"/>
            <a:lumOff val="40000"/>
          </a:schemeClr>
        </a:solidFill>
      </dgm:spPr>
    </dgm:pt>
    <dgm:pt modelId="{9B5B1D60-5B76-448C-A339-A15724883A3D}" type="pres">
      <dgm:prSet presAssocID="{684AB86D-E05C-4592-B577-034037ABE6C8}" presName="text_2" presStyleLbl="node1" presStyleIdx="1" presStyleCnt="3">
        <dgm:presLayoutVars>
          <dgm:bulletEnabled val="1"/>
        </dgm:presLayoutVars>
      </dgm:prSet>
      <dgm:spPr/>
    </dgm:pt>
    <dgm:pt modelId="{F8B51FAE-E5F2-413A-8CB1-2497756A288B}" type="pres">
      <dgm:prSet presAssocID="{684AB86D-E05C-4592-B577-034037ABE6C8}" presName="accent_2" presStyleCnt="0"/>
      <dgm:spPr/>
    </dgm:pt>
    <dgm:pt modelId="{0ABF96A3-0D38-4C1C-AFC9-E758ED14F11B}" type="pres">
      <dgm:prSet presAssocID="{684AB86D-E05C-4592-B577-034037ABE6C8}" presName="accentRepeatNode" presStyleLbl="solidFgAcc1" presStyleIdx="1" presStyleCnt="3"/>
      <dgm:spPr/>
    </dgm:pt>
    <dgm:pt modelId="{2E430331-DC28-499D-83E5-1300A2C532AF}" type="pres">
      <dgm:prSet presAssocID="{B3E38AEE-62B2-48FD-9840-B7F603186F6A}" presName="text_3" presStyleLbl="node1" presStyleIdx="2" presStyleCnt="3">
        <dgm:presLayoutVars>
          <dgm:bulletEnabled val="1"/>
        </dgm:presLayoutVars>
      </dgm:prSet>
      <dgm:spPr/>
    </dgm:pt>
    <dgm:pt modelId="{D8CC217A-6396-4FEB-B42A-D38CE63126AE}" type="pres">
      <dgm:prSet presAssocID="{B3E38AEE-62B2-48FD-9840-B7F603186F6A}" presName="accent_3" presStyleCnt="0"/>
      <dgm:spPr/>
    </dgm:pt>
    <dgm:pt modelId="{15134819-E5DC-4315-9BA6-88888D7D8EED}" type="pres">
      <dgm:prSet presAssocID="{B3E38AEE-62B2-48FD-9840-B7F603186F6A}" presName="accentRepeatNode" presStyleLbl="solidFgAcc1" presStyleIdx="2" presStyleCnt="3"/>
      <dgm:spPr>
        <a:solidFill>
          <a:srgbClr val="1870B8"/>
        </a:solidFill>
      </dgm:spPr>
    </dgm:pt>
  </dgm:ptLst>
  <dgm:cxnLst>
    <dgm:cxn modelId="{3325DC15-C3DA-406F-917D-EC25CB37C76D}" type="presOf" srcId="{6396FD51-C364-438F-B570-77A20A072E72}" destId="{A7BDD032-8F54-4940-8261-D9979C63CF27}" srcOrd="0" destOrd="0" presId="urn:microsoft.com/office/officeart/2008/layout/VerticalCurvedList"/>
    <dgm:cxn modelId="{38E5BB22-70E2-4C6D-BB54-F14FDDE9EBBA}" type="presOf" srcId="{FB00892F-EC72-4887-B184-DCF89BEE2FCE}" destId="{683F5F6A-EA1B-43B0-A55E-E2769BAC4123}" srcOrd="0" destOrd="0" presId="urn:microsoft.com/office/officeart/2008/layout/VerticalCurvedList"/>
    <dgm:cxn modelId="{97132041-2C8F-4614-8EC5-8084A6B79E72}" srcId="{FB00892F-EC72-4887-B184-DCF89BEE2FCE}" destId="{293C9B94-AE7A-4C44-9DA1-0FA8F0EFEC9B}" srcOrd="0" destOrd="0" parTransId="{95814C47-CB11-40AC-91EC-4025475C2C9C}" sibTransId="{6396FD51-C364-438F-B570-77A20A072E72}"/>
    <dgm:cxn modelId="{FB26E26B-E7C1-4D73-A2FE-09EA7B53F9BC}" srcId="{FB00892F-EC72-4887-B184-DCF89BEE2FCE}" destId="{684AB86D-E05C-4592-B577-034037ABE6C8}" srcOrd="1" destOrd="0" parTransId="{EB9DE8AF-3BD1-4E1F-9D19-22DFB90520A3}" sibTransId="{B83FADFB-494E-42E7-B6B5-4D7CD652890F}"/>
    <dgm:cxn modelId="{DDF77A88-E25A-4A55-BB7C-3416070AFD19}" type="presOf" srcId="{293C9B94-AE7A-4C44-9DA1-0FA8F0EFEC9B}" destId="{67433B04-4786-459B-987D-AC1760F0DCB1}" srcOrd="0" destOrd="0" presId="urn:microsoft.com/office/officeart/2008/layout/VerticalCurvedList"/>
    <dgm:cxn modelId="{E74393B4-8D2A-4758-8978-663E74945B77}" type="presOf" srcId="{684AB86D-E05C-4592-B577-034037ABE6C8}" destId="{9B5B1D60-5B76-448C-A339-A15724883A3D}" srcOrd="0" destOrd="0" presId="urn:microsoft.com/office/officeart/2008/layout/VerticalCurvedList"/>
    <dgm:cxn modelId="{E70DA4DD-DF6C-4566-A130-E9181F2D9989}" type="presOf" srcId="{B3E38AEE-62B2-48FD-9840-B7F603186F6A}" destId="{2E430331-DC28-499D-83E5-1300A2C532AF}" srcOrd="0" destOrd="0" presId="urn:microsoft.com/office/officeart/2008/layout/VerticalCurvedList"/>
    <dgm:cxn modelId="{37DA70F5-F75C-476E-A916-BFAA635604F1}" srcId="{FB00892F-EC72-4887-B184-DCF89BEE2FCE}" destId="{B3E38AEE-62B2-48FD-9840-B7F603186F6A}" srcOrd="2" destOrd="0" parTransId="{7129A57F-9906-4F59-83FD-90EFEF168385}" sibTransId="{575F4433-1DF5-4EFE-BB51-1F9B5850D614}"/>
    <dgm:cxn modelId="{32C53818-76BD-48EE-8AC4-27C504B68E2E}" type="presParOf" srcId="{683F5F6A-EA1B-43B0-A55E-E2769BAC4123}" destId="{84910027-B218-4E01-933E-00FA7E18C6F0}" srcOrd="0" destOrd="0" presId="urn:microsoft.com/office/officeart/2008/layout/VerticalCurvedList"/>
    <dgm:cxn modelId="{A57266AF-D89A-4224-9D05-3A80A403C065}" type="presParOf" srcId="{84910027-B218-4E01-933E-00FA7E18C6F0}" destId="{8FC490E7-1FD9-4EE0-B4DB-9E56D0ABF072}" srcOrd="0" destOrd="0" presId="urn:microsoft.com/office/officeart/2008/layout/VerticalCurvedList"/>
    <dgm:cxn modelId="{3BBAFFB8-4ABD-45B3-A4DD-5361134BDFA3}" type="presParOf" srcId="{8FC490E7-1FD9-4EE0-B4DB-9E56D0ABF072}" destId="{B818F943-8162-48F1-BBC1-0216AEC71003}" srcOrd="0" destOrd="0" presId="urn:microsoft.com/office/officeart/2008/layout/VerticalCurvedList"/>
    <dgm:cxn modelId="{559FC1CC-AEC9-4C6B-8D02-0DF78289A516}" type="presParOf" srcId="{8FC490E7-1FD9-4EE0-B4DB-9E56D0ABF072}" destId="{A7BDD032-8F54-4940-8261-D9979C63CF27}" srcOrd="1" destOrd="0" presId="urn:microsoft.com/office/officeart/2008/layout/VerticalCurvedList"/>
    <dgm:cxn modelId="{30C5F15A-5A2A-4964-819B-4D96E948E2AB}" type="presParOf" srcId="{8FC490E7-1FD9-4EE0-B4DB-9E56D0ABF072}" destId="{D81B4D94-0910-4BBD-B239-AA7D2C96A780}" srcOrd="2" destOrd="0" presId="urn:microsoft.com/office/officeart/2008/layout/VerticalCurvedList"/>
    <dgm:cxn modelId="{9DBBB8DB-9710-4919-9115-B0F761D52B20}" type="presParOf" srcId="{8FC490E7-1FD9-4EE0-B4DB-9E56D0ABF072}" destId="{FA2C3F46-A5D4-4297-9EFF-90EBAA3AF140}" srcOrd="3" destOrd="0" presId="urn:microsoft.com/office/officeart/2008/layout/VerticalCurvedList"/>
    <dgm:cxn modelId="{D8D7BE9B-0DDD-437E-BDFC-F3FCEBFBF38A}" type="presParOf" srcId="{84910027-B218-4E01-933E-00FA7E18C6F0}" destId="{67433B04-4786-459B-987D-AC1760F0DCB1}" srcOrd="1" destOrd="0" presId="urn:microsoft.com/office/officeart/2008/layout/VerticalCurvedList"/>
    <dgm:cxn modelId="{B1A9DA69-A380-4A72-BAA9-FB8FAD75437C}" type="presParOf" srcId="{84910027-B218-4E01-933E-00FA7E18C6F0}" destId="{F865064F-E3E0-443A-ACB6-8A264D00ACE0}" srcOrd="2" destOrd="0" presId="urn:microsoft.com/office/officeart/2008/layout/VerticalCurvedList"/>
    <dgm:cxn modelId="{36A44595-4E3F-42AA-A289-26CA4D8074EE}" type="presParOf" srcId="{F865064F-E3E0-443A-ACB6-8A264D00ACE0}" destId="{04E8B14C-EAA3-4C36-8201-1F419CF99CC7}" srcOrd="0" destOrd="0" presId="urn:microsoft.com/office/officeart/2008/layout/VerticalCurvedList"/>
    <dgm:cxn modelId="{58245C24-B6BC-4644-9758-FF1CDBDE4A7E}" type="presParOf" srcId="{84910027-B218-4E01-933E-00FA7E18C6F0}" destId="{9B5B1D60-5B76-448C-A339-A15724883A3D}" srcOrd="3" destOrd="0" presId="urn:microsoft.com/office/officeart/2008/layout/VerticalCurvedList"/>
    <dgm:cxn modelId="{0EE4BB47-F43D-42B8-89F1-99911632C551}" type="presParOf" srcId="{84910027-B218-4E01-933E-00FA7E18C6F0}" destId="{F8B51FAE-E5F2-413A-8CB1-2497756A288B}" srcOrd="4" destOrd="0" presId="urn:microsoft.com/office/officeart/2008/layout/VerticalCurvedList"/>
    <dgm:cxn modelId="{53B5DFA7-4828-4F52-8CD3-9B40E73D5DBD}" type="presParOf" srcId="{F8B51FAE-E5F2-413A-8CB1-2497756A288B}" destId="{0ABF96A3-0D38-4C1C-AFC9-E758ED14F11B}" srcOrd="0" destOrd="0" presId="urn:microsoft.com/office/officeart/2008/layout/VerticalCurvedList"/>
    <dgm:cxn modelId="{B279E39B-923F-49AD-9983-2C6C25787ED8}" type="presParOf" srcId="{84910027-B218-4E01-933E-00FA7E18C6F0}" destId="{2E430331-DC28-499D-83E5-1300A2C532AF}" srcOrd="5" destOrd="0" presId="urn:microsoft.com/office/officeart/2008/layout/VerticalCurvedList"/>
    <dgm:cxn modelId="{205E27C6-E88E-460A-BCBA-311781844CEE}" type="presParOf" srcId="{84910027-B218-4E01-933E-00FA7E18C6F0}" destId="{D8CC217A-6396-4FEB-B42A-D38CE63126AE}" srcOrd="6" destOrd="0" presId="urn:microsoft.com/office/officeart/2008/layout/VerticalCurvedList"/>
    <dgm:cxn modelId="{12965689-3501-4F07-A0F6-A9B37E84822D}" type="presParOf" srcId="{D8CC217A-6396-4FEB-B42A-D38CE63126AE}" destId="{15134819-E5DC-4315-9BA6-88888D7D8E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4919115" y="-753783"/>
          <a:ext cx="5858631" cy="5858631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604252" y="435106"/>
          <a:ext cx="7472758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07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Sistema de Registro Civil Digital – Búsqueda de Actas de Nacimiento</a:t>
          </a:r>
          <a:endParaRPr lang="es-PE" sz="2800" b="1" dirty="0"/>
        </a:p>
      </dsp:txBody>
      <dsp:txXfrm>
        <a:off x="604252" y="435106"/>
        <a:ext cx="7472758" cy="870213"/>
      </dsp:txXfrm>
    </dsp:sp>
    <dsp:sp modelId="{04E8B14C-EAA3-4C36-8201-1F419CF99CC7}">
      <dsp:nvSpPr>
        <dsp:cNvPr id="0" name=""/>
        <dsp:cNvSpPr/>
      </dsp:nvSpPr>
      <dsp:spPr>
        <a:xfrm>
          <a:off x="75042" y="273420"/>
          <a:ext cx="1087766" cy="1087766"/>
        </a:xfrm>
        <a:prstGeom prst="ellipse">
          <a:avLst/>
        </a:prstGeom>
        <a:solidFill>
          <a:srgbClr val="1870B8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B1D60-5B76-448C-A339-A15724883A3D}">
      <dsp:nvSpPr>
        <dsp:cNvPr id="0" name=""/>
        <dsp:cNvSpPr/>
      </dsp:nvSpPr>
      <dsp:spPr>
        <a:xfrm>
          <a:off x="920574" y="1740426"/>
          <a:ext cx="7156436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Historial de Navegación Inteligente + Sistema Bancario de Alto Volumen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920574" y="1740426"/>
        <a:ext cx="7156436" cy="870213"/>
      </dsp:txXfrm>
    </dsp:sp>
    <dsp:sp modelId="{0ABF96A3-0D38-4C1C-AFC9-E758ED14F11B}">
      <dsp:nvSpPr>
        <dsp:cNvPr id="0" name=""/>
        <dsp:cNvSpPr/>
      </dsp:nvSpPr>
      <dsp:spPr>
        <a:xfrm>
          <a:off x="376691" y="1631649"/>
          <a:ext cx="1087766" cy="108776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30331-DC28-499D-83E5-1300A2C532AF}">
      <dsp:nvSpPr>
        <dsp:cNvPr id="0" name=""/>
        <dsp:cNvSpPr/>
      </dsp:nvSpPr>
      <dsp:spPr>
        <a:xfrm>
          <a:off x="604252" y="3045745"/>
          <a:ext cx="7472758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Motor de Búsqueda Nacional de Identidad (DNI + Nombres)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604252" y="3045745"/>
        <a:ext cx="7472758" cy="870213"/>
      </dsp:txXfrm>
    </dsp:sp>
    <dsp:sp modelId="{15134819-E5DC-4315-9BA6-88888D7D8EED}">
      <dsp:nvSpPr>
        <dsp:cNvPr id="0" name=""/>
        <dsp:cNvSpPr/>
      </dsp:nvSpPr>
      <dsp:spPr>
        <a:xfrm>
          <a:off x="60368" y="2936968"/>
          <a:ext cx="1087766" cy="108776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4919115" y="-753783"/>
          <a:ext cx="5858631" cy="5858631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604252" y="435106"/>
          <a:ext cx="7472758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07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Sistema de Registro Civil Digital – Búsqueda de Actas de Nacimiento</a:t>
          </a:r>
          <a:endParaRPr lang="es-PE" sz="2800" b="1" dirty="0"/>
        </a:p>
      </dsp:txBody>
      <dsp:txXfrm>
        <a:off x="604252" y="435106"/>
        <a:ext cx="7472758" cy="870213"/>
      </dsp:txXfrm>
    </dsp:sp>
    <dsp:sp modelId="{04E8B14C-EAA3-4C36-8201-1F419CF99CC7}">
      <dsp:nvSpPr>
        <dsp:cNvPr id="0" name=""/>
        <dsp:cNvSpPr/>
      </dsp:nvSpPr>
      <dsp:spPr>
        <a:xfrm>
          <a:off x="75042" y="273420"/>
          <a:ext cx="1087766" cy="1087766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B1D60-5B76-448C-A339-A15724883A3D}">
      <dsp:nvSpPr>
        <dsp:cNvPr id="0" name=""/>
        <dsp:cNvSpPr/>
      </dsp:nvSpPr>
      <dsp:spPr>
        <a:xfrm>
          <a:off x="920574" y="1740426"/>
          <a:ext cx="7156436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Historial de Navegación Inteligente + Sistema Bancario de Alto Volumen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920574" y="1740426"/>
        <a:ext cx="7156436" cy="870213"/>
      </dsp:txXfrm>
    </dsp:sp>
    <dsp:sp modelId="{0ABF96A3-0D38-4C1C-AFC9-E758ED14F11B}">
      <dsp:nvSpPr>
        <dsp:cNvPr id="0" name=""/>
        <dsp:cNvSpPr/>
      </dsp:nvSpPr>
      <dsp:spPr>
        <a:xfrm>
          <a:off x="376691" y="1631649"/>
          <a:ext cx="1087766" cy="1087766"/>
        </a:xfrm>
        <a:prstGeom prst="ellipse">
          <a:avLst/>
        </a:prstGeom>
        <a:solidFill>
          <a:srgbClr val="1870B8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30331-DC28-499D-83E5-1300A2C532AF}">
      <dsp:nvSpPr>
        <dsp:cNvPr id="0" name=""/>
        <dsp:cNvSpPr/>
      </dsp:nvSpPr>
      <dsp:spPr>
        <a:xfrm>
          <a:off x="604252" y="3045745"/>
          <a:ext cx="7472758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Motor de Búsqueda Nacional de Identidad (DNI + Nombres)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604252" y="3045745"/>
        <a:ext cx="7472758" cy="870213"/>
      </dsp:txXfrm>
    </dsp:sp>
    <dsp:sp modelId="{15134819-E5DC-4315-9BA6-88888D7D8EED}">
      <dsp:nvSpPr>
        <dsp:cNvPr id="0" name=""/>
        <dsp:cNvSpPr/>
      </dsp:nvSpPr>
      <dsp:spPr>
        <a:xfrm>
          <a:off x="60368" y="2936968"/>
          <a:ext cx="1087766" cy="108776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DD032-8F54-4940-8261-D9979C63CF27}">
      <dsp:nvSpPr>
        <dsp:cNvPr id="0" name=""/>
        <dsp:cNvSpPr/>
      </dsp:nvSpPr>
      <dsp:spPr>
        <a:xfrm>
          <a:off x="-4919115" y="-753783"/>
          <a:ext cx="5858631" cy="5858631"/>
        </a:xfrm>
        <a:prstGeom prst="blockArc">
          <a:avLst>
            <a:gd name="adj1" fmla="val 18900000"/>
            <a:gd name="adj2" fmla="val 2700000"/>
            <a:gd name="adj3" fmla="val 369"/>
          </a:avLst>
        </a:prstGeom>
        <a:noFill/>
        <a:ln w="63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433B04-4786-459B-987D-AC1760F0DCB1}">
      <dsp:nvSpPr>
        <dsp:cNvPr id="0" name=""/>
        <dsp:cNvSpPr/>
      </dsp:nvSpPr>
      <dsp:spPr>
        <a:xfrm>
          <a:off x="604252" y="435106"/>
          <a:ext cx="7472758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0732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Sistema de Registro Civil Digital – Búsqueda de Actas de Nacimiento</a:t>
          </a:r>
          <a:endParaRPr lang="es-PE" sz="2800" b="1" dirty="0"/>
        </a:p>
      </dsp:txBody>
      <dsp:txXfrm>
        <a:off x="604252" y="435106"/>
        <a:ext cx="7472758" cy="870213"/>
      </dsp:txXfrm>
    </dsp:sp>
    <dsp:sp modelId="{04E8B14C-EAA3-4C36-8201-1F419CF99CC7}">
      <dsp:nvSpPr>
        <dsp:cNvPr id="0" name=""/>
        <dsp:cNvSpPr/>
      </dsp:nvSpPr>
      <dsp:spPr>
        <a:xfrm>
          <a:off x="75042" y="273420"/>
          <a:ext cx="1087766" cy="1087766"/>
        </a:xfrm>
        <a:prstGeom prst="ellipse">
          <a:avLst/>
        </a:prstGeom>
        <a:solidFill>
          <a:schemeClr val="accent2">
            <a:lumMod val="60000"/>
            <a:lumOff val="4000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B1D60-5B76-448C-A339-A15724883A3D}">
      <dsp:nvSpPr>
        <dsp:cNvPr id="0" name=""/>
        <dsp:cNvSpPr/>
      </dsp:nvSpPr>
      <dsp:spPr>
        <a:xfrm>
          <a:off x="920574" y="1740426"/>
          <a:ext cx="7156436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Historial de Navegación Inteligente + Sistema Bancario de Alto Volumen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920574" y="1740426"/>
        <a:ext cx="7156436" cy="870213"/>
      </dsp:txXfrm>
    </dsp:sp>
    <dsp:sp modelId="{0ABF96A3-0D38-4C1C-AFC9-E758ED14F11B}">
      <dsp:nvSpPr>
        <dsp:cNvPr id="0" name=""/>
        <dsp:cNvSpPr/>
      </dsp:nvSpPr>
      <dsp:spPr>
        <a:xfrm>
          <a:off x="376691" y="1631649"/>
          <a:ext cx="1087766" cy="1087766"/>
        </a:xfrm>
        <a:prstGeom prst="ellipse">
          <a:avLst/>
        </a:prstGeom>
        <a:solidFill>
          <a:schemeClr val="l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430331-DC28-499D-83E5-1300A2C532AF}">
      <dsp:nvSpPr>
        <dsp:cNvPr id="0" name=""/>
        <dsp:cNvSpPr/>
      </dsp:nvSpPr>
      <dsp:spPr>
        <a:xfrm>
          <a:off x="604252" y="3045745"/>
          <a:ext cx="7472758" cy="870213"/>
        </a:xfrm>
        <a:prstGeom prst="rect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1311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b="1" kern="1200" dirty="0"/>
            <a:t>Motor de Búsqueda Nacional de Identidad (DNI + Nombres)</a:t>
          </a:r>
          <a:endParaRPr lang="es-PE" sz="2800" b="1" kern="1200" dirty="0">
            <a:solidFill>
              <a:prstClr val="white"/>
            </a:solidFill>
            <a:latin typeface="Calibri" panose="020F0502020204030204"/>
            <a:ea typeface="+mn-ea"/>
            <a:cs typeface="+mn-cs"/>
          </a:endParaRPr>
        </a:p>
      </dsp:txBody>
      <dsp:txXfrm>
        <a:off x="604252" y="3045745"/>
        <a:ext cx="7472758" cy="870213"/>
      </dsp:txXfrm>
    </dsp:sp>
    <dsp:sp modelId="{15134819-E5DC-4315-9BA6-88888D7D8EED}">
      <dsp:nvSpPr>
        <dsp:cNvPr id="0" name=""/>
        <dsp:cNvSpPr/>
      </dsp:nvSpPr>
      <dsp:spPr>
        <a:xfrm>
          <a:off x="60368" y="2936968"/>
          <a:ext cx="1087766" cy="1087766"/>
        </a:xfrm>
        <a:prstGeom prst="ellipse">
          <a:avLst/>
        </a:prstGeom>
        <a:solidFill>
          <a:srgbClr val="1870B8"/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BFC05C-7FB1-4DB3-9A26-27C8341203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1283D-6FFD-4DB8-B74E-0E5A9527B2B7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2FF3077-1BFD-4BBD-BCC1-6FF47860DE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4D494E-142D-4F5B-9FD1-199FE96812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5B9A8-2A88-40BA-B09B-952A6212BB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3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ED00D-1F11-4750-9501-AA02EC4A30E8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15F3A-9D15-40F3-91F0-77D668E033B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0603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15F3A-9D15-40F3-91F0-77D668E033B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518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/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22 CuadroTexto"/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5" name="Rectángulo 4"/>
          <p:cNvSpPr/>
          <p:nvPr userDrawn="1"/>
        </p:nvSpPr>
        <p:spPr>
          <a:xfrm>
            <a:off x="0" y="-20429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Conector recto 3"/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DF191AB1-742A-4B48-9639-86765F9ADEB9}"/>
              </a:ext>
            </a:extLst>
          </p:cNvPr>
          <p:cNvSpPr/>
          <p:nvPr userDrawn="1"/>
        </p:nvSpPr>
        <p:spPr>
          <a:xfrm>
            <a:off x="191345" y="-27384"/>
            <a:ext cx="312497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11737304" cy="5935236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945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16005EB4-4CFC-4CA4-9E1A-B3A9D5ED8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1484783"/>
            <a:ext cx="11737304" cy="4927145"/>
          </a:xfrm>
        </p:spPr>
        <p:txBody>
          <a:bodyPr>
            <a:normAutofit/>
          </a:bodyPr>
          <a:lstStyle>
            <a:lvl1pPr algn="just">
              <a:defRPr sz="40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E88249-FAC1-F793-294C-A6204613077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B618BD20-2A9C-A379-5033-764E3EDB17C4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5EA05CA-C096-E167-847E-A157DA0B5022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4E76DE3-C981-7120-3839-0F6F689AFEAF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67A3F5F-406B-C80C-8896-4C4E596D3F03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55871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E599958-77EC-8FD0-B58B-D4DFD7E03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2088" y="404813"/>
            <a:ext cx="11664950" cy="936625"/>
          </a:xfrm>
        </p:spPr>
        <p:txBody>
          <a:bodyPr/>
          <a:lstStyle>
            <a:lvl1pPr marL="0" indent="0" algn="ctr">
              <a:buNone/>
              <a:defRPr sz="4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 err="1"/>
              <a:t>iugiugig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71425F-A867-AF17-2D64-DCA054895744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7505CD50-733A-F8D8-A27D-F66877CB8A1E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483AEA-AAA7-8246-5BA2-361BE08B33CA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84AD829-7E18-155C-48B5-C575F83A9C8E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FD83BD-125E-A628-D62F-4CE1D9702461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215174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3352" y="476674"/>
            <a:ext cx="11665296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B078B0-B0EF-BA76-1A1D-162FFE83B5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79EF9C4-57DA-C53F-3623-E954C2A0A3A5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F36BE9B-C4C2-712E-74B7-C6844DD96B8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B463A90-503C-3E8C-2F63-AA4FAF145E9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06898B9-A255-9E77-2DA0-7B2539DDD1B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2862000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079776" y="476674"/>
            <a:ext cx="7848872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345" y="476693"/>
            <a:ext cx="3672407" cy="5935236"/>
          </a:xfrm>
        </p:spPr>
        <p:txBody>
          <a:bodyPr>
            <a:normAutofit/>
          </a:bodyPr>
          <a:lstStyle>
            <a:lvl1pPr algn="ctr">
              <a:defRPr sz="54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89A9F51-B81B-6BDF-C826-10E74ED4EFC2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0D2D8424-B2BB-6FD7-B101-AEBDF84D367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C3F6B8C-93A4-89CC-C474-7F6DA8815BA7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B76D0AD-4407-2B39-D3F1-B89EA242D200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1FA6B4-705E-6379-992D-C70EC3C235D5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133149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76674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2900B11-889C-F9B2-F437-7B5DB7F8F62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22 CuadroTexto">
            <a:extLst>
              <a:ext uri="{FF2B5EF4-FFF2-40B4-BE49-F238E27FC236}">
                <a16:creationId xmlns:a16="http://schemas.microsoft.com/office/drawing/2014/main" id="{32BE393F-F13C-F6CE-AC5B-13F72CF728EB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1C0FF0-11D8-2FBA-C27F-8C4023494F1C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E2691DD-F508-2CE1-ADBD-D3EE27956B59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C16BF3D-39DE-B045-6F3B-FDFD8F55B89C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65958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posición de imagen 4">
            <a:extLst>
              <a:ext uri="{FF2B5EF4-FFF2-40B4-BE49-F238E27FC236}">
                <a16:creationId xmlns:a16="http://schemas.microsoft.com/office/drawing/2014/main" id="{93DC6023-926A-41A9-BE31-2B75A253D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12024" y="461371"/>
            <a:ext cx="5616624" cy="5935258"/>
          </a:xfrm>
        </p:spPr>
        <p:txBody>
          <a:bodyPr/>
          <a:lstStyle/>
          <a:p>
            <a:endParaRPr lang="es-PE" dirty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9ECB89A-F90A-7049-4003-5447843DA8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328" y="461371"/>
            <a:ext cx="6193135" cy="5958479"/>
          </a:xfrm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6A4EBA-2F75-9354-91CF-D9BF675AFDE1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A9C14589-8787-F52B-CEB2-5B0464BEF8D3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CB4509-BD26-A3A2-2016-9C34266E7DF3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5D3FF50-9AA7-C444-A1E0-7AD68ED81E5D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936806-FC56-E02F-F196-1AFF5BC806AD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7619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6AB101B-0D92-78D9-5F7F-0DE9FF481A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336" y="476674"/>
            <a:ext cx="5544616" cy="5935258"/>
          </a:xfrm>
        </p:spPr>
        <p:txBody>
          <a:bodyPr>
            <a:normAutofit/>
          </a:bodyPr>
          <a:lstStyle>
            <a:lvl1pPr algn="ctr">
              <a:defRPr sz="2800" b="1" i="1"/>
            </a:lvl1pPr>
          </a:lstStyle>
          <a:p>
            <a:r>
              <a:rPr lang="en-US" dirty="0" err="1"/>
              <a:t>wwssw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84D2C88-B4F3-2DCA-41EE-00CFC66AA5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5638" y="476250"/>
            <a:ext cx="6264275" cy="5905500"/>
          </a:xfrm>
        </p:spPr>
        <p:txBody>
          <a:bodyPr/>
          <a:lstStyle>
            <a:lvl1pPr marL="0" indent="0" algn="ctr">
              <a:buNone/>
              <a:defRPr sz="2400" b="1" i="1"/>
            </a:lvl1pPr>
          </a:lstStyle>
          <a:p>
            <a:pPr lvl="0"/>
            <a:r>
              <a:rPr lang="en-US" dirty="0" err="1"/>
              <a:t>jjjj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C61B157-BE4F-47CA-4593-BA73554D5B58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22 CuadroTexto">
            <a:extLst>
              <a:ext uri="{FF2B5EF4-FFF2-40B4-BE49-F238E27FC236}">
                <a16:creationId xmlns:a16="http://schemas.microsoft.com/office/drawing/2014/main" id="{8779E56E-1AE1-C3B0-20BC-B47FBED9EF2C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9220E71-0B04-8BA3-60D0-14FFA83491FB}"/>
              </a:ext>
            </a:extLst>
          </p:cNvPr>
          <p:cNvSpPr/>
          <p:nvPr userDrawn="1"/>
        </p:nvSpPr>
        <p:spPr>
          <a:xfrm>
            <a:off x="0" y="0"/>
            <a:ext cx="1219200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4FE814B-D371-9DA0-558B-0EFF6BED8CA1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537FD0D-4959-2997-CED0-BD999A00CEF6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4103920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93600E9-D280-3B9C-436C-E324378200DE}"/>
              </a:ext>
            </a:extLst>
          </p:cNvPr>
          <p:cNvSpPr/>
          <p:nvPr userDrawn="1"/>
        </p:nvSpPr>
        <p:spPr>
          <a:xfrm>
            <a:off x="0" y="6453336"/>
            <a:ext cx="12192000" cy="404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22 CuadroTexto">
            <a:extLst>
              <a:ext uri="{FF2B5EF4-FFF2-40B4-BE49-F238E27FC236}">
                <a16:creationId xmlns:a16="http://schemas.microsoft.com/office/drawing/2014/main" id="{D855B747-FBB3-0F09-7C67-9EF29D6D1CB7}"/>
              </a:ext>
            </a:extLst>
          </p:cNvPr>
          <p:cNvSpPr txBox="1"/>
          <p:nvPr userDrawn="1"/>
        </p:nvSpPr>
        <p:spPr>
          <a:xfrm>
            <a:off x="9480376" y="6539595"/>
            <a:ext cx="2448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12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7795D9F-74AE-10B7-6447-D2100064B169}"/>
              </a:ext>
            </a:extLst>
          </p:cNvPr>
          <p:cNvSpPr/>
          <p:nvPr userDrawn="1"/>
        </p:nvSpPr>
        <p:spPr>
          <a:xfrm>
            <a:off x="0" y="-20429"/>
            <a:ext cx="12167320" cy="332656"/>
          </a:xfrm>
          <a:prstGeom prst="rect">
            <a:avLst/>
          </a:prstGeom>
          <a:solidFill>
            <a:srgbClr val="1870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B722F68-CE3B-635E-64AB-7E1618740685}"/>
              </a:ext>
            </a:extLst>
          </p:cNvPr>
          <p:cNvCxnSpPr>
            <a:cxnSpLocks/>
          </p:cNvCxnSpPr>
          <p:nvPr userDrawn="1"/>
        </p:nvCxnSpPr>
        <p:spPr>
          <a:xfrm>
            <a:off x="0" y="332656"/>
            <a:ext cx="12192000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1CE3E72E-ECA6-BB4C-1A9C-6D4E34D6D438}"/>
              </a:ext>
            </a:extLst>
          </p:cNvPr>
          <p:cNvSpPr/>
          <p:nvPr userDrawn="1"/>
        </p:nvSpPr>
        <p:spPr>
          <a:xfrm>
            <a:off x="191344" y="-7989"/>
            <a:ext cx="2664295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C" sz="1400" b="1" dirty="0">
                <a:solidFill>
                  <a:schemeClr val="bg2"/>
                </a:solidFill>
                <a:latin typeface="Arena Condensed" pitchFamily="34" charset="0"/>
              </a:rPr>
              <a:t>Organización de Archivos</a:t>
            </a:r>
          </a:p>
        </p:txBody>
      </p:sp>
    </p:spTree>
    <p:extLst>
      <p:ext uri="{BB962C8B-B14F-4D97-AF65-F5344CB8AC3E}">
        <p14:creationId xmlns:p14="http://schemas.microsoft.com/office/powerpoint/2010/main" val="381271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52000">
              <a:schemeClr val="accent2">
                <a:lumMod val="20000"/>
                <a:lumOff val="80000"/>
              </a:schemeClr>
            </a:gs>
            <a:gs pos="24000">
              <a:schemeClr val="accent2">
                <a:lumMod val="5000"/>
                <a:lumOff val="95000"/>
              </a:schemeClr>
            </a:gs>
            <a:gs pos="0">
              <a:schemeClr val="accent2">
                <a:lumMod val="60000"/>
                <a:lumOff val="40000"/>
              </a:schemeClr>
            </a:gs>
            <a:gs pos="100000">
              <a:schemeClr val="tx2">
                <a:lumMod val="40000"/>
                <a:lumOff val="60000"/>
              </a:schemeClr>
            </a:gs>
            <a:gs pos="8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FE3FC0F-0726-445E-AA72-37103EF5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9002F6-6079-4FAA-B87F-0BF17A5BC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AA2C94-0056-463B-957E-18A2CB9B3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95E7-59A2-42F0-822A-C2AD9061524C}" type="datetimeFigureOut">
              <a:rPr lang="es-PE" smtClean="0"/>
              <a:t>22/08/2026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A57603-A9F7-41F7-A33A-957864473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C24DDB-20DA-4806-9AC6-ECCDED9CA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5E646F-C49C-4EB9-B383-7962AB850F8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6875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7" r:id="rId2"/>
    <p:sldLayoutId id="2147483678" r:id="rId3"/>
    <p:sldLayoutId id="2147483673" r:id="rId4"/>
    <p:sldLayoutId id="2147483674" r:id="rId5"/>
    <p:sldLayoutId id="2147483675" r:id="rId6"/>
    <p:sldLayoutId id="2147483679" r:id="rId7"/>
    <p:sldLayoutId id="2147483676" r:id="rId8"/>
    <p:sldLayoutId id="2147483665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439816" y="4797152"/>
            <a:ext cx="4752527" cy="115212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PE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Profesor: Mg. Ing. Max Castro Rodriguez</a:t>
            </a: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s-PE" sz="13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3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Trujillo, Agosto de 2026</a:t>
            </a:r>
          </a:p>
          <a:p>
            <a:pPr algn="ctr"/>
            <a:endParaRPr lang="es-PE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EC" sz="1300" dirty="0">
              <a:solidFill>
                <a:schemeClr val="bg1">
                  <a:lumMod val="95000"/>
                  <a:lumOff val="5000"/>
                </a:schemeClr>
              </a:solidFill>
              <a:latin typeface="Arena Condensed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855640" y="3140968"/>
            <a:ext cx="7992888" cy="1264831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C" sz="4400" b="1" dirty="0">
                <a:solidFill>
                  <a:schemeClr val="bg2">
                    <a:lumMod val="10000"/>
                  </a:schemeClr>
                </a:solidFill>
                <a:latin typeface="Arena Condensed" pitchFamily="34" charset="0"/>
              </a:rPr>
              <a:t>Organización de Archivos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430653" y="1200837"/>
            <a:ext cx="88428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sz="4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2423592" y="1916832"/>
            <a:ext cx="884286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8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Facultad de Ciencias Físicas y Matemáticas</a:t>
            </a:r>
          </a:p>
          <a:p>
            <a:pPr algn="ctr"/>
            <a:r>
              <a:rPr lang="es-PE" sz="24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Escuela Profesional de Informática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D444FC-3B7B-468B-8356-824282DF3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413241"/>
            <a:ext cx="1530346" cy="136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38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7176120" y="188640"/>
            <a:ext cx="39421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comenzar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67408" y="1988840"/>
            <a:ext cx="10081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s-PE" dirty="0" err="1">
                <a:latin typeface="Arial" panose="020B0604020202020204" pitchFamily="34" charset="0"/>
                <a:cs typeface="Arial" panose="020B0604020202020204" pitchFamily="34" charset="0"/>
              </a:rPr>
              <a:t>stimado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 estudiante:</a:t>
            </a: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Importante revisar el sílabo en cuanto  a la unidad 1.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la sesión sincrónica; mantenga apagado su micrófono; levante la mano para participar.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Participar en los foros de socialización del sílabo.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dudas luego de la sesión sincrónica use el Foro de Consejería.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las clases de laboratorio debe organizarse para tener a la mano su laptop o PC, así podrá participar siguiendo las pautas y compartiendo pantalla.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Organice su tiempo para realizar todas las actividades formativas.</a:t>
            </a:r>
          </a:p>
          <a:p>
            <a:pPr marL="342900" indent="-342900">
              <a:buAutoNum type="alphaLcParenR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Recuerde que está integrado a un grupo conformado al azar.</a:t>
            </a:r>
          </a:p>
        </p:txBody>
      </p:sp>
    </p:spTree>
    <p:extLst>
      <p:ext uri="{BB962C8B-B14F-4D97-AF65-F5344CB8AC3E}">
        <p14:creationId xmlns:p14="http://schemas.microsoft.com/office/powerpoint/2010/main" val="2803850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FA695-1775-90CF-4D5E-611587DA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6F2E9D3C-E753-4CDA-B31A-F3F8ED7D9A71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4029202544"/>
              </p:ext>
            </p:extLst>
          </p:nvPr>
        </p:nvGraphicFramePr>
        <p:xfrm>
          <a:off x="2639616" y="1124744"/>
          <a:ext cx="8136731" cy="435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4482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DEEF7-66DC-9F1C-FA4C-7C0373A71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FC72BF2D-95C9-A959-3C7C-870678F4AF9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4875" r="-487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91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56A120-4D62-2A20-E368-280ECFE0D0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088" y="404813"/>
            <a:ext cx="11664950" cy="2088083"/>
          </a:xfrm>
        </p:spPr>
        <p:txBody>
          <a:bodyPr/>
          <a:lstStyle/>
          <a:p>
            <a:r>
              <a:rPr lang="es-ES" dirty="0"/>
              <a:t>PROYECTO UNIDAD I</a:t>
            </a:r>
          </a:p>
          <a:p>
            <a:r>
              <a:rPr lang="es-ES" dirty="0"/>
              <a:t>“Sistema de Registro Civil Digital – Búsqueda de Actas de Nacimiento”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E2DB012-5E47-D6A4-7370-932321F75AA2}"/>
              </a:ext>
            </a:extLst>
          </p:cNvPr>
          <p:cNvSpPr txBox="1"/>
          <p:nvPr/>
        </p:nvSpPr>
        <p:spPr>
          <a:xfrm>
            <a:off x="1127448" y="2492896"/>
            <a:ext cx="10369152" cy="351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Escenario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El Registro Civil de La Libertad tiene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2.5 millones de actas de nacimiento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b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Actualmente el sistema es secuencial y tarda varios segundos en encontrar un acta.</a:t>
            </a:r>
            <a:b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El gobierno regional les pide una solución que permita: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Buscar por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Número de Acta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 por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DNI del inscrito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Que la búsqueda sea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rápida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incluso con 2 millones de registros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Que soporte agregar nuevas actas sin reescribir todo el archivo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51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9EB5-1C1F-153F-C2FD-7AAAFE7B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128BA5-B6E6-F858-0764-4383F5337C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Qué deben CREAR los grupos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FECE8E2-7C11-FED2-081C-78A7CB298C7E}"/>
              </a:ext>
            </a:extLst>
          </p:cNvPr>
          <p:cNvSpPr txBox="1"/>
          <p:nvPr/>
        </p:nvSpPr>
        <p:spPr>
          <a:xfrm>
            <a:off x="695400" y="1341438"/>
            <a:ext cx="10441160" cy="4606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Diseño de la estructura de archivo (encabezado + registros de longitud fija o variable).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Mecanismo de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acceso directo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 indexación simple.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Operaciones: Insertar, Buscar, Modificar y Listar.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Prueba de rendimiento con al menos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100.000 registros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(simulados).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Informe técnico que responda: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¿Por qué elegimos esta organización de archivo?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¿Cuál es la complejidad de la búsqueda?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¿Qué pasaría si llegamos a 5 millones de registros?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17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9D3E4-869A-2707-C7EB-A028C4636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B6FDC0-7014-D1FF-F740-B42B24EB36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>
                <a:ea typeface="Times New Roman" panose="02020603050405020304" pitchFamily="18" charset="0"/>
                <a:cs typeface="Arial" panose="020B0604020202020204" pitchFamily="34" charset="0"/>
              </a:rPr>
              <a:t>Entregable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03F457-7BBF-4FB6-FEC2-DB9BA6028D13}"/>
              </a:ext>
            </a:extLst>
          </p:cNvPr>
          <p:cNvSpPr txBox="1"/>
          <p:nvPr/>
        </p:nvSpPr>
        <p:spPr>
          <a:xfrm>
            <a:off x="2207568" y="1739499"/>
            <a:ext cx="7992888" cy="3545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Informe de Investigación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Código funcional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Video de 3 minutos mostrando la búsqueda de un registro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Documento de diseño (máx. 4 páginas)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9B7C8E-8DD4-D222-19F8-CAF7E48F0BFB}"/>
              </a:ext>
            </a:extLst>
          </p:cNvPr>
          <p:cNvSpPr txBox="1"/>
          <p:nvPr/>
        </p:nvSpPr>
        <p:spPr>
          <a:xfrm>
            <a:off x="451901" y="5949280"/>
            <a:ext cx="11377662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“Si su solución es suficientemente rápida, podrían estar diseñando el sistema que usará el Registro Civil de todo el Perú.”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D127156-DD7F-224B-8DFE-4E78956F42E8}"/>
              </a:ext>
            </a:extLst>
          </p:cNvPr>
          <p:cNvSpPr txBox="1"/>
          <p:nvPr/>
        </p:nvSpPr>
        <p:spPr>
          <a:xfrm>
            <a:off x="8904312" y="1364204"/>
            <a:ext cx="3525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“Archivos Secuenciales y de Acceso Directo”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62561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4B02-4537-0ED7-C3B4-BB3C7C37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6697C1FE-71B8-076A-9497-C7020663B780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904592938"/>
              </p:ext>
            </p:extLst>
          </p:nvPr>
        </p:nvGraphicFramePr>
        <p:xfrm>
          <a:off x="2639616" y="1124744"/>
          <a:ext cx="8136731" cy="435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58545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E03B-F5D7-C0AF-757B-8453FFB9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4FD43745-AFCF-7A24-333B-35E7F870D43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3642" r="-3642"/>
          <a:stretch>
            <a:fillRect/>
          </a:stretch>
        </p:blipFill>
        <p:spPr>
          <a:xfrm>
            <a:off x="263525" y="461963"/>
            <a:ext cx="11664950" cy="593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8EF6D-4604-5D62-5EC5-FE0F2670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4AF185-31FA-BC52-634B-D0A1705533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088" y="404813"/>
            <a:ext cx="11664950" cy="2160091"/>
          </a:xfrm>
        </p:spPr>
        <p:txBody>
          <a:bodyPr/>
          <a:lstStyle/>
          <a:p>
            <a:r>
              <a:rPr lang="es-ES" dirty="0"/>
              <a:t>PROYECTO UNIDAD II</a:t>
            </a:r>
          </a:p>
          <a:p>
            <a:r>
              <a:rPr lang="es-ES" dirty="0"/>
              <a:t>“Historial de Navegación Inteligente + Sistema Bancario de Alto Volumen”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3521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EC02-264C-2D3A-675B-89E632B3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C20A2A-1F42-752F-1AC7-530898683C76}"/>
              </a:ext>
            </a:extLst>
          </p:cNvPr>
          <p:cNvSpPr txBox="1"/>
          <p:nvPr/>
        </p:nvSpPr>
        <p:spPr>
          <a:xfrm>
            <a:off x="166664" y="683729"/>
            <a:ext cx="12025336" cy="5490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Escenario dual (el grupo elige uno o combina ambos)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Opción A – Historial de Navegación (main07)</a:t>
            </a:r>
            <a:b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Una red social peruana tiene </a:t>
            </a: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8 millones de visitas diarias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b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Necesitan: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Mantener el historial ordenado por fecha (más reciente primero)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Poder navegar hacia adelante y atrás como un navegador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Eliminar visitas antiguas sin destruir la estructura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Opción B – Sistema de Cuentas Bancarias (main08 + main09)</a:t>
            </a:r>
            <a:b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 banco digital tiene </a:t>
            </a: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3.2 millones de cuentas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b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Requisitos: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Búsqueda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ultra-rápida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por número de cuenta y por DNI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Índice primario + índice secundario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Registro de movimientos (depósitos/retiros) enlazados a cada cuenta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Soporte de “borrado lógico” y reutilización de espacio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98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612AA-CD73-5D4C-3B2B-E233DF06B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13ACC57-B3FC-F07F-9BD8-C32A498545B7}"/>
              </a:ext>
            </a:extLst>
          </p:cNvPr>
          <p:cNvSpPr txBox="1"/>
          <p:nvPr/>
        </p:nvSpPr>
        <p:spPr>
          <a:xfrm>
            <a:off x="551384" y="548680"/>
            <a:ext cx="10657184" cy="5763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Qué deben CREAR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Diseño completo de: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Archivo de datos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Archivo de índices (o índices en memoria + persistencia)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Listas enlazadas (SR / AR) o índices dobles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Al menos </a:t>
            </a:r>
            <a:r>
              <a:rPr lang="es-E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dos formas de búsqueda</a:t>
            </a: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(por clave primaria y secundaria)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Operación de eliminación que no deje el archivo fragmentado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Prueba de rendimiento con ≥ 200.000 registros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Interfaz (consola avanzada o web simple) que permita: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Buscar una cuenta/visita en menos de 100 ms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s-E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Mostrar el “camino” que siguió el algoritmo (didáctico)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580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2EAB-F491-7D8B-7B4B-84DEF480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8C799F5-EAD4-696D-AB22-25B091E6E2DD}"/>
              </a:ext>
            </a:extLst>
          </p:cNvPr>
          <p:cNvSpPr txBox="1"/>
          <p:nvPr/>
        </p:nvSpPr>
        <p:spPr>
          <a:xfrm>
            <a:off x="983432" y="620688"/>
            <a:ext cx="6118058" cy="3048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Competencia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 medirá el </a:t>
            </a:r>
            <a:r>
              <a:rPr lang="es-E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tiempo real</a:t>
            </a: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 búsqueda de 10 claves aleatorias sobre un archivo de 500.000 registros.</a:t>
            </a:r>
            <a:endParaRPr lang="es-ES" sz="3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F04932-BE3F-FF70-2C21-3E5BEADB98A2}"/>
              </a:ext>
            </a:extLst>
          </p:cNvPr>
          <p:cNvSpPr txBox="1"/>
          <p:nvPr/>
        </p:nvSpPr>
        <p:spPr>
          <a:xfrm>
            <a:off x="335360" y="5445224"/>
            <a:ext cx="11856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es-E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Los bancos y las redes sociales pagan muy bien a quienes saben organizar millones de registros sin que el usuario note la demora. </a:t>
            </a:r>
          </a:p>
          <a:p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Este proyecto es su carta de presentación.”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140B34D-5113-8478-E1EA-52387618761C}"/>
              </a:ext>
            </a:extLst>
          </p:cNvPr>
          <p:cNvSpPr txBox="1"/>
          <p:nvPr/>
        </p:nvSpPr>
        <p:spPr>
          <a:xfrm>
            <a:off x="8544272" y="1556792"/>
            <a:ext cx="31683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“Listas Enlazadas + Índices”</a:t>
            </a:r>
            <a:br>
              <a:rPr lang="es-E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86911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7BF0B-E8D1-0D30-8691-21C12331E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056AEF-6D93-471A-02ED-AFA8C5FE5A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>
                <a:ea typeface="Times New Roman" panose="02020603050405020304" pitchFamily="18" charset="0"/>
                <a:cs typeface="Arial" panose="020B0604020202020204" pitchFamily="34" charset="0"/>
              </a:rPr>
              <a:t>Entregable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12BFF9A-32A4-CA4B-915D-A65CBD83BEE7}"/>
              </a:ext>
            </a:extLst>
          </p:cNvPr>
          <p:cNvSpPr txBox="1"/>
          <p:nvPr/>
        </p:nvSpPr>
        <p:spPr>
          <a:xfrm>
            <a:off x="2207568" y="1739499"/>
            <a:ext cx="7992888" cy="3545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Informe de Investigación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Código funcional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Video de 3 minutos mostrando la búsqueda de un registro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Documento de diseño (máx. 4 páginas)</a:t>
            </a:r>
            <a:endParaRPr lang="es-ES" sz="3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818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829F-2C76-3579-2E7B-73DFDE33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posición de imagen 3">
            <a:extLst>
              <a:ext uri="{FF2B5EF4-FFF2-40B4-BE49-F238E27FC236}">
                <a16:creationId xmlns:a16="http://schemas.microsoft.com/office/drawing/2014/main" id="{B50CED32-5E50-7332-13D4-B299D73F83F8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62210490"/>
              </p:ext>
            </p:extLst>
          </p:nvPr>
        </p:nvGraphicFramePr>
        <p:xfrm>
          <a:off x="2639616" y="1124744"/>
          <a:ext cx="8136731" cy="435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1904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F7782-B766-6155-284C-BCAB1E7A4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BFCC870F-6177-5D05-8433-39EE161D591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3842" r="-3842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5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12935-6F77-6207-8F7E-52CD90B36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9BBC6C-252F-FDD8-C15A-C1A3B12C23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1344" y="1916832"/>
            <a:ext cx="11664950" cy="2664147"/>
          </a:xfrm>
        </p:spPr>
        <p:txBody>
          <a:bodyPr/>
          <a:lstStyle/>
          <a:p>
            <a:r>
              <a:rPr lang="es-ES" dirty="0"/>
              <a:t>PROYECTO UNIDAD III</a:t>
            </a:r>
          </a:p>
          <a:p>
            <a:r>
              <a:rPr lang="es-ES" dirty="0"/>
              <a:t>“Motor de Búsqueda Nacional de Identidad (DNI + Nombres)”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53244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681B-8F95-433D-6EBD-1040B70B1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3BE82A3-A964-A80A-7B58-90A137DB2BA9}"/>
              </a:ext>
            </a:extLst>
          </p:cNvPr>
          <p:cNvSpPr txBox="1"/>
          <p:nvPr/>
        </p:nvSpPr>
        <p:spPr>
          <a:xfrm>
            <a:off x="767408" y="620689"/>
            <a:ext cx="10297144" cy="5245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Escenario</a:t>
            </a:r>
            <a:endParaRPr lang="es-E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RENIEC necesita un prototipo de motor de búsqueda que soporte:</a:t>
            </a:r>
            <a:endParaRPr lang="es-E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Búsqueda por DNI</a:t>
            </a:r>
            <a:r>
              <a:rPr lang="es-E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(exacta y extremadamente rápida)</a:t>
            </a:r>
            <a:endParaRPr lang="es-E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Búsqueda por Apellidos y Nombres</a:t>
            </a:r>
            <a:r>
              <a:rPr lang="es-E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(parcial o completa)</a:t>
            </a:r>
            <a:endParaRPr lang="es-E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Volumen: </a:t>
            </a:r>
            <a:r>
              <a:rPr lang="es-ES" sz="3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35 millones de ciudadanos</a:t>
            </a:r>
            <a:r>
              <a:rPr lang="es-E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(simular al menos 1 millón)</a:t>
            </a:r>
            <a:endParaRPr lang="es-E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sistema debe seguir siendo rápido aunque se inserten y eliminen registros constantemente</a:t>
            </a: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1657461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83EDD-C581-2C66-E568-2CC354648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74FEF7C6-7D14-2BBE-7AAA-DFCEF4942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07552"/>
              </p:ext>
            </p:extLst>
          </p:nvPr>
        </p:nvGraphicFramePr>
        <p:xfrm>
          <a:off x="695400" y="2962285"/>
          <a:ext cx="10441160" cy="2730868"/>
        </p:xfrm>
        <a:graphic>
          <a:graphicData uri="http://schemas.openxmlformats.org/drawingml/2006/table">
            <a:tbl>
              <a:tblPr firstRow="1" firstCol="1" bandRow="1"/>
              <a:tblGrid>
                <a:gridCol w="5220580">
                  <a:extLst>
                    <a:ext uri="{9D8B030D-6E8A-4147-A177-3AD203B41FA5}">
                      <a16:colId xmlns:a16="http://schemas.microsoft.com/office/drawing/2014/main" val="2289213798"/>
                    </a:ext>
                  </a:extLst>
                </a:gridCol>
                <a:gridCol w="5220580">
                  <a:extLst>
                    <a:ext uri="{9D8B030D-6E8A-4147-A177-3AD203B41FA5}">
                      <a16:colId xmlns:a16="http://schemas.microsoft.com/office/drawing/2014/main" val="2698165430"/>
                    </a:ext>
                  </a:extLst>
                </a:gridCol>
              </a:tblGrid>
              <a:tr h="6827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Técnica</a:t>
                      </a:r>
                      <a:endParaRPr lang="es-E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Uso recomendado</a:t>
                      </a:r>
                      <a:endParaRPr lang="es-E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651030"/>
                  </a:ext>
                </a:extLst>
              </a:tr>
              <a:tr h="6827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Hashing</a:t>
                      </a:r>
                      <a:endParaRPr lang="es-E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Búsqueda por DNI (O(1) promedio)</a:t>
                      </a:r>
                      <a:endParaRPr lang="es-E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64600"/>
                  </a:ext>
                </a:extLst>
              </a:tr>
              <a:tr h="6827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Árbol Binario / AVL</a:t>
                      </a:r>
                      <a:endParaRPr lang="es-E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Búsqueda por nombres (ordenado)</a:t>
                      </a:r>
                      <a:endParaRPr lang="es-E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91969"/>
                  </a:ext>
                </a:extLst>
              </a:tr>
              <a:tr h="68271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Índices secundarios</a:t>
                      </a:r>
                      <a:endParaRPr lang="es-E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Apoyo a búsquedas combinadas</a:t>
                      </a:r>
                      <a:endParaRPr lang="es-E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891113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52BDBC54-677D-2264-E752-B2DA058BC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84" y="1226517"/>
            <a:ext cx="1051438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Qué deben CREAR (nivel más alto de creatividad)</a:t>
            </a:r>
            <a:endParaRPr kumimoji="0" lang="es-ES" altLang="es-E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Los grupos deben </a:t>
            </a:r>
            <a:r>
              <a:rPr kumimoji="0" lang="es-ES" altLang="es-E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diseñar e implementar</a:t>
            </a:r>
            <a:r>
              <a:rPr kumimoji="0" lang="es-ES" altLang="es-E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una arquitectura híbrida que combine:</a:t>
            </a:r>
            <a:endParaRPr kumimoji="0" lang="es-ES" altLang="es-E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257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D6E3-64D0-E49D-7466-93C21E3C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F4FCEC-6738-9E09-A6E8-65CD1518D1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088" y="404813"/>
            <a:ext cx="11664950" cy="590450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s-ES" dirty="0"/>
              <a:t>Requisitos mínimos de creación:</a:t>
            </a:r>
          </a:p>
          <a:p>
            <a:pPr marL="742950" lvl="0" indent="-742950" algn="l">
              <a:buFont typeface="+mj-lt"/>
              <a:buAutoNum type="arabicPeriod"/>
            </a:pPr>
            <a:r>
              <a:rPr lang="es-ES" dirty="0"/>
              <a:t>Función hash bien justificada para DNI.</a:t>
            </a:r>
          </a:p>
          <a:p>
            <a:pPr marL="742950" lvl="0" indent="-742950" algn="l">
              <a:buFont typeface="+mj-lt"/>
              <a:buAutoNum type="arabicPeriod"/>
            </a:pPr>
            <a:r>
              <a:rPr lang="es-ES" dirty="0"/>
              <a:t>Tratamiento de colisiones (encadenamiento o direccionamiento abierto).</a:t>
            </a:r>
          </a:p>
          <a:p>
            <a:pPr marL="742950" lvl="0" indent="-742950" algn="l">
              <a:buFont typeface="+mj-lt"/>
              <a:buAutoNum type="arabicPeriod"/>
            </a:pPr>
            <a:r>
              <a:rPr lang="es-ES" dirty="0"/>
              <a:t>Árbol AVL (o ABB + justificación de por qué no AVL) para nombres.</a:t>
            </a:r>
          </a:p>
          <a:p>
            <a:pPr marL="742950" lvl="0" indent="-742950" algn="l">
              <a:buFont typeface="+mj-lt"/>
              <a:buAutoNum type="arabicPeriod"/>
            </a:pPr>
            <a:r>
              <a:rPr lang="es-ES" dirty="0"/>
              <a:t>Estrategia de sincronización entre el archivo de datos, la tabla hash y el árbol.</a:t>
            </a:r>
          </a:p>
          <a:p>
            <a:pPr marL="742950" lvl="0" indent="-742950" algn="l">
              <a:buFont typeface="+mj-lt"/>
              <a:buAutoNum type="arabicPeriod"/>
            </a:pPr>
            <a:r>
              <a:rPr lang="es-ES" dirty="0"/>
              <a:t>Prueba de estrés: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Insertar 300.000 registros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Buscar 1.000 </a:t>
            </a:r>
            <a:r>
              <a:rPr lang="es-ES" dirty="0" err="1"/>
              <a:t>DNIs</a:t>
            </a:r>
            <a:r>
              <a:rPr lang="es-ES" dirty="0"/>
              <a:t> aleatorios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Buscar 500 nombres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s-ES" dirty="0"/>
              <a:t>Reportar tiempos promedio y peores casos</a:t>
            </a:r>
          </a:p>
          <a:p>
            <a:pPr marL="742950" lvl="0" indent="-742950" algn="l">
              <a:buFont typeface="+mj-lt"/>
              <a:buAutoNum type="arabicPeriod"/>
            </a:pPr>
            <a:r>
              <a:rPr lang="es-ES" dirty="0"/>
              <a:t>Documento de arquitectura que explique:</a:t>
            </a:r>
          </a:p>
          <a:p>
            <a:pPr lvl="1"/>
            <a:r>
              <a:rPr lang="es-ES" dirty="0"/>
              <a:t>¿Por qué esta combinación y no otra?</a:t>
            </a:r>
          </a:p>
          <a:p>
            <a:pPr lvl="1"/>
            <a:r>
              <a:rPr lang="es-ES" dirty="0"/>
              <a:t>¿Cómo escalaría a 35 millones?</a:t>
            </a:r>
          </a:p>
          <a:p>
            <a:pPr lvl="1"/>
            <a:r>
              <a:rPr lang="es-ES" dirty="0"/>
              <a:t>¿Qué límites tiene su solución?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427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8A8BA-EA30-62DD-6C80-F03E4AF37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EF5D76-9D22-F487-01F0-6767699DE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088" y="404813"/>
            <a:ext cx="11664950" cy="41763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s-ES" dirty="0"/>
              <a:t>Entregable especial</a:t>
            </a:r>
          </a:p>
          <a:p>
            <a:pPr algn="l"/>
            <a:endParaRPr lang="es-ES" dirty="0"/>
          </a:p>
          <a:p>
            <a:pPr marL="571500" lvl="0" indent="-571500" algn="l">
              <a:buFont typeface="Wingdings" panose="05000000000000000000" pitchFamily="2" charset="2"/>
              <a:buChar char="ü"/>
            </a:pPr>
            <a:endParaRPr lang="es-ES" dirty="0"/>
          </a:p>
          <a:p>
            <a:pPr marL="571500" lvl="0" indent="-571500" algn="l">
              <a:buFont typeface="Wingdings" panose="05000000000000000000" pitchFamily="2" charset="2"/>
              <a:buChar char="ü"/>
            </a:pPr>
            <a:r>
              <a:rPr lang="es-ES" dirty="0"/>
              <a:t>Informe de Trabajo Final.</a:t>
            </a:r>
          </a:p>
          <a:p>
            <a:pPr marL="571500" lvl="0" indent="-571500" algn="l">
              <a:buFont typeface="Wingdings" panose="05000000000000000000" pitchFamily="2" charset="2"/>
              <a:buChar char="ü"/>
            </a:pPr>
            <a:r>
              <a:rPr lang="es-ES" dirty="0"/>
              <a:t>Demostración en vivo (</a:t>
            </a:r>
            <a:r>
              <a:rPr lang="es-ES" sz="4300" dirty="0"/>
              <a:t>competencia de velocidad</a:t>
            </a:r>
            <a:r>
              <a:rPr lang="es-ES" dirty="0"/>
              <a:t>)</a:t>
            </a:r>
          </a:p>
          <a:p>
            <a:pPr marL="571500" lvl="0" indent="-571500" algn="l">
              <a:buFont typeface="Wingdings" panose="05000000000000000000" pitchFamily="2" charset="2"/>
              <a:buChar char="ü"/>
            </a:pPr>
            <a:r>
              <a:rPr lang="es-ES" dirty="0"/>
              <a:t>Un “informe de arquitectura” de máximo 6 páginas</a:t>
            </a:r>
          </a:p>
          <a:p>
            <a:pPr marL="571500" lvl="0" indent="-571500" algn="l">
              <a:buFont typeface="Wingdings" panose="05000000000000000000" pitchFamily="2" charset="2"/>
              <a:buChar char="ü"/>
            </a:pPr>
            <a:r>
              <a:rPr lang="es-ES" dirty="0"/>
              <a:t>Opcional: pequeña interfaz web que consulte su motor</a:t>
            </a:r>
          </a:p>
          <a:p>
            <a:pPr algn="l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09171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D6A4C-BCC4-EDB6-8964-09157FECB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E72BF5-FC08-5FB2-F4F7-38A95396AD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196752"/>
            <a:ext cx="11664950" cy="4032299"/>
          </a:xfrm>
        </p:spPr>
        <p:txBody>
          <a:bodyPr>
            <a:normAutofit fontScale="85000" lnSpcReduction="20000"/>
          </a:bodyPr>
          <a:lstStyle/>
          <a:p>
            <a:r>
              <a:rPr lang="es-ES" sz="6400" dirty="0"/>
              <a:t>“El DNI es la llave de casi todos los servicios del Estado.</a:t>
            </a:r>
          </a:p>
          <a:p>
            <a:endParaRPr lang="es-ES" dirty="0"/>
          </a:p>
          <a:p>
            <a:br>
              <a:rPr lang="es-ES" dirty="0"/>
            </a:br>
            <a:r>
              <a:rPr lang="es-ES" dirty="0"/>
              <a:t>Quien sepa organizar y buscar 35 millones de identidades con eficiencia,</a:t>
            </a:r>
            <a:br>
              <a:rPr lang="es-ES" dirty="0"/>
            </a:br>
            <a:r>
              <a:rPr lang="es-ES" dirty="0"/>
              <a:t>tiene una de las habilidades más demandadas en el sector público y privado del Perú.”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4998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0F8B-097E-61F0-7861-F4DAD6862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5C41FD-DFFA-F6BB-0701-2DB91AE635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Elementos transversales</a:t>
            </a:r>
          </a:p>
          <a:p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473DCD-3241-2759-213B-A83D3634D237}"/>
              </a:ext>
            </a:extLst>
          </p:cNvPr>
          <p:cNvSpPr txBox="1"/>
          <p:nvPr/>
        </p:nvSpPr>
        <p:spPr>
          <a:xfrm>
            <a:off x="407368" y="1628801"/>
            <a:ext cx="8769719" cy="1130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Obligatorio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explicar en el informe </a:t>
            </a: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por qué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cada estructura y cada línea importante existe.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Pregunta </a:t>
            </a: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aleatoria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 “Si borro esta línea, ¿qué deja de funcionar y por qué?”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ED74C6-1626-4ED0-AAC3-A9C12FBABB9A}"/>
              </a:ext>
            </a:extLst>
          </p:cNvPr>
          <p:cNvSpPr txBox="1"/>
          <p:nvPr/>
        </p:nvSpPr>
        <p:spPr>
          <a:xfrm>
            <a:off x="479376" y="3429000"/>
            <a:ext cx="3816424" cy="2609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Al final de cada unidad se hace una prueba ciega:</a:t>
            </a:r>
            <a:endParaRPr lang="es-ES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 entrega un archivo con cientos de miles de registros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Se miden tiempos de búsqueda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El grupo más rápido + mejor justificación gana puntos extra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D723873-75A9-0AB7-9ABE-AB35AAA39205}"/>
              </a:ext>
            </a:extLst>
          </p:cNvPr>
          <p:cNvSpPr txBox="1"/>
          <p:nvPr/>
        </p:nvSpPr>
        <p:spPr>
          <a:xfrm>
            <a:off x="5159896" y="3429000"/>
            <a:ext cx="6118058" cy="169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3. Integración web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Una API que reciba DNI o nombre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Conecten su motor de archivos/índices detrás</a:t>
            </a:r>
          </a:p>
          <a:p>
            <a:pPr lvl="1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s-ES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876A7CB-1ECA-3C9E-2D0A-35CF8B72ED08}"/>
              </a:ext>
            </a:extLst>
          </p:cNvPr>
          <p:cNvSpPr txBox="1"/>
          <p:nvPr/>
        </p:nvSpPr>
        <p:spPr>
          <a:xfrm>
            <a:off x="6168008" y="6038753"/>
            <a:ext cx="6118058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Crear o solicitar en su defecto una solución en .NET.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054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EB55-6FAC-8305-AE28-16FFF4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819FF9-35EE-DA24-4259-C84C0B8597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3525" y="1196752"/>
            <a:ext cx="11664950" cy="4032299"/>
          </a:xfrm>
        </p:spPr>
        <p:txBody>
          <a:bodyPr>
            <a:normAutofit lnSpcReduction="10000"/>
          </a:bodyPr>
          <a:lstStyle/>
          <a:p>
            <a:r>
              <a:rPr lang="es-ES" dirty="0"/>
              <a:t>“</a:t>
            </a:r>
            <a:r>
              <a:rPr lang="es-ES" b="0" dirty="0"/>
              <a:t>En el cuarto ciclo muchos solo aprenden a hacer programas que funcionan con 100 registros.</a:t>
            </a:r>
            <a:br>
              <a:rPr lang="es-ES" b="0" dirty="0"/>
            </a:br>
            <a:r>
              <a:rPr lang="es-ES" b="0" dirty="0"/>
              <a:t>Ustedes van a diseñar sistemas que soporten millones.</a:t>
            </a:r>
          </a:p>
          <a:p>
            <a:br>
              <a:rPr lang="es-ES" b="0" dirty="0"/>
            </a:br>
            <a:r>
              <a:rPr lang="es-ES" b="0" dirty="0"/>
              <a:t>Esa diferencia es la que separa a un programador </a:t>
            </a:r>
            <a:r>
              <a:rPr lang="es-ES" dirty="0"/>
              <a:t>de un Ingeniero.”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0948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9B2A-A2B7-842D-5F5F-CF164A92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EAE85069-D4CB-EA0F-D89F-0F7AA75BA4F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9099" r="-1909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76332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Azul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25273</TotalTime>
  <Words>1225</Words>
  <Application>Microsoft Office PowerPoint</Application>
  <PresentationFormat>Panorámica</PresentationFormat>
  <Paragraphs>139</Paragraphs>
  <Slides>25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4" baseType="lpstr">
      <vt:lpstr>Arena Condensed</vt:lpstr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 JURIDICO</dc:title>
  <dc:creator>Dr Beltran</dc:creator>
  <cp:lastModifiedBy>Max Castro Rodriguez</cp:lastModifiedBy>
  <cp:revision>844</cp:revision>
  <dcterms:created xsi:type="dcterms:W3CDTF">2018-02-24T13:56:14Z</dcterms:created>
  <dcterms:modified xsi:type="dcterms:W3CDTF">2026-08-22T21:56:07Z</dcterms:modified>
</cp:coreProperties>
</file>