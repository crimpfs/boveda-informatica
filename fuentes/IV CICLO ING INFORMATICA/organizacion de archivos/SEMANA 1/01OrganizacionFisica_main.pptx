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653" r:id="rId2"/>
    <p:sldId id="540" r:id="rId3"/>
    <p:sldId id="656" r:id="rId4"/>
    <p:sldId id="660" r:id="rId5"/>
    <p:sldId id="661" r:id="rId6"/>
    <p:sldId id="662" r:id="rId7"/>
    <p:sldId id="663" r:id="rId8"/>
    <p:sldId id="664" r:id="rId9"/>
    <p:sldId id="665" r:id="rId10"/>
    <p:sldId id="654" r:id="rId11"/>
    <p:sldId id="658" r:id="rId12"/>
    <p:sldId id="655" r:id="rId13"/>
    <p:sldId id="657" r:id="rId14"/>
    <p:sldId id="659" r:id="rId1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213A89"/>
    <a:srgbClr val="1870B8"/>
    <a:srgbClr val="0000CC"/>
    <a:srgbClr val="EEEDEB"/>
    <a:srgbClr val="F1F1F1"/>
    <a:srgbClr val="E6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192" d="100"/>
          <a:sy n="192" d="100"/>
        </p:scale>
        <p:origin x="355" y="1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32" y="6923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ED00D-1F11-4750-9501-AA02EC4A30E8}" type="datetimeFigureOut">
              <a:rPr lang="es-PE" smtClean="0"/>
              <a:t>13/08/2026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15F3A-9D15-40F3-91F0-77D668E033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603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8544092" y="6525358"/>
            <a:ext cx="3381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2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Organización de Archivos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111" y="188640"/>
            <a:ext cx="1666754" cy="529571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0" y="0"/>
            <a:ext cx="11925593" cy="9087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/>
          <p:nvPr userDrawn="1"/>
        </p:nvCxnSpPr>
        <p:spPr>
          <a:xfrm>
            <a:off x="0" y="908720"/>
            <a:ext cx="9408368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48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58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439816" y="4797152"/>
            <a:ext cx="4752527" cy="115212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Profesor: Mg. Ing. Max Castro </a:t>
            </a:r>
            <a:r>
              <a:rPr lang="es-PE" sz="16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Rodriguez</a:t>
            </a: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3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Trujillo, Agosto de 2026</a:t>
            </a:r>
          </a:p>
          <a:p>
            <a:pPr algn="ctr"/>
            <a:endParaRPr lang="es-PE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C" sz="1300" dirty="0">
              <a:solidFill>
                <a:schemeClr val="bg1">
                  <a:lumMod val="95000"/>
                  <a:lumOff val="5000"/>
                </a:schemeClr>
              </a:solidFill>
              <a:latin typeface="Arena Condensed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55640" y="3172281"/>
            <a:ext cx="7992888" cy="760775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C" sz="4000" b="1" dirty="0">
                <a:solidFill>
                  <a:schemeClr val="bg2">
                    <a:lumMod val="10000"/>
                  </a:schemeClr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430653" y="1200837"/>
            <a:ext cx="884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sz="4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2423592" y="1916832"/>
            <a:ext cx="88428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Ciencias Físicas y Matemáticas</a:t>
            </a:r>
          </a:p>
          <a:p>
            <a:pPr algn="ctr"/>
            <a:r>
              <a:rPr lang="es-PE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Escuela Profesional de Informática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D444FC-3B7B-468B-8356-824282DF3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413241"/>
            <a:ext cx="1530346" cy="13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3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39421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comenzar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67408" y="1988840"/>
            <a:ext cx="100811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stimado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estudiante: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Importante revisar el sílabo en cuanto  a la unidad 1.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la sesión sincrónica; mantenga apagado su micrófono; levante la mano para participar.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los foros de socialización del sílabo.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dudas luego de la sesión sincrónica use el Foro de Consejería.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las clases de laboratorio debe organizarse para tener a la mano su laptop o PC, así podrá participar siguiendo las pautas y compartiendo pantalla.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Organice su tiempo para realizar todas las actividades formativas.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Recuerde que está integrado a un grupo conformado al azar.</a:t>
            </a:r>
          </a:p>
        </p:txBody>
      </p:sp>
    </p:spTree>
    <p:extLst>
      <p:ext uri="{BB962C8B-B14F-4D97-AF65-F5344CB8AC3E}">
        <p14:creationId xmlns:p14="http://schemas.microsoft.com/office/powerpoint/2010/main" val="280385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695400" y="1412776"/>
            <a:ext cx="100811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Contenido: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Organización Física de los Archivos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Almacenamiento principal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Almacenamiento secundario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disco duro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disco sólido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CD-ROM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pen drive (memoria USB)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la nube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</a:p>
          <a:p>
            <a:pPr marL="342900" indent="-342900"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Organización Lógica de los Archivos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Tipos de Archivos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Operaciones con Archivos (crear, abrir, escribir, leer, cerrar)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Registros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1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b="1" dirty="0"/>
              <a:t>Entendiendo la Organización Lógica vs. Física de Archivos en Registros</a:t>
            </a:r>
          </a:p>
          <a:p>
            <a:pPr algn="ctr"/>
            <a:endParaRPr lang="es-PE" sz="2400" dirty="0"/>
          </a:p>
          <a:p>
            <a:pPr algn="just"/>
            <a:r>
              <a:rPr lang="es-PE" sz="3200" dirty="0"/>
              <a:t>La organización física de archivos suele tratar sobre el "dónde y cómo" se almacenan los datos en el hardware, mientras que la lógica se centra en el "qué" en términos de estructura y acceso desde la perspectiva del usuario o la aplicación. 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22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800" b="1" dirty="0"/>
              <a:t>Definiciones:</a:t>
            </a:r>
          </a:p>
          <a:p>
            <a:pPr algn="just"/>
            <a:endParaRPr lang="es-PE" sz="2800" dirty="0"/>
          </a:p>
          <a:p>
            <a:pPr lvl="0" algn="just"/>
            <a:r>
              <a:rPr lang="es-PE" sz="2800" b="1" dirty="0"/>
              <a:t>Organización Lógica de Archivos (o Modelo de Datos Lógico)</a:t>
            </a:r>
            <a:r>
              <a:rPr lang="es-PE" sz="2800" dirty="0"/>
              <a:t>: Representa la visión abstracta y de alto nivel de los datos tal como los ven los usuarios o las aplicaciones. Se centra en entidades (como objetos o registros), sus atributos (propiedades) y las relaciones entre ellos, sin preocuparse por los detalles técnicos de almacenamiento. Básicamente, define "qué" aspecto tienen los datos (registros, campos y cómo están conectados lógicamente) para satisfacer necesidades comerciales o de usuarios.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54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PE" sz="2400" dirty="0"/>
          </a:p>
          <a:p>
            <a:pPr lvl="0" algn="just"/>
            <a:r>
              <a:rPr lang="es-PE" sz="2400" b="1" dirty="0"/>
              <a:t>Organización Física de Archivos (o Modelo de Datos Físico)</a:t>
            </a:r>
            <a:r>
              <a:rPr lang="es-PE" sz="2400" dirty="0"/>
              <a:t>: Se ocupa de la implementación real del almacenamiento de datos en medios físicos (por ejemplo, discos). Especifica "cómo" y "dónde" se almacenan los datos, incluyendo estructuras de tablas, tipos de datos, índices y optimizaciones para el rendimiento. Es el puente entre la visión lógica y el hardware.</a:t>
            </a:r>
          </a:p>
          <a:p>
            <a:pPr lvl="0" algn="just"/>
            <a:endParaRPr lang="en-US" sz="2400" dirty="0"/>
          </a:p>
          <a:p>
            <a:pPr lvl="0" algn="just"/>
            <a:endParaRPr lang="es-PE" sz="2400" dirty="0"/>
          </a:p>
          <a:p>
            <a:pPr algn="just"/>
            <a:r>
              <a:rPr lang="es-PE" sz="2400" dirty="0"/>
              <a:t>Estos conceptos separan responsabilidades: la lógica para el diseño y la usabilidad, la física para la eficiencia y la implementación.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231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endParaRPr lang="es-PE" sz="2800" dirty="0"/>
          </a:p>
          <a:p>
            <a:pPr algn="ctr"/>
            <a:r>
              <a:rPr lang="es-PE" sz="2000" b="1" dirty="0"/>
              <a:t>Resumen de Velocidad, Ciclo de Reloj y Latencia CAS en Memorias RAM</a:t>
            </a:r>
          </a:p>
          <a:p>
            <a:pPr algn="ctr"/>
            <a:endParaRPr lang="es-PE" sz="2000" dirty="0"/>
          </a:p>
          <a:p>
            <a:pPr algn="just"/>
            <a:r>
              <a:rPr lang="es-PE" sz="2000" b="1" dirty="0"/>
              <a:t>1. Velocidad en MHz</a:t>
            </a:r>
            <a:endParaRPr lang="es-PE" sz="2000" dirty="0"/>
          </a:p>
          <a:p>
            <a:pPr lvl="0" algn="just"/>
            <a:r>
              <a:rPr lang="es-PE" sz="2000" b="1" dirty="0"/>
              <a:t>Definición</a:t>
            </a:r>
            <a:r>
              <a:rPr lang="es-PE" sz="2000" dirty="0"/>
              <a:t>: La velocidad de la RAM (frecuencia) se mide en </a:t>
            </a:r>
            <a:r>
              <a:rPr lang="es-PE" sz="2000" dirty="0" err="1"/>
              <a:t>megahertz</a:t>
            </a:r>
            <a:r>
              <a:rPr lang="es-PE" sz="2000" dirty="0"/>
              <a:t> (MHz) o </a:t>
            </a:r>
            <a:r>
              <a:rPr lang="es-PE" sz="2000" dirty="0" err="1"/>
              <a:t>gigahertz</a:t>
            </a:r>
            <a:r>
              <a:rPr lang="es-PE" sz="2000" dirty="0"/>
              <a:t> (GHz) y representa cuántos ciclos por segundo puede realizar la memoria. Indica la tasa de transferencia de datos (ancho de banda).</a:t>
            </a:r>
          </a:p>
          <a:p>
            <a:pPr lvl="0" algn="just"/>
            <a:r>
              <a:rPr lang="es-PE" sz="2000" b="1" dirty="0"/>
              <a:t>Ejemplo</a:t>
            </a:r>
            <a:r>
              <a:rPr lang="es-PE" sz="2000" dirty="0"/>
              <a:t>: DDR4 puede tener velocidades de 2133 MHz a 3200 MHz o más; DDR5, de 4800 MHz a 8400 MHz.</a:t>
            </a:r>
          </a:p>
          <a:p>
            <a:pPr lvl="0" algn="just"/>
            <a:r>
              <a:rPr lang="es-PE" sz="2000" b="1" dirty="0"/>
              <a:t>Importancia</a:t>
            </a:r>
            <a:r>
              <a:rPr lang="es-PE" sz="2000" dirty="0"/>
              <a:t>: Mayor MHz significa más datos transferidos por segundo, mejorando el rendimiento en aplicaciones que requieren acceso rápido (como bases de datos o consultas en sistemas de archivos).</a:t>
            </a:r>
          </a:p>
          <a:p>
            <a:pPr algn="just"/>
            <a:r>
              <a:rPr lang="es-PE" sz="2000" b="1" dirty="0"/>
              <a:t>Nota</a:t>
            </a:r>
            <a:r>
              <a:rPr lang="es-PE" sz="2000" dirty="0"/>
              <a:t>: La velocidad real depende del bus del sistema y la compatibilidad con la placa base.</a:t>
            </a:r>
          </a:p>
          <a:p>
            <a:pPr algn="just"/>
            <a:r>
              <a:rPr lang="es-PE" sz="2000" dirty="0"/>
              <a:t>DDR: </a:t>
            </a:r>
            <a:r>
              <a:rPr lang="es-PE" sz="2000" dirty="0" err="1"/>
              <a:t>Double</a:t>
            </a:r>
            <a:r>
              <a:rPr lang="es-PE" sz="2000" dirty="0"/>
              <a:t> Data </a:t>
            </a:r>
            <a:r>
              <a:rPr lang="es-PE" sz="2000" dirty="0" err="1"/>
              <a:t>Rate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80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endParaRPr lang="es-PE" sz="2800" dirty="0"/>
          </a:p>
          <a:p>
            <a:pPr algn="ctr"/>
            <a:r>
              <a:rPr lang="es-PE" sz="2400" b="1" dirty="0"/>
              <a:t>Resumen de Velocidad, Ciclo de Reloj y Latencia CAS en Memorias RAM</a:t>
            </a:r>
          </a:p>
          <a:p>
            <a:pPr algn="ctr"/>
            <a:endParaRPr lang="es-PE" sz="2400" dirty="0"/>
          </a:p>
          <a:p>
            <a:pPr algn="just"/>
            <a:r>
              <a:rPr lang="es-PE" sz="2000" b="1" dirty="0"/>
              <a:t>2. Ciclo de Reloj en </a:t>
            </a:r>
            <a:r>
              <a:rPr lang="es-PE" sz="2000" b="1" dirty="0" err="1"/>
              <a:t>ns</a:t>
            </a:r>
            <a:endParaRPr lang="es-PE" sz="2000" dirty="0"/>
          </a:p>
          <a:p>
            <a:pPr lvl="0" algn="just"/>
            <a:r>
              <a:rPr lang="es-PE" sz="2000" b="1" dirty="0"/>
              <a:t>Definición</a:t>
            </a:r>
            <a:r>
              <a:rPr lang="es-PE" sz="2000" dirty="0"/>
              <a:t>: El ciclo de reloj es el tiempo que tarda la RAM en completar un ciclo, medido en nanosegundos (</a:t>
            </a:r>
            <a:r>
              <a:rPr lang="es-PE" sz="2000" dirty="0" err="1"/>
              <a:t>ns</a:t>
            </a:r>
            <a:r>
              <a:rPr lang="es-PE" sz="2000" dirty="0"/>
              <a:t>). Se calcula como: Ciclo de reloj (</a:t>
            </a:r>
            <a:r>
              <a:rPr lang="es-PE" sz="2000" dirty="0" err="1"/>
              <a:t>ns</a:t>
            </a:r>
            <a:r>
              <a:rPr lang="es-PE" sz="2000" dirty="0"/>
              <a:t>) = 1 / Frecuencia (GHz).</a:t>
            </a:r>
          </a:p>
          <a:p>
            <a:pPr lvl="0" algn="just"/>
            <a:r>
              <a:rPr lang="es-PE" sz="2000" b="1" dirty="0"/>
              <a:t>Ejemplo</a:t>
            </a:r>
            <a:r>
              <a:rPr lang="es-PE" sz="2000" dirty="0"/>
              <a:t>: Una RAM de 3200 MHz (3.2 GHz) tiene un ciclo de reloj de 1 / 3.2 = ~0.3125 </a:t>
            </a:r>
            <a:r>
              <a:rPr lang="es-PE" sz="2000" dirty="0" err="1"/>
              <a:t>ns</a:t>
            </a:r>
            <a:r>
              <a:rPr lang="es-PE" sz="2000" dirty="0"/>
              <a:t>.</a:t>
            </a:r>
          </a:p>
          <a:p>
            <a:pPr lvl="0" algn="just"/>
            <a:r>
              <a:rPr lang="es-PE" sz="2000" b="1" dirty="0"/>
              <a:t>Importancia</a:t>
            </a:r>
            <a:r>
              <a:rPr lang="es-PE" sz="2000" dirty="0"/>
              <a:t>: Un ciclo de reloj más corto (menor </a:t>
            </a:r>
            <a:r>
              <a:rPr lang="es-PE" sz="2000" dirty="0" err="1"/>
              <a:t>ns</a:t>
            </a:r>
            <a:r>
              <a:rPr lang="es-PE" sz="2000" dirty="0"/>
              <a:t>) indica mayor rapidez en las operaciones de lectura/escritura, crucial para el acceso físico a datos en sistemas de archivos.</a:t>
            </a:r>
          </a:p>
          <a:p>
            <a:pPr lvl="0" algn="just"/>
            <a:r>
              <a:rPr lang="es-PE" sz="2000" b="1" dirty="0"/>
              <a:t>Nota</a:t>
            </a:r>
            <a:r>
              <a:rPr lang="es-PE" sz="2000" dirty="0"/>
              <a:t>: El ciclo de reloj es una medida teórica; la latencia real depende de otros factores como la latencia CAS.</a:t>
            </a:r>
          </a:p>
        </p:txBody>
      </p:sp>
    </p:spTree>
    <p:extLst>
      <p:ext uri="{BB962C8B-B14F-4D97-AF65-F5344CB8AC3E}">
        <p14:creationId xmlns:p14="http://schemas.microsoft.com/office/powerpoint/2010/main" val="148658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endParaRPr lang="es-PE" sz="2800" dirty="0"/>
          </a:p>
          <a:p>
            <a:pPr algn="just"/>
            <a:r>
              <a:rPr lang="es-PE" sz="2000" b="1" dirty="0"/>
              <a:t>3. Latencia CAS (CL)</a:t>
            </a:r>
            <a:endParaRPr lang="es-PE" sz="2000" dirty="0"/>
          </a:p>
          <a:p>
            <a:pPr lvl="0" algn="just"/>
            <a:r>
              <a:rPr lang="es-PE" sz="2000" b="1" dirty="0"/>
              <a:t>Definición</a:t>
            </a:r>
            <a:r>
              <a:rPr lang="es-PE" sz="2000" dirty="0"/>
              <a:t>: La latencia CAS (</a:t>
            </a:r>
            <a:r>
              <a:rPr lang="es-PE" sz="2000" dirty="0" err="1"/>
              <a:t>Column</a:t>
            </a:r>
            <a:r>
              <a:rPr lang="es-PE" sz="2000" dirty="0"/>
              <a:t> </a:t>
            </a:r>
            <a:r>
              <a:rPr lang="es-PE" sz="2000" dirty="0" err="1"/>
              <a:t>Address</a:t>
            </a:r>
            <a:r>
              <a:rPr lang="es-PE" sz="2000" dirty="0"/>
              <a:t> </a:t>
            </a:r>
            <a:r>
              <a:rPr lang="es-PE" sz="2000" dirty="0" err="1"/>
              <a:t>Strobe</a:t>
            </a:r>
            <a:r>
              <a:rPr lang="es-PE" sz="2000" dirty="0"/>
              <a:t>) mide el número de ciclos de reloj que tarda la RAM en responder a una solicitud de datos. Se expresa como CL seguido de un número (p. ej., CL16).</a:t>
            </a:r>
          </a:p>
          <a:p>
            <a:pPr lvl="0" algn="just"/>
            <a:r>
              <a:rPr lang="es-PE" sz="2000" b="1" dirty="0"/>
              <a:t>Ejemplo</a:t>
            </a:r>
            <a:r>
              <a:rPr lang="es-PE" sz="2000" dirty="0"/>
              <a:t>: En una RAM DDR4-3200 con CL16, la memoria tarda 16 ciclos de reloj en entregar datos. Para calcular el tiempo real: Latencia (</a:t>
            </a:r>
            <a:r>
              <a:rPr lang="es-PE" sz="2000" dirty="0" err="1"/>
              <a:t>ns</a:t>
            </a:r>
            <a:r>
              <a:rPr lang="es-PE" sz="2000" dirty="0"/>
              <a:t>) = CL × Ciclo de reloj (</a:t>
            </a:r>
            <a:r>
              <a:rPr lang="es-PE" sz="2000" dirty="0" err="1"/>
              <a:t>ns</a:t>
            </a:r>
            <a:r>
              <a:rPr lang="es-PE" sz="2000" dirty="0"/>
              <a:t>). Para 3200 MHz (0.3125 </a:t>
            </a:r>
            <a:r>
              <a:rPr lang="es-PE" sz="2000" dirty="0" err="1"/>
              <a:t>ns</a:t>
            </a:r>
            <a:r>
              <a:rPr lang="es-PE" sz="2000" dirty="0"/>
              <a:t> por ciclo), 16 × 0.3125 = 5 </a:t>
            </a:r>
            <a:r>
              <a:rPr lang="es-PE" sz="2000" dirty="0" err="1"/>
              <a:t>ns</a:t>
            </a:r>
            <a:r>
              <a:rPr lang="es-PE" sz="2000" dirty="0"/>
              <a:t>.</a:t>
            </a:r>
          </a:p>
          <a:p>
            <a:pPr lvl="0" algn="just"/>
            <a:r>
              <a:rPr lang="es-PE" sz="2000" b="1" dirty="0"/>
              <a:t>Importancia</a:t>
            </a:r>
            <a:r>
              <a:rPr lang="es-PE" sz="2000" dirty="0"/>
              <a:t>: Una latencia CAS más baja mejora la velocidad de respuesta, especialmente en tareas con accesos frecuentes a datos pequeños (como en organización física de archivos).</a:t>
            </a:r>
          </a:p>
          <a:p>
            <a:pPr lvl="0" algn="just"/>
            <a:r>
              <a:rPr lang="es-PE" sz="2000" b="1" dirty="0"/>
              <a:t>Nota</a:t>
            </a:r>
            <a:r>
              <a:rPr lang="es-PE" sz="2000" dirty="0"/>
              <a:t>: DDR5 suele tener CL más altas (p. ej., CL36) pero compensa con frecuencias mayores, reduciendo el tiempo real en </a:t>
            </a:r>
            <a:r>
              <a:rPr lang="es-PE" sz="2000" dirty="0" err="1"/>
              <a:t>ns</a:t>
            </a:r>
            <a:r>
              <a:rPr lang="es-PE" sz="2000" dirty="0"/>
              <a:t>.</a:t>
            </a:r>
          </a:p>
          <a:p>
            <a:pPr lvl="0"/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483202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72033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Física de los Archivos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772816"/>
            <a:ext cx="10260129" cy="7920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sz="2400" b="1" dirty="0"/>
              <a:t>Dispositivos de Almacenamiento Primario</a:t>
            </a:r>
          </a:p>
          <a:p>
            <a:pPr algn="just"/>
            <a:r>
              <a:rPr lang="es-PE" b="1" dirty="0"/>
              <a:t>Memoria RAM</a:t>
            </a:r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1559496" y="2924944"/>
            <a:ext cx="4986049" cy="1944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Capacidad en GB</a:t>
            </a:r>
          </a:p>
          <a:p>
            <a:pPr algn="just"/>
            <a:r>
              <a:rPr lang="es-PE" sz="2400" b="1" dirty="0"/>
              <a:t>Velocidad en </a:t>
            </a:r>
            <a:r>
              <a:rPr lang="es-PE" sz="2400" b="1" dirty="0" err="1"/>
              <a:t>Mhz</a:t>
            </a:r>
            <a:endParaRPr lang="es-PE" sz="2400" b="1" dirty="0"/>
          </a:p>
          <a:p>
            <a:pPr algn="just"/>
            <a:r>
              <a:rPr lang="es-PE" b="1" dirty="0"/>
              <a:t>Direccionable por el CPU</a:t>
            </a:r>
          </a:p>
          <a:p>
            <a:pPr algn="just"/>
            <a:r>
              <a:rPr lang="es-PE" b="1" dirty="0"/>
              <a:t>Tecnología de núcleo de ferrita </a:t>
            </a:r>
          </a:p>
          <a:p>
            <a:pPr algn="just"/>
            <a:endParaRPr lang="es-PE" sz="3200" b="1" dirty="0"/>
          </a:p>
          <a:p>
            <a:pPr algn="just"/>
            <a:endParaRPr lang="es-PE" sz="2400" b="1" dirty="0"/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946606-E1D6-4163-A22C-EA438E79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152" y="2301672"/>
            <a:ext cx="27813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72033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Física de los Archivos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FA4D92-4C7D-4DB4-8BC1-66F0E51D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052736"/>
            <a:ext cx="9721080" cy="532081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8C711CF-4FE7-4EF3-9A85-969E28CFF34A}"/>
              </a:ext>
            </a:extLst>
          </p:cNvPr>
          <p:cNvSpPr txBox="1"/>
          <p:nvPr/>
        </p:nvSpPr>
        <p:spPr>
          <a:xfrm>
            <a:off x="263352" y="3416424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Tecnologías de RAM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4047051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72033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Física de los Archivos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47C6BCE-FBF4-4E12-8B7C-A5E1CF3673F7}"/>
              </a:ext>
            </a:extLst>
          </p:cNvPr>
          <p:cNvSpPr txBox="1"/>
          <p:nvPr/>
        </p:nvSpPr>
        <p:spPr>
          <a:xfrm>
            <a:off x="703783" y="1340768"/>
            <a:ext cx="10260129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2. </a:t>
            </a:r>
            <a:r>
              <a:rPr lang="es-PE" sz="2400" b="1" dirty="0"/>
              <a:t>Dispositivos de Almacenamiento Secundario</a:t>
            </a:r>
          </a:p>
          <a:p>
            <a:pPr algn="just"/>
            <a:r>
              <a:rPr lang="es-PE" b="1" dirty="0"/>
              <a:t>Disco Duro [HDD], SSD, Discos ópticos, Pendrive, Discos externos, </a:t>
            </a:r>
            <a:r>
              <a:rPr lang="es-PE" b="1" dirty="0" err="1"/>
              <a:t>Zipdrive</a:t>
            </a:r>
            <a:r>
              <a:rPr lang="es-PE" b="1" dirty="0"/>
              <a:t>, Cintas, NAS, entre otros.</a:t>
            </a:r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0842D4-0267-40D2-A015-D6A982D13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06" y="2693102"/>
            <a:ext cx="2362200" cy="23431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4EC4FBD-4975-43B8-8EDD-667A3F628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458" y="3065910"/>
            <a:ext cx="1724025" cy="15430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D75A58-5A32-4D92-9652-CE535A0C9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360" y="3060249"/>
            <a:ext cx="1296144" cy="11570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58C12DF-47AE-43A5-9E18-C9435F89B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816" y="2564904"/>
            <a:ext cx="2409825" cy="19907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C93D706-DA7C-4B26-8002-10B9CD44AD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0601" y="4680236"/>
            <a:ext cx="2991793" cy="15429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E427F60-32BD-42AE-87E6-44B1BB62EA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568" y="5254651"/>
            <a:ext cx="31337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49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19159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Pendrive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B16C067-C715-48D8-8ACE-895E8F5B0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96" y="2713984"/>
            <a:ext cx="2105968" cy="248952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2270D4-DF62-4D4F-B048-B69DEA58B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2564904"/>
            <a:ext cx="2857500" cy="2847975"/>
          </a:xfrm>
          <a:prstGeom prst="rect">
            <a:avLst/>
          </a:prstGeom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A0F6B2AE-F4B3-4892-85DF-F04C2267F8FA}"/>
              </a:ext>
            </a:extLst>
          </p:cNvPr>
          <p:cNvSpPr txBox="1"/>
          <p:nvPr/>
        </p:nvSpPr>
        <p:spPr>
          <a:xfrm>
            <a:off x="703783" y="1340768"/>
            <a:ext cx="10260129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2. </a:t>
            </a:r>
            <a:r>
              <a:rPr lang="es-PE" sz="2400" b="1" dirty="0"/>
              <a:t>Memorias USB</a:t>
            </a:r>
          </a:p>
          <a:p>
            <a:pPr algn="just"/>
            <a:r>
              <a:rPr lang="es-PE" b="1" dirty="0"/>
              <a:t>Diversas tecnologías de encapsulado como SD, </a:t>
            </a:r>
            <a:r>
              <a:rPr lang="es-PE" b="1" dirty="0" err="1"/>
              <a:t>Memory</a:t>
            </a:r>
            <a:r>
              <a:rPr lang="es-PE" b="1" dirty="0"/>
              <a:t> </a:t>
            </a:r>
            <a:r>
              <a:rPr lang="es-PE" b="1" dirty="0" err="1"/>
              <a:t>Stick</a:t>
            </a:r>
            <a:r>
              <a:rPr lang="es-PE" b="1" dirty="0"/>
              <a:t>.</a:t>
            </a:r>
            <a:endParaRPr lang="es-PE" sz="2400" b="1" dirty="0"/>
          </a:p>
        </p:txBody>
      </p:sp>
    </p:spTree>
    <p:extLst>
      <p:ext uri="{BB962C8B-B14F-4D97-AF65-F5344CB8AC3E}">
        <p14:creationId xmlns:p14="http://schemas.microsoft.com/office/powerpoint/2010/main" val="3414372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20281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0F6B2AE-F4B3-4892-85DF-F04C2267F8FA}"/>
              </a:ext>
            </a:extLst>
          </p:cNvPr>
          <p:cNvSpPr txBox="1"/>
          <p:nvPr/>
        </p:nvSpPr>
        <p:spPr>
          <a:xfrm>
            <a:off x="682689" y="1700808"/>
            <a:ext cx="10260129" cy="38164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b="1" dirty="0"/>
              <a:t>¿Qué otros dispositivos de almacenamiento tenemos?</a:t>
            </a:r>
          </a:p>
          <a:p>
            <a:pPr marL="457200" indent="-457200" algn="just">
              <a:buAutoNum type="arabicPeriod"/>
            </a:pPr>
            <a:r>
              <a:rPr lang="es-PE" sz="2400" b="1" dirty="0"/>
              <a:t>Elabore un cuadro comparativo entre los costos de </a:t>
            </a:r>
            <a:r>
              <a:rPr lang="es-PE" b="1" dirty="0"/>
              <a:t>almacenamiento de cada dispositivo de almacenamiento; por ejemplo cuánto cuesta almacenar 1 GB en cada uno de ellos.</a:t>
            </a:r>
          </a:p>
          <a:p>
            <a:pPr marL="457200" indent="-457200" algn="just">
              <a:buAutoNum type="arabicPeriod"/>
            </a:pPr>
            <a:r>
              <a:rPr lang="es-PE" b="1" dirty="0"/>
              <a:t>¿Cómo se almacenan los datos en la memoria principal? Busque un video de pocos minutos que le parezca que mejor presenta esta información.</a:t>
            </a:r>
          </a:p>
          <a:p>
            <a:pPr marL="457200" indent="-457200" algn="just">
              <a:buAutoNum type="arabicPeriod"/>
            </a:pPr>
            <a:r>
              <a:rPr lang="es-PE" sz="2400" b="1" dirty="0"/>
              <a:t>La nanotecnología había pronosticado hace varios años que íbamos a tener dispositivos de almacenamiento basados en átomos, ¿en qué trabaja la ciencia en este sentido? ¿Cuáles serán los dispositivos de almacenamiento del futuro? ¿Qué características tendrán?</a:t>
            </a:r>
          </a:p>
        </p:txBody>
      </p:sp>
    </p:spTree>
    <p:extLst>
      <p:ext uri="{BB962C8B-B14F-4D97-AF65-F5344CB8AC3E}">
        <p14:creationId xmlns:p14="http://schemas.microsoft.com/office/powerpoint/2010/main" val="36325922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6126</TotalTime>
  <Words>1094</Words>
  <Application>Microsoft Office PowerPoint</Application>
  <PresentationFormat>Panorámica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Arena Condensed</vt:lpstr>
      <vt:lpstr>Arial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 JURIDICO</dc:title>
  <dc:creator>Dr Beltran</dc:creator>
  <cp:lastModifiedBy>Max</cp:lastModifiedBy>
  <cp:revision>606</cp:revision>
  <dcterms:created xsi:type="dcterms:W3CDTF">2018-02-24T13:56:14Z</dcterms:created>
  <dcterms:modified xsi:type="dcterms:W3CDTF">2026-08-14T02:20:13Z</dcterms:modified>
</cp:coreProperties>
</file>