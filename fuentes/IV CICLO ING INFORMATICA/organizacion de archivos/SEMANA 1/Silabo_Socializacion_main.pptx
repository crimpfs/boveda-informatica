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53" r:id="rId1"/>
  </p:sldMasterIdLst>
  <p:notesMasterIdLst>
    <p:notesMasterId r:id="rId19"/>
  </p:notesMasterIdLst>
  <p:sldIdLst>
    <p:sldId id="653" r:id="rId2"/>
    <p:sldId id="540" r:id="rId3"/>
    <p:sldId id="687" r:id="rId4"/>
    <p:sldId id="665" r:id="rId5"/>
    <p:sldId id="684" r:id="rId6"/>
    <p:sldId id="685" r:id="rId7"/>
    <p:sldId id="686" r:id="rId8"/>
    <p:sldId id="690" r:id="rId9"/>
    <p:sldId id="688" r:id="rId10"/>
    <p:sldId id="691" r:id="rId11"/>
    <p:sldId id="692" r:id="rId12"/>
    <p:sldId id="693" r:id="rId13"/>
    <p:sldId id="689" r:id="rId14"/>
    <p:sldId id="694" r:id="rId15"/>
    <p:sldId id="696" r:id="rId16"/>
    <p:sldId id="697" r:id="rId17"/>
    <p:sldId id="659" r:id="rId18"/>
  </p:sldIdLst>
  <p:sldSz cx="12192000" cy="6858000"/>
  <p:notesSz cx="6858000" cy="9144000"/>
  <p:defaultTextStyle>
    <a:defPPr>
      <a:defRPr lang="es-P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99"/>
    <a:srgbClr val="213A89"/>
    <a:srgbClr val="1870B8"/>
    <a:srgbClr val="0000CC"/>
    <a:srgbClr val="EEEDEB"/>
    <a:srgbClr val="F1F1F1"/>
    <a:srgbClr val="E6E2E1"/>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Estilo medio 2 - Énfasis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1651" autoAdjust="0"/>
    <p:restoredTop sz="94671" autoAdjust="0"/>
  </p:normalViewPr>
  <p:slideViewPr>
    <p:cSldViewPr>
      <p:cViewPr varScale="1">
        <p:scale>
          <a:sx n="192" d="100"/>
          <a:sy n="192" d="100"/>
        </p:scale>
        <p:origin x="720" y="134"/>
      </p:cViewPr>
      <p:guideLst>
        <p:guide orient="horz" pos="2160"/>
        <p:guide pos="3840"/>
      </p:guideLst>
    </p:cSldViewPr>
  </p:slideViewPr>
  <p:outlineViewPr>
    <p:cViewPr>
      <p:scale>
        <a:sx n="33" d="100"/>
        <a:sy n="33" d="100"/>
      </p:scale>
      <p:origin x="132" y="69234"/>
    </p:cViewPr>
  </p:outlineViewPr>
  <p:notesTextViewPr>
    <p:cViewPr>
      <p:scale>
        <a:sx n="1" d="1"/>
        <a:sy n="1" d="1"/>
      </p:scale>
      <p:origin x="0" y="0"/>
    </p:cViewPr>
  </p:notesTextViewPr>
  <p:sorterViewPr>
    <p:cViewPr>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1 Marcador de encabezado"/>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s-PE"/>
          </a:p>
        </p:txBody>
      </p:sp>
      <p:sp>
        <p:nvSpPr>
          <p:cNvPr id="3" name="2 Marcador de fecha"/>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EA5ED00D-1F11-4750-9501-AA02EC4A30E8}" type="datetimeFigureOut">
              <a:rPr lang="es-PE" smtClean="0"/>
              <a:t>13/08/2026</a:t>
            </a:fld>
            <a:endParaRPr lang="es-PE"/>
          </a:p>
        </p:txBody>
      </p:sp>
      <p:sp>
        <p:nvSpPr>
          <p:cNvPr id="4" name="3 Marcador de imagen de diapositiva"/>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s-PE"/>
          </a:p>
        </p:txBody>
      </p:sp>
      <p:sp>
        <p:nvSpPr>
          <p:cNvPr id="5" name="4 Marcador de notas"/>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s-PE"/>
          </a:p>
        </p:txBody>
      </p:sp>
      <p:sp>
        <p:nvSpPr>
          <p:cNvPr id="6" name="5 Marcador de pie de página"/>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s-PE"/>
          </a:p>
        </p:txBody>
      </p:sp>
      <p:sp>
        <p:nvSpPr>
          <p:cNvPr id="7" name="6 Marcador de número de diapositiva"/>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A8315F3A-9D15-40F3-91F0-77D668E033B3}" type="slidenum">
              <a:rPr lang="es-PE" smtClean="0"/>
              <a:t>‹Nº›</a:t>
            </a:fld>
            <a:endParaRPr lang="es-PE"/>
          </a:p>
        </p:txBody>
      </p:sp>
    </p:spTree>
    <p:extLst>
      <p:ext uri="{BB962C8B-B14F-4D97-AF65-F5344CB8AC3E}">
        <p14:creationId xmlns:p14="http://schemas.microsoft.com/office/powerpoint/2010/main" val="410603854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userDrawn="1">
  <p:cSld name="1_Título y objetos">
    <p:bg>
      <p:bgPr>
        <a:solidFill>
          <a:srgbClr val="FFFF99"/>
        </a:solidFill>
        <a:effectLst/>
      </p:bgPr>
    </p:bg>
    <p:spTree>
      <p:nvGrpSpPr>
        <p:cNvPr id="1" name=""/>
        <p:cNvGrpSpPr/>
        <p:nvPr/>
      </p:nvGrpSpPr>
      <p:grpSpPr>
        <a:xfrm>
          <a:off x="0" y="0"/>
          <a:ext cx="0" cy="0"/>
          <a:chOff x="0" y="0"/>
          <a:chExt cx="0" cy="0"/>
        </a:xfrm>
      </p:grpSpPr>
      <p:sp>
        <p:nvSpPr>
          <p:cNvPr id="12" name="Rectángulo 11"/>
          <p:cNvSpPr/>
          <p:nvPr userDrawn="1"/>
        </p:nvSpPr>
        <p:spPr>
          <a:xfrm>
            <a:off x="0" y="6453336"/>
            <a:ext cx="12192000" cy="404663"/>
          </a:xfrm>
          <a:prstGeom prst="rect">
            <a:avLst/>
          </a:prstGeom>
          <a:solidFill>
            <a:schemeClr val="bg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PE"/>
          </a:p>
        </p:txBody>
      </p:sp>
      <p:sp>
        <p:nvSpPr>
          <p:cNvPr id="9" name="22 CuadroTexto"/>
          <p:cNvSpPr txBox="1"/>
          <p:nvPr userDrawn="1"/>
        </p:nvSpPr>
        <p:spPr>
          <a:xfrm>
            <a:off x="8544092" y="6525358"/>
            <a:ext cx="3381501" cy="276999"/>
          </a:xfrm>
          <a:prstGeom prst="rect">
            <a:avLst/>
          </a:prstGeom>
          <a:noFill/>
        </p:spPr>
        <p:txBody>
          <a:bodyPr wrap="square" rtlCol="0">
            <a:spAutoFit/>
          </a:bodyPr>
          <a:lstStyle/>
          <a:p>
            <a:pPr algn="ctr"/>
            <a:r>
              <a:rPr lang="es-ES" sz="1200" b="1" cap="none" spc="50" dirty="0">
                <a:ln w="0"/>
                <a:solidFill>
                  <a:schemeClr val="bg2"/>
                </a:solidFill>
                <a:effectLst>
                  <a:innerShdw blurRad="63500" dist="50800" dir="13500000">
                    <a:srgbClr val="000000">
                      <a:alpha val="50000"/>
                    </a:srgbClr>
                  </a:innerShdw>
                </a:effectLst>
              </a:rPr>
              <a:t>Organización de Archivos</a:t>
            </a:r>
          </a:p>
        </p:txBody>
      </p:sp>
      <p:pic>
        <p:nvPicPr>
          <p:cNvPr id="11" name="Imagen 10"/>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9655111" y="188640"/>
            <a:ext cx="1666754" cy="529571"/>
          </a:xfrm>
          <a:prstGeom prst="rect">
            <a:avLst/>
          </a:prstGeom>
        </p:spPr>
      </p:pic>
      <p:sp>
        <p:nvSpPr>
          <p:cNvPr id="5" name="Rectángulo 4"/>
          <p:cNvSpPr/>
          <p:nvPr userDrawn="1"/>
        </p:nvSpPr>
        <p:spPr>
          <a:xfrm>
            <a:off x="0" y="0"/>
            <a:ext cx="11925593" cy="908720"/>
          </a:xfrm>
          <a:prstGeom prst="rect">
            <a:avLst/>
          </a:prstGeom>
          <a:solidFill>
            <a:schemeClr val="bg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4" name="Conector recto 3"/>
          <p:cNvCxnSpPr/>
          <p:nvPr userDrawn="1"/>
        </p:nvCxnSpPr>
        <p:spPr>
          <a:xfrm>
            <a:off x="0" y="908720"/>
            <a:ext cx="9408368" cy="0"/>
          </a:xfrm>
          <a:prstGeom prst="line">
            <a:avLst/>
          </a:prstGeom>
          <a:ln w="76200">
            <a:solidFill>
              <a:schemeClr val="bg2">
                <a:lumMod val="25000"/>
              </a:schemeClr>
            </a:solidFill>
          </a:ln>
        </p:spPr>
        <p:style>
          <a:lnRef idx="1">
            <a:schemeClr val="accent1"/>
          </a:lnRef>
          <a:fillRef idx="0">
            <a:schemeClr val="accent1"/>
          </a:fillRef>
          <a:effectRef idx="0">
            <a:schemeClr val="accent1"/>
          </a:effectRef>
          <a:fontRef idx="minor">
            <a:schemeClr val="tx1"/>
          </a:fontRef>
        </p:style>
      </p:cxnSp>
      <p:sp>
        <p:nvSpPr>
          <p:cNvPr id="2" name="Rectángulo 1">
            <a:extLst>
              <a:ext uri="{FF2B5EF4-FFF2-40B4-BE49-F238E27FC236}">
                <a16:creationId xmlns:a16="http://schemas.microsoft.com/office/drawing/2014/main" id="{DF191AB1-742A-4B48-9639-86765F9ADEB9}"/>
              </a:ext>
            </a:extLst>
          </p:cNvPr>
          <p:cNvSpPr/>
          <p:nvPr userDrawn="1"/>
        </p:nvSpPr>
        <p:spPr>
          <a:xfrm>
            <a:off x="88425" y="19917"/>
            <a:ext cx="6210546" cy="769441"/>
          </a:xfrm>
          <a:prstGeom prst="rect">
            <a:avLst/>
          </a:prstGeom>
          <a:noFill/>
        </p:spPr>
        <p:txBody>
          <a:bodyPr wrap="none" lIns="91440" tIns="45720" rIns="91440" bIns="45720">
            <a:spAutoFit/>
          </a:bodyPr>
          <a:lstStyle/>
          <a:p>
            <a:pPr algn="ctr"/>
            <a:r>
              <a:rPr lang="es-ES" sz="4400" b="1" cap="none" spc="50" dirty="0">
                <a:ln w="0"/>
                <a:solidFill>
                  <a:schemeClr val="bg2"/>
                </a:solidFill>
                <a:effectLst>
                  <a:innerShdw blurRad="63500" dist="50800" dir="13500000">
                    <a:srgbClr val="000000">
                      <a:alpha val="50000"/>
                    </a:srgbClr>
                  </a:innerShdw>
                </a:effectLst>
              </a:rPr>
              <a:t>Organización de Archivos</a:t>
            </a:r>
          </a:p>
        </p:txBody>
      </p:sp>
    </p:spTree>
    <p:extLst>
      <p:ext uri="{BB962C8B-B14F-4D97-AF65-F5344CB8AC3E}">
        <p14:creationId xmlns:p14="http://schemas.microsoft.com/office/powerpoint/2010/main" val="110945606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2_Título y objetos">
    <p:bg>
      <p:bgPr>
        <a:solidFill>
          <a:srgbClr val="FFFF99"/>
        </a:solidFill>
        <a:effectLst/>
      </p:bgPr>
    </p:bg>
    <p:spTree>
      <p:nvGrpSpPr>
        <p:cNvPr id="1" name=""/>
        <p:cNvGrpSpPr/>
        <p:nvPr/>
      </p:nvGrpSpPr>
      <p:grpSpPr>
        <a:xfrm>
          <a:off x="0" y="0"/>
          <a:ext cx="0" cy="0"/>
          <a:chOff x="0" y="0"/>
          <a:chExt cx="0" cy="0"/>
        </a:xfrm>
      </p:grpSpPr>
      <p:sp>
        <p:nvSpPr>
          <p:cNvPr id="12" name="Rectángulo 11"/>
          <p:cNvSpPr/>
          <p:nvPr userDrawn="1"/>
        </p:nvSpPr>
        <p:spPr>
          <a:xfrm>
            <a:off x="0" y="6453336"/>
            <a:ext cx="12192000" cy="404663"/>
          </a:xfrm>
          <a:prstGeom prst="rect">
            <a:avLst/>
          </a:prstGeom>
          <a:solidFill>
            <a:schemeClr val="bg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PE"/>
          </a:p>
        </p:txBody>
      </p:sp>
      <p:sp>
        <p:nvSpPr>
          <p:cNvPr id="9" name="22 CuadroTexto"/>
          <p:cNvSpPr txBox="1"/>
          <p:nvPr userDrawn="1"/>
        </p:nvSpPr>
        <p:spPr>
          <a:xfrm>
            <a:off x="8544092" y="6525358"/>
            <a:ext cx="3381501" cy="276999"/>
          </a:xfrm>
          <a:prstGeom prst="rect">
            <a:avLst/>
          </a:prstGeom>
          <a:noFill/>
        </p:spPr>
        <p:txBody>
          <a:bodyPr wrap="square" rtlCol="0">
            <a:spAutoFit/>
          </a:bodyPr>
          <a:lstStyle/>
          <a:p>
            <a:pPr algn="ctr"/>
            <a:r>
              <a:rPr lang="es-ES" sz="1200" b="1" cap="none" spc="50" dirty="0">
                <a:ln w="0"/>
                <a:solidFill>
                  <a:schemeClr val="bg2"/>
                </a:solidFill>
                <a:effectLst>
                  <a:innerShdw blurRad="63500" dist="50800" dir="13500000">
                    <a:srgbClr val="000000">
                      <a:alpha val="50000"/>
                    </a:srgbClr>
                  </a:innerShdw>
                </a:effectLst>
              </a:rPr>
              <a:t>Organización de Archivos</a:t>
            </a:r>
          </a:p>
        </p:txBody>
      </p:sp>
      <p:pic>
        <p:nvPicPr>
          <p:cNvPr id="11" name="Imagen 10"/>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9655111" y="188640"/>
            <a:ext cx="1666754" cy="529571"/>
          </a:xfrm>
          <a:prstGeom prst="rect">
            <a:avLst/>
          </a:prstGeom>
        </p:spPr>
      </p:pic>
      <p:sp>
        <p:nvSpPr>
          <p:cNvPr id="5" name="Rectángulo 4"/>
          <p:cNvSpPr/>
          <p:nvPr userDrawn="1"/>
        </p:nvSpPr>
        <p:spPr>
          <a:xfrm>
            <a:off x="0" y="0"/>
            <a:ext cx="11925593" cy="908720"/>
          </a:xfrm>
          <a:prstGeom prst="rect">
            <a:avLst/>
          </a:prstGeom>
          <a:solidFill>
            <a:schemeClr val="bg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4" name="Conector recto 3"/>
          <p:cNvCxnSpPr/>
          <p:nvPr userDrawn="1"/>
        </p:nvCxnSpPr>
        <p:spPr>
          <a:xfrm>
            <a:off x="0" y="908720"/>
            <a:ext cx="9408368" cy="0"/>
          </a:xfrm>
          <a:prstGeom prst="line">
            <a:avLst/>
          </a:prstGeom>
          <a:ln w="76200">
            <a:solidFill>
              <a:schemeClr val="bg2">
                <a:lumMod val="25000"/>
              </a:schemeClr>
            </a:solidFill>
          </a:ln>
        </p:spPr>
        <p:style>
          <a:lnRef idx="1">
            <a:schemeClr val="accent1"/>
          </a:lnRef>
          <a:fillRef idx="0">
            <a:schemeClr val="accent1"/>
          </a:fillRef>
          <a:effectRef idx="0">
            <a:schemeClr val="accent1"/>
          </a:effectRef>
          <a:fontRef idx="minor">
            <a:schemeClr val="tx1"/>
          </a:fontRef>
        </p:style>
      </p:cxnSp>
      <p:sp>
        <p:nvSpPr>
          <p:cNvPr id="2" name="Rectángulo 1">
            <a:extLst>
              <a:ext uri="{FF2B5EF4-FFF2-40B4-BE49-F238E27FC236}">
                <a16:creationId xmlns:a16="http://schemas.microsoft.com/office/drawing/2014/main" id="{DF191AB1-742A-4B48-9639-86765F9ADEB9}"/>
              </a:ext>
            </a:extLst>
          </p:cNvPr>
          <p:cNvSpPr/>
          <p:nvPr userDrawn="1"/>
        </p:nvSpPr>
        <p:spPr>
          <a:xfrm>
            <a:off x="-6424" y="130259"/>
            <a:ext cx="6696744" cy="646331"/>
          </a:xfrm>
          <a:prstGeom prst="rect">
            <a:avLst/>
          </a:prstGeom>
          <a:noFill/>
        </p:spPr>
        <p:txBody>
          <a:bodyPr wrap="square" lIns="91440" tIns="45720" rIns="91440" bIns="45720">
            <a:spAutoFit/>
          </a:bodyPr>
          <a:lstStyle/>
          <a:p>
            <a:pPr algn="ctr"/>
            <a:r>
              <a:rPr lang="es-ES" sz="3600" b="1" cap="none" spc="50" dirty="0">
                <a:ln w="0"/>
                <a:solidFill>
                  <a:schemeClr val="bg2"/>
                </a:solidFill>
                <a:effectLst>
                  <a:innerShdw blurRad="63500" dist="50800" dir="13500000">
                    <a:srgbClr val="000000">
                      <a:alpha val="50000"/>
                    </a:srgbClr>
                  </a:innerShdw>
                </a:effectLst>
              </a:rPr>
              <a:t>Organización de Archivos</a:t>
            </a:r>
          </a:p>
        </p:txBody>
      </p:sp>
    </p:spTree>
    <p:extLst>
      <p:ext uri="{BB962C8B-B14F-4D97-AF65-F5344CB8AC3E}">
        <p14:creationId xmlns:p14="http://schemas.microsoft.com/office/powerpoint/2010/main" val="170495428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3_Título e imagen">
    <p:bg>
      <p:bgPr>
        <a:solidFill>
          <a:srgbClr val="FFFF99"/>
        </a:solidFill>
        <a:effectLst/>
      </p:bgPr>
    </p:bg>
    <p:spTree>
      <p:nvGrpSpPr>
        <p:cNvPr id="1" name=""/>
        <p:cNvGrpSpPr/>
        <p:nvPr/>
      </p:nvGrpSpPr>
      <p:grpSpPr>
        <a:xfrm>
          <a:off x="0" y="0"/>
          <a:ext cx="0" cy="0"/>
          <a:chOff x="0" y="0"/>
          <a:chExt cx="0" cy="0"/>
        </a:xfrm>
      </p:grpSpPr>
      <p:sp>
        <p:nvSpPr>
          <p:cNvPr id="12" name="Rectángulo 11"/>
          <p:cNvSpPr/>
          <p:nvPr userDrawn="1"/>
        </p:nvSpPr>
        <p:spPr>
          <a:xfrm>
            <a:off x="0" y="6453336"/>
            <a:ext cx="12192000" cy="404663"/>
          </a:xfrm>
          <a:prstGeom prst="rect">
            <a:avLst/>
          </a:prstGeom>
          <a:solidFill>
            <a:schemeClr val="bg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PE"/>
          </a:p>
        </p:txBody>
      </p:sp>
      <p:sp>
        <p:nvSpPr>
          <p:cNvPr id="9" name="22 CuadroTexto"/>
          <p:cNvSpPr txBox="1"/>
          <p:nvPr userDrawn="1"/>
        </p:nvSpPr>
        <p:spPr>
          <a:xfrm>
            <a:off x="8544092" y="6525358"/>
            <a:ext cx="3381501" cy="276999"/>
          </a:xfrm>
          <a:prstGeom prst="rect">
            <a:avLst/>
          </a:prstGeom>
          <a:noFill/>
        </p:spPr>
        <p:txBody>
          <a:bodyPr wrap="square" rtlCol="0">
            <a:spAutoFit/>
          </a:bodyPr>
          <a:lstStyle/>
          <a:p>
            <a:pPr algn="ctr"/>
            <a:r>
              <a:rPr lang="es-ES" sz="1200" b="1" cap="none" spc="50" dirty="0">
                <a:ln w="0"/>
                <a:solidFill>
                  <a:schemeClr val="bg2"/>
                </a:solidFill>
                <a:effectLst>
                  <a:innerShdw blurRad="63500" dist="50800" dir="13500000">
                    <a:srgbClr val="000000">
                      <a:alpha val="50000"/>
                    </a:srgbClr>
                  </a:innerShdw>
                </a:effectLst>
              </a:rPr>
              <a:t>Organización de Archivos</a:t>
            </a:r>
          </a:p>
        </p:txBody>
      </p:sp>
      <p:pic>
        <p:nvPicPr>
          <p:cNvPr id="11" name="Imagen 10"/>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9655111" y="188640"/>
            <a:ext cx="1666754" cy="529571"/>
          </a:xfrm>
          <a:prstGeom prst="rect">
            <a:avLst/>
          </a:prstGeom>
        </p:spPr>
      </p:pic>
      <p:sp>
        <p:nvSpPr>
          <p:cNvPr id="5" name="Rectángulo 4"/>
          <p:cNvSpPr/>
          <p:nvPr userDrawn="1"/>
        </p:nvSpPr>
        <p:spPr>
          <a:xfrm>
            <a:off x="0" y="0"/>
            <a:ext cx="11925593" cy="908720"/>
          </a:xfrm>
          <a:prstGeom prst="rect">
            <a:avLst/>
          </a:prstGeom>
          <a:solidFill>
            <a:schemeClr val="bg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4" name="Conector recto 3"/>
          <p:cNvCxnSpPr/>
          <p:nvPr userDrawn="1"/>
        </p:nvCxnSpPr>
        <p:spPr>
          <a:xfrm>
            <a:off x="0" y="908720"/>
            <a:ext cx="9408368" cy="0"/>
          </a:xfrm>
          <a:prstGeom prst="line">
            <a:avLst/>
          </a:prstGeom>
          <a:ln w="76200">
            <a:solidFill>
              <a:schemeClr val="bg2">
                <a:lumMod val="25000"/>
              </a:schemeClr>
            </a:solidFill>
          </a:ln>
        </p:spPr>
        <p:style>
          <a:lnRef idx="1">
            <a:schemeClr val="accent1"/>
          </a:lnRef>
          <a:fillRef idx="0">
            <a:schemeClr val="accent1"/>
          </a:fillRef>
          <a:effectRef idx="0">
            <a:schemeClr val="accent1"/>
          </a:effectRef>
          <a:fontRef idx="minor">
            <a:schemeClr val="tx1"/>
          </a:fontRef>
        </p:style>
      </p:cxnSp>
      <p:sp>
        <p:nvSpPr>
          <p:cNvPr id="2" name="Rectángulo 1">
            <a:extLst>
              <a:ext uri="{FF2B5EF4-FFF2-40B4-BE49-F238E27FC236}">
                <a16:creationId xmlns:a16="http://schemas.microsoft.com/office/drawing/2014/main" id="{DF191AB1-742A-4B48-9639-86765F9ADEB9}"/>
              </a:ext>
            </a:extLst>
          </p:cNvPr>
          <p:cNvSpPr/>
          <p:nvPr userDrawn="1"/>
        </p:nvSpPr>
        <p:spPr>
          <a:xfrm>
            <a:off x="119336" y="194991"/>
            <a:ext cx="6696744" cy="646331"/>
          </a:xfrm>
          <a:prstGeom prst="rect">
            <a:avLst/>
          </a:prstGeom>
          <a:noFill/>
        </p:spPr>
        <p:txBody>
          <a:bodyPr wrap="square" lIns="91440" tIns="45720" rIns="91440" bIns="45720">
            <a:spAutoFit/>
          </a:bodyPr>
          <a:lstStyle/>
          <a:p>
            <a:pPr algn="ctr"/>
            <a:r>
              <a:rPr lang="es-ES" sz="3600" b="1" cap="none" spc="50" dirty="0">
                <a:ln w="0"/>
                <a:solidFill>
                  <a:schemeClr val="bg2"/>
                </a:solidFill>
                <a:effectLst>
                  <a:innerShdw blurRad="63500" dist="50800" dir="13500000">
                    <a:srgbClr val="000000">
                      <a:alpha val="50000"/>
                    </a:srgbClr>
                  </a:innerShdw>
                </a:effectLst>
              </a:rPr>
              <a:t>Organización de Archivos</a:t>
            </a:r>
          </a:p>
        </p:txBody>
      </p:sp>
      <p:sp>
        <p:nvSpPr>
          <p:cNvPr id="10" name="Marcador de posición de imagen 4">
            <a:extLst>
              <a:ext uri="{FF2B5EF4-FFF2-40B4-BE49-F238E27FC236}">
                <a16:creationId xmlns:a16="http://schemas.microsoft.com/office/drawing/2014/main" id="{93DC6023-926A-41A9-BE31-2B75A253D083}"/>
              </a:ext>
            </a:extLst>
          </p:cNvPr>
          <p:cNvSpPr>
            <a:spLocks noGrp="1"/>
          </p:cNvSpPr>
          <p:nvPr>
            <p:ph type="pic" idx="1"/>
          </p:nvPr>
        </p:nvSpPr>
        <p:spPr>
          <a:xfrm>
            <a:off x="3647728" y="980743"/>
            <a:ext cx="8424936" cy="5416944"/>
          </a:xfrm>
        </p:spPr>
      </p:sp>
      <p:sp>
        <p:nvSpPr>
          <p:cNvPr id="8" name="Marcador de contenido 7">
            <a:extLst>
              <a:ext uri="{FF2B5EF4-FFF2-40B4-BE49-F238E27FC236}">
                <a16:creationId xmlns:a16="http://schemas.microsoft.com/office/drawing/2014/main" id="{28F29110-E859-49CC-8202-F4378EFB809E}"/>
              </a:ext>
            </a:extLst>
          </p:cNvPr>
          <p:cNvSpPr>
            <a:spLocks noGrp="1"/>
          </p:cNvSpPr>
          <p:nvPr>
            <p:ph sz="quarter" idx="10" hasCustomPrompt="1"/>
          </p:nvPr>
        </p:nvSpPr>
        <p:spPr>
          <a:xfrm>
            <a:off x="335361" y="1448594"/>
            <a:ext cx="3240360" cy="2844496"/>
          </a:xfrm>
        </p:spPr>
        <p:txBody>
          <a:bodyPr/>
          <a:lstStyle>
            <a:lvl1pPr marL="0" indent="0">
              <a:buNone/>
              <a:defRPr lang="es-PE" sz="3600" b="0" i="0" smtClean="0">
                <a:effectLst/>
              </a:defRPr>
            </a:lvl1pPr>
            <a:lvl2pPr marL="457200" indent="0">
              <a:buNone/>
              <a:defRPr/>
            </a:lvl2pPr>
          </a:lstStyle>
          <a:p>
            <a:pPr lvl="0"/>
            <a:r>
              <a:rPr lang="es-PE" b="0" i="0" dirty="0">
                <a:effectLst/>
                <a:latin typeface="Roboto"/>
              </a:rPr>
              <a:t>¿?</a:t>
            </a:r>
            <a:endParaRPr lang="es-ES" dirty="0"/>
          </a:p>
        </p:txBody>
      </p:sp>
    </p:spTree>
    <p:extLst>
      <p:ext uri="{BB962C8B-B14F-4D97-AF65-F5344CB8AC3E}">
        <p14:creationId xmlns:p14="http://schemas.microsoft.com/office/powerpoint/2010/main" val="184752079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ulo e Image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39F9F60-DB08-47A6-B666-FC134494A6EF}"/>
              </a:ext>
            </a:extLst>
          </p:cNvPr>
          <p:cNvSpPr>
            <a:spLocks noGrp="1"/>
          </p:cNvSpPr>
          <p:nvPr>
            <p:ph type="title"/>
          </p:nvPr>
        </p:nvSpPr>
        <p:spPr>
          <a:xfrm>
            <a:off x="983432" y="161183"/>
            <a:ext cx="10515600" cy="1323602"/>
          </a:xfrm>
        </p:spPr>
        <p:txBody>
          <a:bodyPr/>
          <a:lstStyle>
            <a:lvl1pPr algn="ctr">
              <a:defRPr/>
            </a:lvl1pPr>
          </a:lstStyle>
          <a:p>
            <a:r>
              <a:rPr lang="es-ES" dirty="0"/>
              <a:t>Haga clic para modificar el estilo de título del patrón</a:t>
            </a:r>
            <a:endParaRPr lang="es-PE" dirty="0"/>
          </a:p>
        </p:txBody>
      </p:sp>
      <p:sp>
        <p:nvSpPr>
          <p:cNvPr id="7" name="Marcador de posición de imagen 6">
            <a:extLst>
              <a:ext uri="{FF2B5EF4-FFF2-40B4-BE49-F238E27FC236}">
                <a16:creationId xmlns:a16="http://schemas.microsoft.com/office/drawing/2014/main" id="{AE65BE23-AB08-4DD0-97B7-DC8656735225}"/>
              </a:ext>
            </a:extLst>
          </p:cNvPr>
          <p:cNvSpPr>
            <a:spLocks noGrp="1"/>
          </p:cNvSpPr>
          <p:nvPr>
            <p:ph type="pic" sz="quarter" idx="13"/>
          </p:nvPr>
        </p:nvSpPr>
        <p:spPr>
          <a:xfrm>
            <a:off x="703763" y="1760642"/>
            <a:ext cx="11377264" cy="5068042"/>
          </a:xfrm>
        </p:spPr>
        <p:txBody>
          <a:bodyPr/>
          <a:lstStyle/>
          <a:p>
            <a:endParaRPr lang="es-PE" dirty="0"/>
          </a:p>
        </p:txBody>
      </p:sp>
      <p:sp>
        <p:nvSpPr>
          <p:cNvPr id="8" name="Rectángulo 7">
            <a:extLst>
              <a:ext uri="{FF2B5EF4-FFF2-40B4-BE49-F238E27FC236}">
                <a16:creationId xmlns:a16="http://schemas.microsoft.com/office/drawing/2014/main" id="{841FBDEF-A863-414E-83D0-59A281487AC1}"/>
              </a:ext>
            </a:extLst>
          </p:cNvPr>
          <p:cNvSpPr/>
          <p:nvPr userDrawn="1"/>
        </p:nvSpPr>
        <p:spPr>
          <a:xfrm rot="5400000">
            <a:off x="-3271247" y="3251792"/>
            <a:ext cx="6877455" cy="334962"/>
          </a:xfrm>
          <a:prstGeom prst="rect">
            <a:avLst/>
          </a:prstGeom>
          <a:solidFill>
            <a:schemeClr val="bg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Rectángulo 8">
            <a:extLst>
              <a:ext uri="{FF2B5EF4-FFF2-40B4-BE49-F238E27FC236}">
                <a16:creationId xmlns:a16="http://schemas.microsoft.com/office/drawing/2014/main" id="{9E826D77-0B8E-4004-B452-F9A292894A22}"/>
              </a:ext>
            </a:extLst>
          </p:cNvPr>
          <p:cNvSpPr/>
          <p:nvPr userDrawn="1"/>
        </p:nvSpPr>
        <p:spPr>
          <a:xfrm rot="5400000">
            <a:off x="8592617" y="3251792"/>
            <a:ext cx="6877455" cy="334962"/>
          </a:xfrm>
          <a:prstGeom prst="rect">
            <a:avLst/>
          </a:prstGeom>
          <a:solidFill>
            <a:schemeClr val="bg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22 CuadroTexto">
            <a:extLst>
              <a:ext uri="{FF2B5EF4-FFF2-40B4-BE49-F238E27FC236}">
                <a16:creationId xmlns:a16="http://schemas.microsoft.com/office/drawing/2014/main" id="{45C16620-A07D-4FC4-BD3F-A4C256076A85}"/>
              </a:ext>
            </a:extLst>
          </p:cNvPr>
          <p:cNvSpPr txBox="1"/>
          <p:nvPr userDrawn="1"/>
        </p:nvSpPr>
        <p:spPr>
          <a:xfrm rot="16200000">
            <a:off x="10351251" y="2676995"/>
            <a:ext cx="3381501" cy="276999"/>
          </a:xfrm>
          <a:prstGeom prst="rect">
            <a:avLst/>
          </a:prstGeom>
          <a:noFill/>
        </p:spPr>
        <p:txBody>
          <a:bodyPr wrap="square" rtlCol="0">
            <a:spAutoFit/>
          </a:bodyPr>
          <a:lstStyle/>
          <a:p>
            <a:pPr algn="ctr"/>
            <a:r>
              <a:rPr lang="es-ES" sz="1200" b="1" cap="none" spc="50" dirty="0">
                <a:ln w="0"/>
                <a:solidFill>
                  <a:schemeClr val="bg2"/>
                </a:solidFill>
                <a:effectLst>
                  <a:innerShdw blurRad="63500" dist="50800" dir="13500000">
                    <a:srgbClr val="000000">
                      <a:alpha val="50000"/>
                    </a:srgbClr>
                  </a:innerShdw>
                </a:effectLst>
              </a:rPr>
              <a:t>Organización de Archivos</a:t>
            </a:r>
          </a:p>
        </p:txBody>
      </p:sp>
    </p:spTree>
    <p:extLst>
      <p:ext uri="{BB962C8B-B14F-4D97-AF65-F5344CB8AC3E}">
        <p14:creationId xmlns:p14="http://schemas.microsoft.com/office/powerpoint/2010/main" val="62685812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userDrawn="1">
  <p:cSld name="1_Diapositiva de título">
    <p:spTree>
      <p:nvGrpSpPr>
        <p:cNvPr id="1" name=""/>
        <p:cNvGrpSpPr/>
        <p:nvPr/>
      </p:nvGrpSpPr>
      <p:grpSpPr>
        <a:xfrm>
          <a:off x="0" y="0"/>
          <a:ext cx="0" cy="0"/>
          <a:chOff x="0" y="0"/>
          <a:chExt cx="0" cy="0"/>
        </a:xfrm>
      </p:grpSpPr>
    </p:spTree>
    <p:extLst>
      <p:ext uri="{BB962C8B-B14F-4D97-AF65-F5344CB8AC3E}">
        <p14:creationId xmlns:p14="http://schemas.microsoft.com/office/powerpoint/2010/main" val="3812714758"/>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rgbClr val="FFFF99"/>
        </a:solidFill>
        <a:effectLst/>
      </p:bgPr>
    </p:bg>
    <p:spTree>
      <p:nvGrpSpPr>
        <p:cNvPr id="1" name=""/>
        <p:cNvGrpSpPr/>
        <p:nvPr/>
      </p:nvGrpSpPr>
      <p:grpSpPr>
        <a:xfrm>
          <a:off x="0" y="0"/>
          <a:ext cx="0" cy="0"/>
          <a:chOff x="0" y="0"/>
          <a:chExt cx="0" cy="0"/>
        </a:xfrm>
      </p:grpSpPr>
      <p:sp>
        <p:nvSpPr>
          <p:cNvPr id="2" name="Marcador de título 1">
            <a:extLst>
              <a:ext uri="{FF2B5EF4-FFF2-40B4-BE49-F238E27FC236}">
                <a16:creationId xmlns:a16="http://schemas.microsoft.com/office/drawing/2014/main" id="{EFE3FC0F-0726-445E-AA72-37103EF5177F}"/>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s-ES"/>
              <a:t>Haga clic para modificar el estilo de título del patrón</a:t>
            </a:r>
            <a:endParaRPr lang="es-PE"/>
          </a:p>
        </p:txBody>
      </p:sp>
      <p:sp>
        <p:nvSpPr>
          <p:cNvPr id="3" name="Marcador de texto 2">
            <a:extLst>
              <a:ext uri="{FF2B5EF4-FFF2-40B4-BE49-F238E27FC236}">
                <a16:creationId xmlns:a16="http://schemas.microsoft.com/office/drawing/2014/main" id="{BB9002F6-6079-4FAA-B87F-0BF17A5BC43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s-ES" dirty="0"/>
              <a:t>Editar los estilos de texto del patrón</a:t>
            </a:r>
          </a:p>
          <a:p>
            <a:pPr lvl="1"/>
            <a:r>
              <a:rPr lang="es-ES" dirty="0"/>
              <a:t>Segundo nivel</a:t>
            </a:r>
          </a:p>
          <a:p>
            <a:pPr lvl="2"/>
            <a:r>
              <a:rPr lang="es-ES" dirty="0"/>
              <a:t>Tercer nivel</a:t>
            </a:r>
          </a:p>
          <a:p>
            <a:pPr lvl="3"/>
            <a:r>
              <a:rPr lang="es-ES" dirty="0"/>
              <a:t>Cuarto nivel</a:t>
            </a:r>
          </a:p>
          <a:p>
            <a:pPr lvl="4"/>
            <a:r>
              <a:rPr lang="es-ES" dirty="0"/>
              <a:t>Quinto nivel</a:t>
            </a:r>
            <a:endParaRPr lang="es-PE" dirty="0"/>
          </a:p>
        </p:txBody>
      </p:sp>
      <p:sp>
        <p:nvSpPr>
          <p:cNvPr id="4" name="Marcador de fecha 3">
            <a:extLst>
              <a:ext uri="{FF2B5EF4-FFF2-40B4-BE49-F238E27FC236}">
                <a16:creationId xmlns:a16="http://schemas.microsoft.com/office/drawing/2014/main" id="{55AA2C94-0056-463B-957E-18A2CB9B355E}"/>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01D95E7-59A2-42F0-822A-C2AD9061524C}" type="datetimeFigureOut">
              <a:rPr lang="es-PE" smtClean="0"/>
              <a:t>13/08/2026</a:t>
            </a:fld>
            <a:endParaRPr lang="es-PE"/>
          </a:p>
        </p:txBody>
      </p:sp>
      <p:sp>
        <p:nvSpPr>
          <p:cNvPr id="5" name="Marcador de pie de página 4">
            <a:extLst>
              <a:ext uri="{FF2B5EF4-FFF2-40B4-BE49-F238E27FC236}">
                <a16:creationId xmlns:a16="http://schemas.microsoft.com/office/drawing/2014/main" id="{C7A57603-A9F7-41F7-A33A-957864473A55}"/>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s-PE"/>
          </a:p>
        </p:txBody>
      </p:sp>
      <p:sp>
        <p:nvSpPr>
          <p:cNvPr id="6" name="Marcador de número de diapositiva 5">
            <a:extLst>
              <a:ext uri="{FF2B5EF4-FFF2-40B4-BE49-F238E27FC236}">
                <a16:creationId xmlns:a16="http://schemas.microsoft.com/office/drawing/2014/main" id="{B0C24DDB-20DA-4806-9AC6-ECCDED9CADE2}"/>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65E646F-C49C-4EB9-B383-7962AB850F89}" type="slidenum">
              <a:rPr lang="es-PE" smtClean="0"/>
              <a:t>‹Nº›</a:t>
            </a:fld>
            <a:endParaRPr lang="es-PE"/>
          </a:p>
        </p:txBody>
      </p:sp>
    </p:spTree>
    <p:extLst>
      <p:ext uri="{BB962C8B-B14F-4D97-AF65-F5344CB8AC3E}">
        <p14:creationId xmlns:p14="http://schemas.microsoft.com/office/powerpoint/2010/main" val="3168753513"/>
      </p:ext>
    </p:extLst>
  </p:cSld>
  <p:clrMap bg1="lt1" tx1="dk1" bg2="lt2" tx2="dk2" accent1="accent1" accent2="accent2" accent3="accent3" accent4="accent4" accent5="accent5" accent6="accent6" hlink="hlink" folHlink="folHlink"/>
  <p:sldLayoutIdLst>
    <p:sldLayoutId id="2147483666" r:id="rId1"/>
    <p:sldLayoutId id="2147483651" r:id="rId2"/>
    <p:sldLayoutId id="2147483667" r:id="rId3"/>
    <p:sldLayoutId id="2147483668" r:id="rId4"/>
    <p:sldLayoutId id="2147483665" r:id="rId5"/>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P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5.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99"/>
        </a:solidFill>
        <a:effectLst/>
      </p:bgPr>
    </p:bg>
    <p:spTree>
      <p:nvGrpSpPr>
        <p:cNvPr id="1" name=""/>
        <p:cNvGrpSpPr/>
        <p:nvPr/>
      </p:nvGrpSpPr>
      <p:grpSpPr>
        <a:xfrm>
          <a:off x="0" y="0"/>
          <a:ext cx="0" cy="0"/>
          <a:chOff x="0" y="0"/>
          <a:chExt cx="0" cy="0"/>
        </a:xfrm>
      </p:grpSpPr>
      <p:sp>
        <p:nvSpPr>
          <p:cNvPr id="2" name="Rectangle 2"/>
          <p:cNvSpPr txBox="1">
            <a:spLocks noChangeArrowheads="1"/>
          </p:cNvSpPr>
          <p:nvPr/>
        </p:nvSpPr>
        <p:spPr>
          <a:xfrm>
            <a:off x="4439816" y="4797152"/>
            <a:ext cx="4752527" cy="1152128"/>
          </a:xfrm>
          <a:prstGeom prst="rect">
            <a:avLst/>
          </a:prstGeom>
        </p:spPr>
        <p:txBody>
          <a:bodyPr/>
          <a:lstStyle>
            <a:lvl1pPr algn="l" rtl="0" eaLnBrk="1" latinLnBrk="0" hangingPunct="1">
              <a:spcBef>
                <a:spcPct val="0"/>
              </a:spcBef>
              <a:buNone/>
              <a:defRPr kumimoji="0" sz="5000" b="0" kern="1200">
                <a:ln>
                  <a:noFill/>
                </a:ln>
                <a:solidFill>
                  <a:schemeClr val="tx2"/>
                </a:solidFill>
                <a:effectLst/>
                <a:latin typeface="+mj-lt"/>
                <a:ea typeface="+mj-ea"/>
                <a:cs typeface="+mj-cs"/>
              </a:defRPr>
            </a:lvl1pPr>
          </a:lstStyle>
          <a:p>
            <a:pPr algn="ctr"/>
            <a:r>
              <a:rPr lang="es-PE" sz="1600" b="1" dirty="0">
                <a:solidFill>
                  <a:schemeClr val="bg2">
                    <a:lumMod val="10000"/>
                  </a:schemeClr>
                </a:solidFill>
                <a:latin typeface="Arial" panose="020B0604020202020204" pitchFamily="34" charset="0"/>
                <a:cs typeface="Arial" panose="020B0604020202020204" pitchFamily="34" charset="0"/>
              </a:rPr>
              <a:t>Profesor: Mg. Ing. Max Castro </a:t>
            </a:r>
            <a:r>
              <a:rPr lang="es-PE" sz="1600" b="1" dirty="0" err="1">
                <a:solidFill>
                  <a:schemeClr val="bg2">
                    <a:lumMod val="10000"/>
                  </a:schemeClr>
                </a:solidFill>
                <a:latin typeface="Arial" panose="020B0604020202020204" pitchFamily="34" charset="0"/>
                <a:cs typeface="Arial" panose="020B0604020202020204" pitchFamily="34" charset="0"/>
              </a:rPr>
              <a:t>Rodriguez</a:t>
            </a:r>
            <a:endParaRPr lang="es-PE" sz="1300" b="1" dirty="0">
              <a:solidFill>
                <a:schemeClr val="bg2">
                  <a:lumMod val="10000"/>
                </a:schemeClr>
              </a:solidFill>
              <a:latin typeface="Arial" panose="020B0604020202020204" pitchFamily="34" charset="0"/>
              <a:cs typeface="Arial" panose="020B0604020202020204" pitchFamily="34" charset="0"/>
            </a:endParaRPr>
          </a:p>
          <a:p>
            <a:pPr marL="285750" indent="-285750" algn="ctr">
              <a:buFont typeface="Wingdings" panose="05000000000000000000" pitchFamily="2" charset="2"/>
              <a:buChar char="§"/>
            </a:pPr>
            <a:endParaRPr lang="es-PE" sz="1300" b="1" dirty="0">
              <a:solidFill>
                <a:schemeClr val="bg2">
                  <a:lumMod val="10000"/>
                </a:schemeClr>
              </a:solidFill>
              <a:latin typeface="Arial" panose="020B0604020202020204" pitchFamily="34" charset="0"/>
              <a:cs typeface="Arial" panose="020B0604020202020204" pitchFamily="34" charset="0"/>
            </a:endParaRPr>
          </a:p>
          <a:p>
            <a:pPr algn="ctr"/>
            <a:r>
              <a:rPr lang="es-PE" sz="1300" b="1" dirty="0">
                <a:solidFill>
                  <a:schemeClr val="bg2">
                    <a:lumMod val="10000"/>
                  </a:schemeClr>
                </a:solidFill>
                <a:latin typeface="Arial" panose="020B0604020202020204" pitchFamily="34" charset="0"/>
                <a:cs typeface="Arial" panose="020B0604020202020204" pitchFamily="34" charset="0"/>
              </a:rPr>
              <a:t>Trujillo, Agosto de 2026</a:t>
            </a:r>
          </a:p>
          <a:p>
            <a:pPr algn="ctr"/>
            <a:endParaRPr lang="es-PE" sz="1300" b="1" dirty="0">
              <a:solidFill>
                <a:schemeClr val="tx1"/>
              </a:solidFill>
              <a:latin typeface="Arial" panose="020B0604020202020204" pitchFamily="34" charset="0"/>
              <a:cs typeface="Arial" panose="020B0604020202020204" pitchFamily="34" charset="0"/>
            </a:endParaRPr>
          </a:p>
          <a:p>
            <a:pPr algn="ctr"/>
            <a:endParaRPr lang="es-EC" sz="1300" dirty="0">
              <a:solidFill>
                <a:schemeClr val="bg1">
                  <a:lumMod val="95000"/>
                  <a:lumOff val="5000"/>
                </a:schemeClr>
              </a:solidFill>
              <a:latin typeface="Arena Condensed" pitchFamily="34" charset="0"/>
            </a:endParaRPr>
          </a:p>
        </p:txBody>
      </p:sp>
      <p:sp>
        <p:nvSpPr>
          <p:cNvPr id="3" name="Rectangle 2"/>
          <p:cNvSpPr txBox="1">
            <a:spLocks noChangeArrowheads="1"/>
          </p:cNvSpPr>
          <p:nvPr/>
        </p:nvSpPr>
        <p:spPr>
          <a:xfrm>
            <a:off x="2855640" y="3172281"/>
            <a:ext cx="7992888" cy="760775"/>
          </a:xfrm>
          <a:prstGeom prst="rect">
            <a:avLst/>
          </a:prstGeom>
        </p:spPr>
        <p:txBody>
          <a:bodyPr/>
          <a:lstStyle>
            <a:lvl1pPr algn="l" rtl="0" eaLnBrk="1" latinLnBrk="0" hangingPunct="1">
              <a:spcBef>
                <a:spcPct val="0"/>
              </a:spcBef>
              <a:buNone/>
              <a:defRPr kumimoji="0" sz="5000" b="0" kern="1200">
                <a:ln>
                  <a:noFill/>
                </a:ln>
                <a:solidFill>
                  <a:schemeClr val="tx2"/>
                </a:solidFill>
                <a:effectLst/>
                <a:latin typeface="+mj-lt"/>
                <a:ea typeface="+mj-ea"/>
                <a:cs typeface="+mj-cs"/>
              </a:defRPr>
            </a:lvl1pPr>
          </a:lstStyle>
          <a:p>
            <a:pPr algn="ctr"/>
            <a:r>
              <a:rPr lang="es-EC" sz="4000" b="1" dirty="0">
                <a:solidFill>
                  <a:schemeClr val="bg2">
                    <a:lumMod val="10000"/>
                  </a:schemeClr>
                </a:solidFill>
                <a:latin typeface="Arena Condensed" pitchFamily="34" charset="0"/>
              </a:rPr>
              <a:t>Organización de Archivos</a:t>
            </a:r>
          </a:p>
        </p:txBody>
      </p:sp>
      <p:sp>
        <p:nvSpPr>
          <p:cNvPr id="8" name="CuadroTexto 7"/>
          <p:cNvSpPr txBox="1"/>
          <p:nvPr/>
        </p:nvSpPr>
        <p:spPr>
          <a:xfrm>
            <a:off x="2430653" y="1200837"/>
            <a:ext cx="8842862" cy="769441"/>
          </a:xfrm>
          <a:prstGeom prst="rect">
            <a:avLst/>
          </a:prstGeom>
          <a:noFill/>
        </p:spPr>
        <p:txBody>
          <a:bodyPr wrap="square" rtlCol="0">
            <a:spAutoFit/>
          </a:bodyPr>
          <a:lstStyle/>
          <a:p>
            <a:r>
              <a:rPr lang="es-PE" sz="4400" b="1" dirty="0">
                <a:solidFill>
                  <a:schemeClr val="bg2">
                    <a:lumMod val="10000"/>
                  </a:schemeClr>
                </a:solidFill>
                <a:latin typeface="Arial" panose="020B0604020202020204" pitchFamily="34" charset="0"/>
                <a:cs typeface="Arial" panose="020B0604020202020204" pitchFamily="34" charset="0"/>
              </a:rPr>
              <a:t>Universidad Nacional de Trujillo</a:t>
            </a:r>
            <a:endParaRPr lang="en-US" sz="4400" b="1" dirty="0">
              <a:solidFill>
                <a:schemeClr val="bg2">
                  <a:lumMod val="10000"/>
                </a:schemeClr>
              </a:solidFill>
              <a:latin typeface="Arial" panose="020B0604020202020204" pitchFamily="34" charset="0"/>
              <a:cs typeface="Arial" panose="020B0604020202020204" pitchFamily="34" charset="0"/>
            </a:endParaRPr>
          </a:p>
        </p:txBody>
      </p:sp>
      <p:sp>
        <p:nvSpPr>
          <p:cNvPr id="12" name="CuadroTexto 11"/>
          <p:cNvSpPr txBox="1"/>
          <p:nvPr/>
        </p:nvSpPr>
        <p:spPr>
          <a:xfrm>
            <a:off x="2423592" y="1916832"/>
            <a:ext cx="8842862" cy="892552"/>
          </a:xfrm>
          <a:prstGeom prst="rect">
            <a:avLst/>
          </a:prstGeom>
          <a:noFill/>
        </p:spPr>
        <p:txBody>
          <a:bodyPr wrap="square" rtlCol="0">
            <a:spAutoFit/>
          </a:bodyPr>
          <a:lstStyle/>
          <a:p>
            <a:pPr algn="ctr"/>
            <a:r>
              <a:rPr lang="es-PE" sz="2800" b="1" dirty="0">
                <a:solidFill>
                  <a:schemeClr val="bg2">
                    <a:lumMod val="10000"/>
                  </a:schemeClr>
                </a:solidFill>
                <a:latin typeface="Arial" panose="020B0604020202020204" pitchFamily="34" charset="0"/>
                <a:cs typeface="Arial" panose="020B0604020202020204" pitchFamily="34" charset="0"/>
              </a:rPr>
              <a:t>Facultad de Ciencias Físicas y Matemáticas</a:t>
            </a:r>
          </a:p>
          <a:p>
            <a:pPr algn="ctr"/>
            <a:r>
              <a:rPr lang="es-PE" sz="2400" b="1" dirty="0">
                <a:solidFill>
                  <a:schemeClr val="bg2">
                    <a:lumMod val="10000"/>
                  </a:schemeClr>
                </a:solidFill>
                <a:latin typeface="Arial" panose="020B0604020202020204" pitchFamily="34" charset="0"/>
                <a:cs typeface="Arial" panose="020B0604020202020204" pitchFamily="34" charset="0"/>
              </a:rPr>
              <a:t>Escuela Profesional de Informática</a:t>
            </a:r>
            <a:endParaRPr lang="en-US" sz="2400" b="1" dirty="0">
              <a:solidFill>
                <a:schemeClr val="bg2">
                  <a:lumMod val="10000"/>
                </a:schemeClr>
              </a:solidFill>
              <a:latin typeface="Arial" panose="020B0604020202020204" pitchFamily="34" charset="0"/>
              <a:cs typeface="Arial" panose="020B0604020202020204" pitchFamily="34" charset="0"/>
            </a:endParaRPr>
          </a:p>
        </p:txBody>
      </p:sp>
      <p:pic>
        <p:nvPicPr>
          <p:cNvPr id="5" name="Imagen 4">
            <a:extLst>
              <a:ext uri="{FF2B5EF4-FFF2-40B4-BE49-F238E27FC236}">
                <a16:creationId xmlns:a16="http://schemas.microsoft.com/office/drawing/2014/main" id="{5DD444FC-3B7B-468B-8356-824282DF3F5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51384" y="1413241"/>
            <a:ext cx="1530346" cy="1361411"/>
          </a:xfrm>
          <a:prstGeom prst="rect">
            <a:avLst/>
          </a:prstGeom>
        </p:spPr>
      </p:pic>
    </p:spTree>
    <p:extLst>
      <p:ext uri="{BB962C8B-B14F-4D97-AF65-F5344CB8AC3E}">
        <p14:creationId xmlns:p14="http://schemas.microsoft.com/office/powerpoint/2010/main" val="368203873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ángulo 3"/>
          <p:cNvSpPr/>
          <p:nvPr/>
        </p:nvSpPr>
        <p:spPr>
          <a:xfrm>
            <a:off x="7176120" y="188640"/>
            <a:ext cx="3942105" cy="584775"/>
          </a:xfrm>
          <a:prstGeom prst="rect">
            <a:avLst/>
          </a:prstGeom>
        </p:spPr>
        <p:txBody>
          <a:bodyPr wrap="none">
            <a:spAutoFit/>
          </a:bodyPr>
          <a:lstStyle/>
          <a:p>
            <a:r>
              <a:rPr lang="es-ES" sz="3200" b="1" dirty="0">
                <a:solidFill>
                  <a:schemeClr val="bg1"/>
                </a:solidFill>
                <a:latin typeface="Arial" panose="020B0604020202020204" pitchFamily="34" charset="0"/>
                <a:cs typeface="Arial" panose="020B0604020202020204" pitchFamily="34" charset="0"/>
              </a:rPr>
              <a:t>Antes de comenzar</a:t>
            </a:r>
          </a:p>
        </p:txBody>
      </p:sp>
      <p:sp>
        <p:nvSpPr>
          <p:cNvPr id="5" name="CuadroTexto 4"/>
          <p:cNvSpPr txBox="1"/>
          <p:nvPr/>
        </p:nvSpPr>
        <p:spPr>
          <a:xfrm>
            <a:off x="767408" y="1988840"/>
            <a:ext cx="10081120" cy="3139321"/>
          </a:xfrm>
          <a:prstGeom prst="rect">
            <a:avLst/>
          </a:prstGeom>
          <a:noFill/>
        </p:spPr>
        <p:txBody>
          <a:bodyPr wrap="square" rtlCol="0">
            <a:spAutoFit/>
          </a:bodyPr>
          <a:lstStyle/>
          <a:p>
            <a:r>
              <a:rPr lang="es-MX" dirty="0">
                <a:latin typeface="Arial" panose="020B0604020202020204" pitchFamily="34" charset="0"/>
                <a:cs typeface="Arial" panose="020B0604020202020204" pitchFamily="34" charset="0"/>
              </a:rPr>
              <a:t>E</a:t>
            </a:r>
            <a:r>
              <a:rPr lang="es-PE" dirty="0" err="1">
                <a:latin typeface="Arial" panose="020B0604020202020204" pitchFamily="34" charset="0"/>
                <a:cs typeface="Arial" panose="020B0604020202020204" pitchFamily="34" charset="0"/>
              </a:rPr>
              <a:t>stimado</a:t>
            </a:r>
            <a:r>
              <a:rPr lang="es-PE" dirty="0">
                <a:latin typeface="Arial" panose="020B0604020202020204" pitchFamily="34" charset="0"/>
                <a:cs typeface="Arial" panose="020B0604020202020204" pitchFamily="34" charset="0"/>
              </a:rPr>
              <a:t> estudiante:</a:t>
            </a:r>
          </a:p>
          <a:p>
            <a:endParaRPr lang="es-PE" dirty="0">
              <a:latin typeface="Arial" panose="020B0604020202020204" pitchFamily="34" charset="0"/>
              <a:cs typeface="Arial" panose="020B0604020202020204" pitchFamily="34" charset="0"/>
            </a:endParaRPr>
          </a:p>
          <a:p>
            <a:pPr marL="342900" indent="-342900">
              <a:buAutoNum type="alphaLcParenR"/>
            </a:pPr>
            <a:r>
              <a:rPr lang="es-PE" b="1" dirty="0">
                <a:latin typeface="Arial" panose="020B0604020202020204" pitchFamily="34" charset="0"/>
                <a:cs typeface="Arial" panose="020B0604020202020204" pitchFamily="34" charset="0"/>
              </a:rPr>
              <a:t>Importante revisar el sílabo y recuerde firmar el documento de socialización del mismo</a:t>
            </a:r>
            <a:r>
              <a:rPr lang="es-PE" dirty="0">
                <a:latin typeface="Arial" panose="020B0604020202020204" pitchFamily="34" charset="0"/>
                <a:cs typeface="Arial" panose="020B0604020202020204" pitchFamily="34" charset="0"/>
              </a:rPr>
              <a:t>.</a:t>
            </a:r>
          </a:p>
          <a:p>
            <a:pPr marL="342900" indent="-342900">
              <a:buAutoNum type="alphaLcParenR"/>
            </a:pPr>
            <a:r>
              <a:rPr lang="es-PE" dirty="0">
                <a:latin typeface="Arial" panose="020B0604020202020204" pitchFamily="34" charset="0"/>
                <a:cs typeface="Arial" panose="020B0604020202020204" pitchFamily="34" charset="0"/>
              </a:rPr>
              <a:t>Participar en la sesión sincrónica; mantenga apagado su micrófono; levante la mano para participar.</a:t>
            </a:r>
          </a:p>
          <a:p>
            <a:pPr marL="342900" indent="-342900">
              <a:buAutoNum type="alphaLcParenR"/>
            </a:pPr>
            <a:r>
              <a:rPr lang="es-PE" dirty="0">
                <a:latin typeface="Arial" panose="020B0604020202020204" pitchFamily="34" charset="0"/>
                <a:cs typeface="Arial" panose="020B0604020202020204" pitchFamily="34" charset="0"/>
              </a:rPr>
              <a:t>Participar en los foros de socialización del sílabo.</a:t>
            </a:r>
          </a:p>
          <a:p>
            <a:pPr marL="342900" indent="-342900">
              <a:buAutoNum type="alphaLcParenR"/>
            </a:pPr>
            <a:r>
              <a:rPr lang="es-PE" dirty="0">
                <a:latin typeface="Arial" panose="020B0604020202020204" pitchFamily="34" charset="0"/>
                <a:cs typeface="Arial" panose="020B0604020202020204" pitchFamily="34" charset="0"/>
              </a:rPr>
              <a:t>Para dudas luego de la sesión sincrónica use el Foro de Consejería.</a:t>
            </a:r>
          </a:p>
          <a:p>
            <a:pPr marL="342900" indent="-342900">
              <a:buAutoNum type="alphaLcParenR"/>
            </a:pPr>
            <a:r>
              <a:rPr lang="es-PE" dirty="0">
                <a:latin typeface="Arial" panose="020B0604020202020204" pitchFamily="34" charset="0"/>
                <a:cs typeface="Arial" panose="020B0604020202020204" pitchFamily="34" charset="0"/>
              </a:rPr>
              <a:t>Para las clases de laboratorio debe organizarse para tener a la mano su laptop o PC, así podrá participar siguiendo las pautas y compartiendo pantalla.</a:t>
            </a:r>
          </a:p>
          <a:p>
            <a:pPr marL="342900" indent="-342900">
              <a:buAutoNum type="alphaLcParenR"/>
            </a:pPr>
            <a:r>
              <a:rPr lang="es-PE" dirty="0">
                <a:latin typeface="Arial" panose="020B0604020202020204" pitchFamily="34" charset="0"/>
                <a:cs typeface="Arial" panose="020B0604020202020204" pitchFamily="34" charset="0"/>
              </a:rPr>
              <a:t>Organice su tiempo para realizar todas las actividades formativas.</a:t>
            </a:r>
          </a:p>
          <a:p>
            <a:pPr marL="342900" indent="-342900">
              <a:buAutoNum type="alphaLcParenR"/>
            </a:pPr>
            <a:r>
              <a:rPr lang="es-PE" dirty="0">
                <a:latin typeface="Arial" panose="020B0604020202020204" pitchFamily="34" charset="0"/>
                <a:cs typeface="Arial" panose="020B0604020202020204" pitchFamily="34" charset="0"/>
              </a:rPr>
              <a:t>Recuerde que está integrado a un grupo conformado al azar.</a:t>
            </a:r>
          </a:p>
        </p:txBody>
      </p:sp>
    </p:spTree>
    <p:extLst>
      <p:ext uri="{BB962C8B-B14F-4D97-AF65-F5344CB8AC3E}">
        <p14:creationId xmlns:p14="http://schemas.microsoft.com/office/powerpoint/2010/main" val="2803850569"/>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Marcador de contenido 3">
            <a:extLst>
              <a:ext uri="{FF2B5EF4-FFF2-40B4-BE49-F238E27FC236}">
                <a16:creationId xmlns:a16="http://schemas.microsoft.com/office/drawing/2014/main" id="{49791BAF-EC59-43DE-9DFA-F88CDAEB78FA}"/>
              </a:ext>
            </a:extLst>
          </p:cNvPr>
          <p:cNvSpPr>
            <a:spLocks noGrp="1"/>
          </p:cNvSpPr>
          <p:nvPr>
            <p:ph sz="quarter" idx="4294967295"/>
          </p:nvPr>
        </p:nvSpPr>
        <p:spPr>
          <a:xfrm>
            <a:off x="3359696" y="1772816"/>
            <a:ext cx="6264696" cy="3672408"/>
          </a:xfrm>
        </p:spPr>
        <p:txBody>
          <a:bodyPr>
            <a:normAutofit/>
          </a:bodyPr>
          <a:lstStyle/>
          <a:p>
            <a:pPr marL="0" indent="0" algn="ctr">
              <a:buNone/>
            </a:pPr>
            <a:r>
              <a:rPr lang="es-PE" sz="6000" b="1" dirty="0"/>
              <a:t>Unidad I: Fundamentos de dispositivos de almacenamiento. </a:t>
            </a:r>
          </a:p>
        </p:txBody>
      </p:sp>
    </p:spTree>
    <p:extLst>
      <p:ext uri="{BB962C8B-B14F-4D97-AF65-F5344CB8AC3E}">
        <p14:creationId xmlns:p14="http://schemas.microsoft.com/office/powerpoint/2010/main" val="3725071747"/>
      </p:ext>
    </p:extLst>
  </p:cSld>
  <p:clrMapOvr>
    <a:masterClrMapping/>
  </p:clrMapOvr>
  <mc:AlternateContent xmlns:mc="http://schemas.openxmlformats.org/markup-compatibility/2006" xmlns:p14="http://schemas.microsoft.com/office/powerpoint/2010/main">
    <mc:Choice Requires="p14">
      <p:transition p14:dur="100">
        <p:cut/>
      </p:transition>
    </mc:Choice>
    <mc:Fallback xmlns="">
      <p:transition>
        <p:cut/>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Marcador de contenido 3">
            <a:extLst>
              <a:ext uri="{FF2B5EF4-FFF2-40B4-BE49-F238E27FC236}">
                <a16:creationId xmlns:a16="http://schemas.microsoft.com/office/drawing/2014/main" id="{49791BAF-EC59-43DE-9DFA-F88CDAEB78FA}"/>
              </a:ext>
            </a:extLst>
          </p:cNvPr>
          <p:cNvSpPr>
            <a:spLocks noGrp="1"/>
          </p:cNvSpPr>
          <p:nvPr>
            <p:ph sz="quarter" idx="10"/>
          </p:nvPr>
        </p:nvSpPr>
        <p:spPr>
          <a:xfrm>
            <a:off x="119336" y="1916832"/>
            <a:ext cx="3457575" cy="2448173"/>
          </a:xfrm>
        </p:spPr>
        <p:txBody>
          <a:bodyPr>
            <a:normAutofit/>
          </a:bodyPr>
          <a:lstStyle/>
          <a:p>
            <a:pPr algn="ctr"/>
            <a:r>
              <a:rPr lang="en-US" sz="4400" b="1" dirty="0"/>
              <a:t>Tipos de</a:t>
            </a:r>
          </a:p>
          <a:p>
            <a:pPr algn="ctr"/>
            <a:r>
              <a:rPr lang="es-PE" sz="4400" b="1" dirty="0"/>
              <a:t>Organización:</a:t>
            </a:r>
            <a:r>
              <a:rPr lang="en-US" sz="4400" b="1" dirty="0"/>
              <a:t> </a:t>
            </a:r>
            <a:r>
              <a:rPr lang="es-PE" sz="4400" b="1" dirty="0"/>
              <a:t>Física y Lógica</a:t>
            </a:r>
          </a:p>
        </p:txBody>
      </p:sp>
      <p:pic>
        <p:nvPicPr>
          <p:cNvPr id="6" name="Marcador de posición de imagen 5">
            <a:extLst>
              <a:ext uri="{FF2B5EF4-FFF2-40B4-BE49-F238E27FC236}">
                <a16:creationId xmlns:a16="http://schemas.microsoft.com/office/drawing/2014/main" id="{5675EE17-1728-4963-A16F-9728C7194FE9}"/>
              </a:ext>
            </a:extLst>
          </p:cNvPr>
          <p:cNvPicPr>
            <a:picLocks noGrp="1" noChangeAspect="1"/>
          </p:cNvPicPr>
          <p:nvPr>
            <p:ph type="pic" idx="1"/>
          </p:nvPr>
        </p:nvPicPr>
        <p:blipFill>
          <a:blip r:embed="rId2"/>
          <a:srcRect l="7472" r="7472"/>
          <a:stretch>
            <a:fillRect/>
          </a:stretch>
        </p:blipFill>
        <p:spPr>
          <a:prstGeom prst="rect">
            <a:avLst/>
          </a:prstGeom>
        </p:spPr>
      </p:pic>
    </p:spTree>
    <p:extLst>
      <p:ext uri="{BB962C8B-B14F-4D97-AF65-F5344CB8AC3E}">
        <p14:creationId xmlns:p14="http://schemas.microsoft.com/office/powerpoint/2010/main" val="1320293186"/>
      </p:ext>
    </p:extLst>
  </p:cSld>
  <p:clrMapOvr>
    <a:masterClrMapping/>
  </p:clrMapOvr>
  <p:transition spd="slow">
    <p:randomBar dir="vert"/>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Marcador de posición de imagen 5">
            <a:extLst>
              <a:ext uri="{FF2B5EF4-FFF2-40B4-BE49-F238E27FC236}">
                <a16:creationId xmlns:a16="http://schemas.microsoft.com/office/drawing/2014/main" id="{A7BF2717-56D3-43B8-9C39-56B70C3FA2E8}"/>
              </a:ext>
            </a:extLst>
          </p:cNvPr>
          <p:cNvPicPr>
            <a:picLocks noGrp="1" noChangeAspect="1"/>
          </p:cNvPicPr>
          <p:nvPr>
            <p:ph type="pic" idx="1"/>
          </p:nvPr>
        </p:nvPicPr>
        <p:blipFill>
          <a:blip r:embed="rId2"/>
          <a:srcRect l="16798" r="16798"/>
          <a:stretch>
            <a:fillRect/>
          </a:stretch>
        </p:blipFill>
        <p:spPr>
          <a:prstGeom prst="rect">
            <a:avLst/>
          </a:prstGeom>
        </p:spPr>
      </p:pic>
      <p:sp>
        <p:nvSpPr>
          <p:cNvPr id="4" name="Marcador de contenido 3">
            <a:extLst>
              <a:ext uri="{FF2B5EF4-FFF2-40B4-BE49-F238E27FC236}">
                <a16:creationId xmlns:a16="http://schemas.microsoft.com/office/drawing/2014/main" id="{49791BAF-EC59-43DE-9DFA-F88CDAEB78FA}"/>
              </a:ext>
            </a:extLst>
          </p:cNvPr>
          <p:cNvSpPr>
            <a:spLocks noGrp="1"/>
          </p:cNvSpPr>
          <p:nvPr>
            <p:ph sz="quarter" idx="10"/>
          </p:nvPr>
        </p:nvSpPr>
        <p:spPr/>
        <p:txBody>
          <a:bodyPr>
            <a:normAutofit fontScale="70000" lnSpcReduction="20000"/>
          </a:bodyPr>
          <a:lstStyle/>
          <a:p>
            <a:pPr algn="ctr"/>
            <a:r>
              <a:rPr lang="es-PE" sz="4400" b="1" dirty="0"/>
              <a:t>1: Tiempo de búsqueda </a:t>
            </a:r>
          </a:p>
          <a:p>
            <a:pPr algn="ctr"/>
            <a:r>
              <a:rPr lang="es-PE" sz="4400" b="1" dirty="0"/>
              <a:t> 2: Tiempo de rotación (Latencia)  </a:t>
            </a:r>
          </a:p>
          <a:p>
            <a:pPr algn="ctr"/>
            <a:r>
              <a:rPr lang="es-PE" sz="4400" b="1" dirty="0"/>
              <a:t>3: Tiempo de transferencia </a:t>
            </a:r>
          </a:p>
        </p:txBody>
      </p:sp>
    </p:spTree>
    <p:extLst>
      <p:ext uri="{BB962C8B-B14F-4D97-AF65-F5344CB8AC3E}">
        <p14:creationId xmlns:p14="http://schemas.microsoft.com/office/powerpoint/2010/main" val="3049733574"/>
      </p:ext>
    </p:extLst>
  </p:cSld>
  <p:clrMapOvr>
    <a:masterClrMapping/>
  </p:clrMapOvr>
  <p:transition spd="med">
    <p:pull/>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Marcador de contenido 3">
            <a:extLst>
              <a:ext uri="{FF2B5EF4-FFF2-40B4-BE49-F238E27FC236}">
                <a16:creationId xmlns:a16="http://schemas.microsoft.com/office/drawing/2014/main" id="{49791BAF-EC59-43DE-9DFA-F88CDAEB78FA}"/>
              </a:ext>
            </a:extLst>
          </p:cNvPr>
          <p:cNvSpPr>
            <a:spLocks noGrp="1"/>
          </p:cNvSpPr>
          <p:nvPr>
            <p:ph sz="quarter" idx="10"/>
          </p:nvPr>
        </p:nvSpPr>
        <p:spPr/>
        <p:txBody>
          <a:bodyPr>
            <a:normAutofit/>
          </a:bodyPr>
          <a:lstStyle/>
          <a:p>
            <a:pPr algn="ctr"/>
            <a:r>
              <a:rPr lang="es-PE" b="1" dirty="0"/>
              <a:t>Organización de archivos con RLF</a:t>
            </a:r>
            <a:endParaRPr lang="es-PE" sz="4400" b="1" dirty="0"/>
          </a:p>
        </p:txBody>
      </p:sp>
      <p:pic>
        <p:nvPicPr>
          <p:cNvPr id="7" name="Marcador de posición de imagen 6">
            <a:extLst>
              <a:ext uri="{FF2B5EF4-FFF2-40B4-BE49-F238E27FC236}">
                <a16:creationId xmlns:a16="http://schemas.microsoft.com/office/drawing/2014/main" id="{8911CC5E-7319-452A-B6CB-0A002E7CD31E}"/>
              </a:ext>
            </a:extLst>
          </p:cNvPr>
          <p:cNvPicPr>
            <a:picLocks noGrp="1" noChangeAspect="1"/>
          </p:cNvPicPr>
          <p:nvPr>
            <p:ph type="pic" idx="1"/>
          </p:nvPr>
        </p:nvPicPr>
        <p:blipFill>
          <a:blip r:embed="rId2"/>
          <a:srcRect l="5454" r="5454"/>
          <a:stretch>
            <a:fillRect/>
          </a:stretch>
        </p:blipFill>
        <p:spPr>
          <a:prstGeom prst="rect">
            <a:avLst/>
          </a:prstGeom>
        </p:spPr>
      </p:pic>
    </p:spTree>
    <p:extLst>
      <p:ext uri="{BB962C8B-B14F-4D97-AF65-F5344CB8AC3E}">
        <p14:creationId xmlns:p14="http://schemas.microsoft.com/office/powerpoint/2010/main" val="1724890850"/>
      </p:ext>
    </p:extLst>
  </p:cSld>
  <p:clrMapOvr>
    <a:masterClrMapping/>
  </p:clrMapOvr>
  <p:transition spd="slow">
    <p:cover/>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Marcador de contenido 3">
            <a:extLst>
              <a:ext uri="{FF2B5EF4-FFF2-40B4-BE49-F238E27FC236}">
                <a16:creationId xmlns:a16="http://schemas.microsoft.com/office/drawing/2014/main" id="{49791BAF-EC59-43DE-9DFA-F88CDAEB78FA}"/>
              </a:ext>
            </a:extLst>
          </p:cNvPr>
          <p:cNvSpPr>
            <a:spLocks noGrp="1"/>
          </p:cNvSpPr>
          <p:nvPr>
            <p:ph sz="quarter" idx="10"/>
          </p:nvPr>
        </p:nvSpPr>
        <p:spPr/>
        <p:txBody>
          <a:bodyPr>
            <a:normAutofit/>
          </a:bodyPr>
          <a:lstStyle/>
          <a:p>
            <a:pPr algn="ctr"/>
            <a:r>
              <a:rPr lang="es-PE" sz="4400" b="1" dirty="0"/>
              <a:t>Organización de archivos con RLF</a:t>
            </a:r>
            <a:endParaRPr lang="es-PE" sz="5400" b="1" dirty="0"/>
          </a:p>
          <a:p>
            <a:pPr algn="ctr"/>
            <a:endParaRPr lang="es-PE" sz="4400" b="1" dirty="0"/>
          </a:p>
        </p:txBody>
      </p:sp>
      <p:pic>
        <p:nvPicPr>
          <p:cNvPr id="9" name="Marcador de posición de imagen 8">
            <a:extLst>
              <a:ext uri="{FF2B5EF4-FFF2-40B4-BE49-F238E27FC236}">
                <a16:creationId xmlns:a16="http://schemas.microsoft.com/office/drawing/2014/main" id="{682D0A5D-002C-4FBB-A76D-689586D84201}"/>
              </a:ext>
            </a:extLst>
          </p:cNvPr>
          <p:cNvPicPr>
            <a:picLocks noGrp="1" noChangeAspect="1"/>
          </p:cNvPicPr>
          <p:nvPr>
            <p:ph type="pic" idx="1"/>
          </p:nvPr>
        </p:nvPicPr>
        <p:blipFill>
          <a:blip r:embed="rId2"/>
          <a:srcRect l="2272" r="2272"/>
          <a:stretch>
            <a:fillRect/>
          </a:stretch>
        </p:blipFill>
        <p:spPr>
          <a:prstGeom prst="rect">
            <a:avLst/>
          </a:prstGeom>
        </p:spPr>
      </p:pic>
    </p:spTree>
    <p:extLst>
      <p:ext uri="{BB962C8B-B14F-4D97-AF65-F5344CB8AC3E}">
        <p14:creationId xmlns:p14="http://schemas.microsoft.com/office/powerpoint/2010/main" val="4189962662"/>
      </p:ext>
    </p:extLst>
  </p:cSld>
  <p:clrMapOvr>
    <a:masterClrMapping/>
  </p:clrMapOvr>
  <p:transition spd="slow">
    <p:push dir="u"/>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Marcador de contenido 3">
            <a:extLst>
              <a:ext uri="{FF2B5EF4-FFF2-40B4-BE49-F238E27FC236}">
                <a16:creationId xmlns:a16="http://schemas.microsoft.com/office/drawing/2014/main" id="{49791BAF-EC59-43DE-9DFA-F88CDAEB78FA}"/>
              </a:ext>
            </a:extLst>
          </p:cNvPr>
          <p:cNvSpPr>
            <a:spLocks noGrp="1"/>
          </p:cNvSpPr>
          <p:nvPr>
            <p:ph sz="quarter" idx="4294967295"/>
          </p:nvPr>
        </p:nvSpPr>
        <p:spPr>
          <a:xfrm>
            <a:off x="3359696" y="1772816"/>
            <a:ext cx="6264696" cy="3672408"/>
          </a:xfrm>
        </p:spPr>
        <p:txBody>
          <a:bodyPr>
            <a:normAutofit/>
          </a:bodyPr>
          <a:lstStyle/>
          <a:p>
            <a:pPr marL="0" indent="0" algn="ctr">
              <a:buNone/>
            </a:pPr>
            <a:r>
              <a:rPr lang="es-PE" sz="6000" b="1" dirty="0"/>
              <a:t>Unidad II: </a:t>
            </a:r>
          </a:p>
          <a:p>
            <a:pPr marL="0" indent="0" algn="ctr">
              <a:buNone/>
            </a:pPr>
            <a:r>
              <a:rPr lang="es-PE" sz="6000" b="1" dirty="0"/>
              <a:t>Organización Básica de Archivos.</a:t>
            </a:r>
          </a:p>
        </p:txBody>
      </p:sp>
    </p:spTree>
    <p:extLst>
      <p:ext uri="{BB962C8B-B14F-4D97-AF65-F5344CB8AC3E}">
        <p14:creationId xmlns:p14="http://schemas.microsoft.com/office/powerpoint/2010/main" val="3142640874"/>
      </p:ext>
    </p:extLst>
  </p:cSld>
  <p:clrMapOvr>
    <a:masterClrMapping/>
  </p:clrMapOvr>
  <p:transition spd="slow">
    <p:push dir="u"/>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Marcador de contenido 3">
            <a:extLst>
              <a:ext uri="{FF2B5EF4-FFF2-40B4-BE49-F238E27FC236}">
                <a16:creationId xmlns:a16="http://schemas.microsoft.com/office/drawing/2014/main" id="{49791BAF-EC59-43DE-9DFA-F88CDAEB78FA}"/>
              </a:ext>
            </a:extLst>
          </p:cNvPr>
          <p:cNvSpPr>
            <a:spLocks noGrp="1"/>
          </p:cNvSpPr>
          <p:nvPr>
            <p:ph sz="quarter" idx="10"/>
          </p:nvPr>
        </p:nvSpPr>
        <p:spPr>
          <a:xfrm>
            <a:off x="335361" y="1448594"/>
            <a:ext cx="3240360" cy="3852614"/>
          </a:xfrm>
        </p:spPr>
        <p:txBody>
          <a:bodyPr>
            <a:normAutofit fontScale="92500" lnSpcReduction="20000"/>
          </a:bodyPr>
          <a:lstStyle/>
          <a:p>
            <a:pPr algn="ctr"/>
            <a:r>
              <a:rPr lang="es-PE" sz="4400" b="1" dirty="0"/>
              <a:t>Lista Enlazada</a:t>
            </a:r>
          </a:p>
          <a:p>
            <a:pPr algn="ctr"/>
            <a:r>
              <a:rPr lang="es-PE" dirty="0"/>
              <a:t>Cada registro contiene datos y un campo que apunta a la dirección (o posición lógica) del siguiente registro en la secuencia.</a:t>
            </a:r>
            <a:endParaRPr lang="es-PE" sz="4400" b="1" dirty="0"/>
          </a:p>
        </p:txBody>
      </p:sp>
      <p:pic>
        <p:nvPicPr>
          <p:cNvPr id="7" name="Marcador de posición de imagen 6">
            <a:extLst>
              <a:ext uri="{FF2B5EF4-FFF2-40B4-BE49-F238E27FC236}">
                <a16:creationId xmlns:a16="http://schemas.microsoft.com/office/drawing/2014/main" id="{70CBDF83-513E-4BE5-BF32-60B8EFA2558F}"/>
              </a:ext>
            </a:extLst>
          </p:cNvPr>
          <p:cNvPicPr>
            <a:picLocks noGrp="1" noChangeAspect="1"/>
          </p:cNvPicPr>
          <p:nvPr>
            <p:ph type="pic" idx="1"/>
          </p:nvPr>
        </p:nvPicPr>
        <p:blipFill>
          <a:blip r:embed="rId2"/>
          <a:srcRect t="1661" b="1661"/>
          <a:stretch>
            <a:fillRect/>
          </a:stretch>
        </p:blipFill>
        <p:spPr>
          <a:prstGeom prst="rect">
            <a:avLst/>
          </a:prstGeom>
        </p:spPr>
      </p:pic>
    </p:spTree>
    <p:extLst>
      <p:ext uri="{BB962C8B-B14F-4D97-AF65-F5344CB8AC3E}">
        <p14:creationId xmlns:p14="http://schemas.microsoft.com/office/powerpoint/2010/main" val="2821700976"/>
      </p:ext>
    </p:extLst>
  </p:cSld>
  <p:clrMapOvr>
    <a:masterClrMapping/>
  </p:clrMapOvr>
  <p:transition spd="slow">
    <p:push dir="u"/>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Marcador de contenido 3">
            <a:extLst>
              <a:ext uri="{FF2B5EF4-FFF2-40B4-BE49-F238E27FC236}">
                <a16:creationId xmlns:a16="http://schemas.microsoft.com/office/drawing/2014/main" id="{49791BAF-EC59-43DE-9DFA-F88CDAEB78FA}"/>
              </a:ext>
            </a:extLst>
          </p:cNvPr>
          <p:cNvSpPr>
            <a:spLocks noGrp="1"/>
          </p:cNvSpPr>
          <p:nvPr>
            <p:ph sz="quarter" idx="10"/>
          </p:nvPr>
        </p:nvSpPr>
        <p:spPr/>
        <p:txBody>
          <a:bodyPr>
            <a:normAutofit/>
          </a:bodyPr>
          <a:lstStyle/>
          <a:p>
            <a:pPr algn="ctr"/>
            <a:r>
              <a:rPr lang="es-PE" b="1" dirty="0"/>
              <a:t>Eliminación lógica y física en lista enlazada</a:t>
            </a:r>
            <a:endParaRPr lang="es-PE" sz="4400" b="1" dirty="0"/>
          </a:p>
        </p:txBody>
      </p:sp>
      <p:pic>
        <p:nvPicPr>
          <p:cNvPr id="8" name="Marcador de posición de imagen 7">
            <a:extLst>
              <a:ext uri="{FF2B5EF4-FFF2-40B4-BE49-F238E27FC236}">
                <a16:creationId xmlns:a16="http://schemas.microsoft.com/office/drawing/2014/main" id="{7C1591AD-7DC7-4AEC-8106-6290C2BA729F}"/>
              </a:ext>
            </a:extLst>
          </p:cNvPr>
          <p:cNvPicPr>
            <a:picLocks noGrp="1" noChangeAspect="1"/>
          </p:cNvPicPr>
          <p:nvPr>
            <p:ph type="pic" idx="1"/>
          </p:nvPr>
        </p:nvPicPr>
        <p:blipFill>
          <a:blip r:embed="rId2"/>
          <a:srcRect l="10899" r="10899"/>
          <a:stretch>
            <a:fillRect/>
          </a:stretch>
        </p:blipFill>
        <p:spPr>
          <a:prstGeom prst="rect">
            <a:avLst/>
          </a:prstGeom>
        </p:spPr>
      </p:pic>
    </p:spTree>
    <p:extLst>
      <p:ext uri="{BB962C8B-B14F-4D97-AF65-F5344CB8AC3E}">
        <p14:creationId xmlns:p14="http://schemas.microsoft.com/office/powerpoint/2010/main" val="3102030786"/>
      </p:ext>
    </p:extLst>
  </p:cSld>
  <p:clrMapOvr>
    <a:masterClrMapping/>
  </p:clrMapOvr>
  <p:transition spd="slow">
    <p:push dir="u"/>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Marcador de contenido 3">
            <a:extLst>
              <a:ext uri="{FF2B5EF4-FFF2-40B4-BE49-F238E27FC236}">
                <a16:creationId xmlns:a16="http://schemas.microsoft.com/office/drawing/2014/main" id="{49791BAF-EC59-43DE-9DFA-F88CDAEB78FA}"/>
              </a:ext>
            </a:extLst>
          </p:cNvPr>
          <p:cNvSpPr>
            <a:spLocks noGrp="1"/>
          </p:cNvSpPr>
          <p:nvPr>
            <p:ph sz="quarter" idx="10"/>
          </p:nvPr>
        </p:nvSpPr>
        <p:spPr>
          <a:xfrm>
            <a:off x="335361" y="1448594"/>
            <a:ext cx="3240360" cy="3636590"/>
          </a:xfrm>
        </p:spPr>
        <p:txBody>
          <a:bodyPr>
            <a:normAutofit fontScale="32500" lnSpcReduction="20000"/>
          </a:bodyPr>
          <a:lstStyle/>
          <a:p>
            <a:pPr algn="ctr"/>
            <a:r>
              <a:rPr lang="es-PE" sz="11100" b="1" dirty="0"/>
              <a:t>Secuencial Indexado.</a:t>
            </a:r>
          </a:p>
          <a:p>
            <a:pPr algn="ctr"/>
            <a:r>
              <a:rPr lang="es-MX" sz="8000" dirty="0">
                <a:latin typeface="Arial" panose="020B0604020202020204" pitchFamily="34" charset="0"/>
                <a:cs typeface="Arial" panose="020B0604020202020204" pitchFamily="34" charset="0"/>
              </a:rPr>
              <a:t>Algunas claves de búsqueda, cada una de ellas me llevará mediante su campo PTR al NR del registro deseado en el archivo</a:t>
            </a:r>
            <a:endParaRPr lang="es-PE" sz="8000" b="1" dirty="0"/>
          </a:p>
        </p:txBody>
      </p:sp>
      <p:pic>
        <p:nvPicPr>
          <p:cNvPr id="11" name="Marcador de posición de imagen 10">
            <a:extLst>
              <a:ext uri="{FF2B5EF4-FFF2-40B4-BE49-F238E27FC236}">
                <a16:creationId xmlns:a16="http://schemas.microsoft.com/office/drawing/2014/main" id="{A9A2BC99-9A68-4085-B13D-73B83ED8305A}"/>
              </a:ext>
            </a:extLst>
          </p:cNvPr>
          <p:cNvPicPr>
            <a:picLocks noGrp="1" noChangeAspect="1"/>
          </p:cNvPicPr>
          <p:nvPr>
            <p:ph type="pic" idx="1"/>
          </p:nvPr>
        </p:nvPicPr>
        <p:blipFill>
          <a:blip r:embed="rId2"/>
          <a:srcRect l="636" r="636"/>
          <a:stretch>
            <a:fillRect/>
          </a:stretch>
        </p:blipFill>
        <p:spPr>
          <a:prstGeom prst="rect">
            <a:avLst/>
          </a:prstGeom>
        </p:spPr>
      </p:pic>
    </p:spTree>
    <p:extLst>
      <p:ext uri="{BB962C8B-B14F-4D97-AF65-F5344CB8AC3E}">
        <p14:creationId xmlns:p14="http://schemas.microsoft.com/office/powerpoint/2010/main" val="1591802698"/>
      </p:ext>
    </p:extLst>
  </p:cSld>
  <p:clrMapOvr>
    <a:masterClrMapping/>
  </p:clrMapOvr>
  <p:transition spd="slow">
    <p:push dir="u"/>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Marcador de contenido 3">
            <a:extLst>
              <a:ext uri="{FF2B5EF4-FFF2-40B4-BE49-F238E27FC236}">
                <a16:creationId xmlns:a16="http://schemas.microsoft.com/office/drawing/2014/main" id="{49791BAF-EC59-43DE-9DFA-F88CDAEB78FA}"/>
              </a:ext>
            </a:extLst>
          </p:cNvPr>
          <p:cNvSpPr>
            <a:spLocks noGrp="1"/>
          </p:cNvSpPr>
          <p:nvPr>
            <p:ph sz="quarter" idx="10"/>
          </p:nvPr>
        </p:nvSpPr>
        <p:spPr/>
        <p:txBody>
          <a:bodyPr>
            <a:normAutofit/>
          </a:bodyPr>
          <a:lstStyle/>
          <a:p>
            <a:pPr algn="ctr"/>
            <a:r>
              <a:rPr lang="es-PE" b="1" dirty="0"/>
              <a:t>Mantenimiento de archivos en Secuencial indexado</a:t>
            </a:r>
            <a:endParaRPr lang="es-PE" sz="4400" b="1" dirty="0"/>
          </a:p>
        </p:txBody>
      </p:sp>
      <p:pic>
        <p:nvPicPr>
          <p:cNvPr id="5" name="Marcador de posición de imagen 4">
            <a:extLst>
              <a:ext uri="{FF2B5EF4-FFF2-40B4-BE49-F238E27FC236}">
                <a16:creationId xmlns:a16="http://schemas.microsoft.com/office/drawing/2014/main" id="{17CE55F2-52C2-434D-9F28-6C4263858675}"/>
              </a:ext>
            </a:extLst>
          </p:cNvPr>
          <p:cNvPicPr>
            <a:picLocks noGrp="1" noChangeAspect="1"/>
          </p:cNvPicPr>
          <p:nvPr>
            <p:ph type="pic" idx="1"/>
          </p:nvPr>
        </p:nvPicPr>
        <p:blipFill>
          <a:blip r:embed="rId2"/>
          <a:srcRect t="78" b="78"/>
          <a:stretch>
            <a:fillRect/>
          </a:stretch>
        </p:blipFill>
        <p:spPr>
          <a:prstGeom prst="rect">
            <a:avLst/>
          </a:prstGeom>
        </p:spPr>
      </p:pic>
    </p:spTree>
    <p:extLst>
      <p:ext uri="{BB962C8B-B14F-4D97-AF65-F5344CB8AC3E}">
        <p14:creationId xmlns:p14="http://schemas.microsoft.com/office/powerpoint/2010/main" val="540085803"/>
      </p:ext>
    </p:extLst>
  </p:cSld>
  <p:clrMapOvr>
    <a:masterClrMapping/>
  </p:clrMapOvr>
  <p:transition spd="slow">
    <p:push dir="u"/>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Marcador de contenido 3">
            <a:extLst>
              <a:ext uri="{FF2B5EF4-FFF2-40B4-BE49-F238E27FC236}">
                <a16:creationId xmlns:a16="http://schemas.microsoft.com/office/drawing/2014/main" id="{49791BAF-EC59-43DE-9DFA-F88CDAEB78FA}"/>
              </a:ext>
            </a:extLst>
          </p:cNvPr>
          <p:cNvSpPr>
            <a:spLocks noGrp="1"/>
          </p:cNvSpPr>
          <p:nvPr>
            <p:ph sz="quarter" idx="4294967295"/>
          </p:nvPr>
        </p:nvSpPr>
        <p:spPr>
          <a:xfrm>
            <a:off x="3359696" y="1772816"/>
            <a:ext cx="6264696" cy="3672408"/>
          </a:xfrm>
        </p:spPr>
        <p:txBody>
          <a:bodyPr>
            <a:normAutofit/>
          </a:bodyPr>
          <a:lstStyle/>
          <a:p>
            <a:pPr marL="0" indent="0" algn="ctr">
              <a:buNone/>
            </a:pPr>
            <a:r>
              <a:rPr lang="es-PE" sz="6000" b="1" dirty="0"/>
              <a:t>Unidad III: Organización Hibrida de Archivos. </a:t>
            </a:r>
          </a:p>
        </p:txBody>
      </p:sp>
    </p:spTree>
    <p:extLst>
      <p:ext uri="{BB962C8B-B14F-4D97-AF65-F5344CB8AC3E}">
        <p14:creationId xmlns:p14="http://schemas.microsoft.com/office/powerpoint/2010/main" val="3484509800"/>
      </p:ext>
    </p:extLst>
  </p:cSld>
  <p:clrMapOvr>
    <a:masterClrMapping/>
  </p:clrMapOvr>
  <p:transition spd="slow">
    <p:push dir="u"/>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Marcador de contenido 3">
            <a:extLst>
              <a:ext uri="{FF2B5EF4-FFF2-40B4-BE49-F238E27FC236}">
                <a16:creationId xmlns:a16="http://schemas.microsoft.com/office/drawing/2014/main" id="{49791BAF-EC59-43DE-9DFA-F88CDAEB78FA}"/>
              </a:ext>
            </a:extLst>
          </p:cNvPr>
          <p:cNvSpPr>
            <a:spLocks noGrp="1"/>
          </p:cNvSpPr>
          <p:nvPr>
            <p:ph sz="quarter" idx="10"/>
          </p:nvPr>
        </p:nvSpPr>
        <p:spPr/>
        <p:txBody>
          <a:bodyPr>
            <a:normAutofit/>
          </a:bodyPr>
          <a:lstStyle/>
          <a:p>
            <a:pPr algn="ctr"/>
            <a:r>
              <a:rPr lang="es-PE" sz="4000" b="1" dirty="0"/>
              <a:t>Dispersión. </a:t>
            </a:r>
            <a:r>
              <a:rPr lang="es-PE" sz="4000" b="1" dirty="0" err="1"/>
              <a:t>Hashing</a:t>
            </a:r>
            <a:r>
              <a:rPr lang="es-PE" sz="4000" b="1" dirty="0"/>
              <a:t>. Colisiones</a:t>
            </a:r>
            <a:endParaRPr lang="es-PE" sz="4800" b="1" dirty="0"/>
          </a:p>
        </p:txBody>
      </p:sp>
      <p:pic>
        <p:nvPicPr>
          <p:cNvPr id="10" name="Marcador de posición de imagen 9">
            <a:extLst>
              <a:ext uri="{FF2B5EF4-FFF2-40B4-BE49-F238E27FC236}">
                <a16:creationId xmlns:a16="http://schemas.microsoft.com/office/drawing/2014/main" id="{CADCD612-4FB8-40D5-9969-A446ED9D39CA}"/>
              </a:ext>
            </a:extLst>
          </p:cNvPr>
          <p:cNvPicPr>
            <a:picLocks noGrp="1" noChangeAspect="1"/>
          </p:cNvPicPr>
          <p:nvPr>
            <p:ph type="pic" idx="1"/>
          </p:nvPr>
        </p:nvPicPr>
        <p:blipFill>
          <a:blip r:embed="rId2"/>
          <a:srcRect t="13354" b="13354"/>
          <a:stretch>
            <a:fillRect/>
          </a:stretch>
        </p:blipFill>
        <p:spPr>
          <a:prstGeom prst="rect">
            <a:avLst/>
          </a:prstGeom>
        </p:spPr>
      </p:pic>
    </p:spTree>
    <p:extLst>
      <p:ext uri="{BB962C8B-B14F-4D97-AF65-F5344CB8AC3E}">
        <p14:creationId xmlns:p14="http://schemas.microsoft.com/office/powerpoint/2010/main" val="37626727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Marcador de contenido 3">
            <a:extLst>
              <a:ext uri="{FF2B5EF4-FFF2-40B4-BE49-F238E27FC236}">
                <a16:creationId xmlns:a16="http://schemas.microsoft.com/office/drawing/2014/main" id="{49791BAF-EC59-43DE-9DFA-F88CDAEB78FA}"/>
              </a:ext>
            </a:extLst>
          </p:cNvPr>
          <p:cNvSpPr>
            <a:spLocks noGrp="1"/>
          </p:cNvSpPr>
          <p:nvPr>
            <p:ph sz="quarter" idx="10"/>
          </p:nvPr>
        </p:nvSpPr>
        <p:spPr>
          <a:xfrm>
            <a:off x="335361" y="1448594"/>
            <a:ext cx="3240360" cy="4500686"/>
          </a:xfrm>
        </p:spPr>
        <p:txBody>
          <a:bodyPr>
            <a:normAutofit fontScale="85000" lnSpcReduction="20000"/>
          </a:bodyPr>
          <a:lstStyle/>
          <a:p>
            <a:pPr algn="ctr"/>
            <a:r>
              <a:rPr lang="es-PE" sz="5200" b="1" dirty="0"/>
              <a:t> Árboles Binarios</a:t>
            </a:r>
          </a:p>
          <a:p>
            <a:r>
              <a:rPr lang="es-PE" sz="4400" dirty="0"/>
              <a:t>Un </a:t>
            </a:r>
            <a:r>
              <a:rPr lang="es-PE" sz="4400" b="1" dirty="0"/>
              <a:t>árbol binario</a:t>
            </a:r>
            <a:r>
              <a:rPr lang="es-PE" sz="4400" dirty="0"/>
              <a:t> es una estructura de datos en la que cada nodo tiene </a:t>
            </a:r>
            <a:r>
              <a:rPr lang="es-PE" sz="4400" b="1" dirty="0"/>
              <a:t>como máximo dos hijos</a:t>
            </a:r>
            <a:endParaRPr lang="es-PE" sz="4400" dirty="0"/>
          </a:p>
          <a:p>
            <a:pPr algn="ctr"/>
            <a:endParaRPr lang="es-PE" sz="4400" b="1" dirty="0"/>
          </a:p>
        </p:txBody>
      </p:sp>
      <p:pic>
        <p:nvPicPr>
          <p:cNvPr id="2" name="Marcador de posición de imagen 1">
            <a:extLst>
              <a:ext uri="{FF2B5EF4-FFF2-40B4-BE49-F238E27FC236}">
                <a16:creationId xmlns:a16="http://schemas.microsoft.com/office/drawing/2014/main" id="{29F33801-95F0-4FD7-A936-92B6FDA5CD21}"/>
              </a:ext>
            </a:extLst>
          </p:cNvPr>
          <p:cNvPicPr>
            <a:picLocks noGrp="1" noChangeAspect="1"/>
          </p:cNvPicPr>
          <p:nvPr>
            <p:ph type="pic" idx="1"/>
          </p:nvPr>
        </p:nvPicPr>
        <p:blipFill>
          <a:blip r:embed="rId2"/>
          <a:srcRect t="6664" b="6664"/>
          <a:stretch>
            <a:fillRect/>
          </a:stretch>
        </p:blipFill>
        <p:spPr>
          <a:prstGeom prst="rect">
            <a:avLst/>
          </a:prstGeom>
        </p:spPr>
      </p:pic>
    </p:spTree>
    <p:extLst>
      <p:ext uri="{BB962C8B-B14F-4D97-AF65-F5344CB8AC3E}">
        <p14:creationId xmlns:p14="http://schemas.microsoft.com/office/powerpoint/2010/main" val="49129660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Marcador de contenido 3">
            <a:extLst>
              <a:ext uri="{FF2B5EF4-FFF2-40B4-BE49-F238E27FC236}">
                <a16:creationId xmlns:a16="http://schemas.microsoft.com/office/drawing/2014/main" id="{49791BAF-EC59-43DE-9DFA-F88CDAEB78FA}"/>
              </a:ext>
            </a:extLst>
          </p:cNvPr>
          <p:cNvSpPr>
            <a:spLocks noGrp="1"/>
          </p:cNvSpPr>
          <p:nvPr>
            <p:ph sz="quarter" idx="10"/>
          </p:nvPr>
        </p:nvSpPr>
        <p:spPr>
          <a:xfrm>
            <a:off x="119336" y="980743"/>
            <a:ext cx="3456385" cy="5416944"/>
          </a:xfrm>
        </p:spPr>
        <p:txBody>
          <a:bodyPr>
            <a:normAutofit fontScale="55000" lnSpcReduction="20000"/>
          </a:bodyPr>
          <a:lstStyle/>
          <a:p>
            <a:pPr algn="ctr"/>
            <a:r>
              <a:rPr lang="es-PE" sz="5100" b="1" dirty="0"/>
              <a:t>¿Qué es un árbol AVL?</a:t>
            </a:r>
          </a:p>
          <a:p>
            <a:pPr algn="ctr"/>
            <a:r>
              <a:rPr lang="es-PE" sz="4400" dirty="0"/>
              <a:t>Los árboles AVL son una variante especial de los árboles binarios de búsqueda que se auto balancean automáticamente para mantener su eficiencia. Son fundamentales en la organización lógica de archivos cuando se requiere acceso rápido y ordenado, especialmente en sistemas híbridos que combinan métodos secuenciales y directos.</a:t>
            </a:r>
          </a:p>
        </p:txBody>
      </p:sp>
      <p:pic>
        <p:nvPicPr>
          <p:cNvPr id="2" name="Marcador de posición de imagen 1">
            <a:extLst>
              <a:ext uri="{FF2B5EF4-FFF2-40B4-BE49-F238E27FC236}">
                <a16:creationId xmlns:a16="http://schemas.microsoft.com/office/drawing/2014/main" id="{2CF8DBA3-717C-4B9F-B7DA-B376B97AD950}"/>
              </a:ext>
            </a:extLst>
          </p:cNvPr>
          <p:cNvPicPr>
            <a:picLocks noGrp="1" noChangeAspect="1"/>
          </p:cNvPicPr>
          <p:nvPr>
            <p:ph type="pic" idx="1"/>
          </p:nvPr>
        </p:nvPicPr>
        <p:blipFill>
          <a:blip r:embed="rId2"/>
          <a:srcRect t="11504" b="11504"/>
          <a:stretch>
            <a:fillRect/>
          </a:stretch>
        </p:blipFill>
        <p:spPr>
          <a:prstGeom prst="rect">
            <a:avLst/>
          </a:prstGeom>
        </p:spPr>
      </p:pic>
    </p:spTree>
    <p:extLst>
      <p:ext uri="{BB962C8B-B14F-4D97-AF65-F5344CB8AC3E}">
        <p14:creationId xmlns:p14="http://schemas.microsoft.com/office/powerpoint/2010/main" val="380117256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ángulo 3"/>
          <p:cNvSpPr/>
          <p:nvPr/>
        </p:nvSpPr>
        <p:spPr>
          <a:xfrm>
            <a:off x="8760296" y="188640"/>
            <a:ext cx="2028119" cy="584775"/>
          </a:xfrm>
          <a:prstGeom prst="rect">
            <a:avLst/>
          </a:prstGeom>
        </p:spPr>
        <p:txBody>
          <a:bodyPr wrap="none">
            <a:spAutoFit/>
          </a:bodyPr>
          <a:lstStyle/>
          <a:p>
            <a:r>
              <a:rPr lang="es-ES" sz="3200" b="1" dirty="0">
                <a:solidFill>
                  <a:schemeClr val="bg1"/>
                </a:solidFill>
                <a:latin typeface="Arial" panose="020B0604020202020204" pitchFamily="34" charset="0"/>
                <a:cs typeface="Arial" panose="020B0604020202020204" pitchFamily="34" charset="0"/>
              </a:rPr>
              <a:t>Actividad</a:t>
            </a:r>
          </a:p>
        </p:txBody>
      </p:sp>
      <p:sp>
        <p:nvSpPr>
          <p:cNvPr id="5" name="Subtítulo 2">
            <a:extLst>
              <a:ext uri="{FF2B5EF4-FFF2-40B4-BE49-F238E27FC236}">
                <a16:creationId xmlns:a16="http://schemas.microsoft.com/office/drawing/2014/main" id="{A0F6B2AE-F4B3-4892-85DF-F04C2267F8FA}"/>
              </a:ext>
            </a:extLst>
          </p:cNvPr>
          <p:cNvSpPr txBox="1"/>
          <p:nvPr/>
        </p:nvSpPr>
        <p:spPr>
          <a:xfrm>
            <a:off x="682689" y="1700808"/>
            <a:ext cx="10260129" cy="3816424"/>
          </a:xfrm>
          <a:prstGeom prst="rect">
            <a:avLst/>
          </a:prstGeom>
        </p:spPr>
        <p:txBody>
          <a:bodyPr vert="horz" lIns="91440" tIns="45720" rIns="91440" bIns="45720" rtlCol="0" anchor="t">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marL="457200" indent="-457200" algn="just">
              <a:buAutoNum type="arabicPeriod"/>
            </a:pPr>
            <a:r>
              <a:rPr lang="es-PE" sz="3200" b="1" dirty="0"/>
              <a:t>Teniendo en cuenta el trabajo final. ¿Qué solución podría implementar con el uso de las </a:t>
            </a:r>
            <a:r>
              <a:rPr lang="es-PE" sz="3200" b="1"/>
              <a:t>Organización lógica de </a:t>
            </a:r>
            <a:r>
              <a:rPr lang="es-PE" sz="3200" b="1" dirty="0"/>
              <a:t>Archivos?</a:t>
            </a:r>
          </a:p>
        </p:txBody>
      </p:sp>
    </p:spTree>
    <p:extLst>
      <p:ext uri="{BB962C8B-B14F-4D97-AF65-F5344CB8AC3E}">
        <p14:creationId xmlns:p14="http://schemas.microsoft.com/office/powerpoint/2010/main" val="3632592225"/>
      </p:ext>
    </p:extLst>
  </p:cSld>
  <p:clrMapOvr>
    <a:masterClrMapping/>
  </p:clrMapOvr>
</p:sld>
</file>

<file path=ppt/theme/theme1.xml><?xml version="1.0" encoding="utf-8"?>
<a:theme xmlns:a="http://schemas.openxmlformats.org/drawingml/2006/main" name="Diseño personalizado">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7399</TotalTime>
  <Words>371</Words>
  <Application>Microsoft Office PowerPoint</Application>
  <PresentationFormat>Panorámica</PresentationFormat>
  <Paragraphs>41</Paragraphs>
  <Slides>17</Slides>
  <Notes>0</Notes>
  <HiddenSlides>0</HiddenSlides>
  <MMClips>0</MMClips>
  <ScaleCrop>false</ScaleCrop>
  <HeadingPairs>
    <vt:vector size="6" baseType="variant">
      <vt:variant>
        <vt:lpstr>Fuentes usadas</vt:lpstr>
      </vt:variant>
      <vt:variant>
        <vt:i4>6</vt:i4>
      </vt:variant>
      <vt:variant>
        <vt:lpstr>Tema</vt:lpstr>
      </vt:variant>
      <vt:variant>
        <vt:i4>1</vt:i4>
      </vt:variant>
      <vt:variant>
        <vt:lpstr>Títulos de diapositiva</vt:lpstr>
      </vt:variant>
      <vt:variant>
        <vt:i4>17</vt:i4>
      </vt:variant>
    </vt:vector>
  </HeadingPairs>
  <TitlesOfParts>
    <vt:vector size="24" baseType="lpstr">
      <vt:lpstr>Arena Condensed</vt:lpstr>
      <vt:lpstr>Arial</vt:lpstr>
      <vt:lpstr>Calibri</vt:lpstr>
      <vt:lpstr>Calibri Light</vt:lpstr>
      <vt:lpstr>Roboto</vt:lpstr>
      <vt:lpstr>Wingdings</vt:lpstr>
      <vt:lpstr>Diseño personalizado</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ACTO JURIDICO</dc:title>
  <dc:creator>Dr Beltran</dc:creator>
  <cp:lastModifiedBy>Max</cp:lastModifiedBy>
  <cp:revision>655</cp:revision>
  <dcterms:created xsi:type="dcterms:W3CDTF">2018-02-24T13:56:14Z</dcterms:created>
  <dcterms:modified xsi:type="dcterms:W3CDTF">2026-08-14T02:20:05Z</dcterms:modified>
</cp:coreProperties>
</file>