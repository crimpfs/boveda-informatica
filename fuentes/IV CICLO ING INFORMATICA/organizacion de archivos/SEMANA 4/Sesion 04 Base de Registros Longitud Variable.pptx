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5"/>
  </p:notesMasterIdLst>
  <p:handoutMasterIdLst>
    <p:handoutMasterId r:id="rId36"/>
  </p:handoutMasterIdLst>
  <p:sldIdLst>
    <p:sldId id="653" r:id="rId2"/>
    <p:sldId id="540" r:id="rId3"/>
    <p:sldId id="256" r:id="rId4"/>
    <p:sldId id="665" r:id="rId5"/>
    <p:sldId id="666" r:id="rId6"/>
    <p:sldId id="661" r:id="rId7"/>
    <p:sldId id="667" r:id="rId8"/>
    <p:sldId id="668" r:id="rId9"/>
    <p:sldId id="669" r:id="rId10"/>
    <p:sldId id="662" r:id="rId11"/>
    <p:sldId id="670" r:id="rId12"/>
    <p:sldId id="671" r:id="rId13"/>
    <p:sldId id="660" r:id="rId14"/>
    <p:sldId id="258" r:id="rId15"/>
    <p:sldId id="259" r:id="rId16"/>
    <p:sldId id="260" r:id="rId17"/>
    <p:sldId id="261" r:id="rId18"/>
    <p:sldId id="262" r:id="rId19"/>
    <p:sldId id="263" r:id="rId20"/>
    <p:sldId id="6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5" r:id="rId31"/>
    <p:sldId id="276" r:id="rId32"/>
    <p:sldId id="277" r:id="rId33"/>
    <p:sldId id="659" r:id="rId3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0B8"/>
    <a:srgbClr val="00FF00"/>
    <a:srgbClr val="CCFFFF"/>
    <a:srgbClr val="213A89"/>
    <a:srgbClr val="0000CC"/>
    <a:srgbClr val="FFFF99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8" autoAdjust="0"/>
    <p:restoredTop sz="94671" autoAdjust="0"/>
  </p:normalViewPr>
  <p:slideViewPr>
    <p:cSldViewPr>
      <p:cViewPr varScale="1">
        <p:scale>
          <a:sx n="192" d="100"/>
          <a:sy n="192" d="100"/>
        </p:scale>
        <p:origin x="854" y="1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48" d="100"/>
          <a:sy n="148" d="100"/>
        </p:scale>
        <p:origin x="176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BFC05C-7FB1-4DB3-9A26-27C83412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283D-6FFD-4DB8-B74E-0E5A9527B2B7}" type="datetimeFigureOut">
              <a:rPr lang="es-PE" smtClean="0"/>
              <a:t>13/09/2026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FF3077-1BFD-4BBD-BCC1-6FF47860D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4D494E-142D-4F5B-9FD1-199FE96812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5B9A8-2A88-40BA-B09B-952A6212BB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13/09/2026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20429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91345" y="-27384"/>
            <a:ext cx="3124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11737304" cy="5935236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4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1484783"/>
            <a:ext cx="11737304" cy="4927145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55871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1425F-A867-AF17-2D64-DCA054895744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7505CD50-733A-F8D8-A27D-F66877CB8A1E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83AEA-AAA7-8246-5BA2-361BE08B33CA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84AD829-7E18-155C-48B5-C575F83A9C8E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D83BD-125E-A628-D62F-4CE1D9702461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2151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3352" y="476674"/>
            <a:ext cx="11665296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8620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79776" y="476674"/>
            <a:ext cx="7848872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3672407" cy="5935236"/>
          </a:xfrm>
        </p:spPr>
        <p:txBody>
          <a:bodyPr>
            <a:normAutofit/>
          </a:bodyPr>
          <a:lstStyle>
            <a:lvl1pPr algn="ctr">
              <a:defRPr sz="54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9A9F51-B81B-6BDF-C826-10E74ED4EFC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0D2D8424-B2BB-6FD7-B101-AEBDF84D367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3F6B8C-93A4-89CC-C474-7F6DA8815BA7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76D0AD-4407-2B39-D3F1-B89EA242D200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1FA6B4-705E-6379-992D-C70EC3C235D5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33149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76674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900B11-889C-F9B2-F437-7B5DB7F8F62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2BE393F-F13C-F6CE-AC5B-13F72CF728EB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1C0FF0-11D8-2FBA-C27F-8C4023494F1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E2691DD-F508-2CE1-ADBD-D3EE27956B59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16BF3D-39DE-B045-6F3B-FDFD8F55B89C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6595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61371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9ECB89A-F90A-7049-4003-5447843D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28" y="461371"/>
            <a:ext cx="6193135" cy="595847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6A4EBA-2F75-9354-91CF-D9BF675AFD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A9C14589-8787-F52B-CEB2-5B0464BEF8D3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CB4509-BD26-A3A2-2016-9C34266E7DF3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D3FF50-9AA7-C444-A1E0-7AD68ED81E5D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936806-FC56-E02F-F196-1AFF5BC806A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761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336" y="476674"/>
            <a:ext cx="5544616" cy="5935258"/>
          </a:xfrm>
        </p:spPr>
        <p:txBody>
          <a:bodyPr>
            <a:normAutofit/>
          </a:bodyPr>
          <a:lstStyle>
            <a:lvl1pPr algn="ctr">
              <a:defRPr sz="28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84D2C88-B4F3-2DCA-41EE-00CFC66AA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5638" y="476250"/>
            <a:ext cx="6264275" cy="5905500"/>
          </a:xfrm>
        </p:spPr>
        <p:txBody>
          <a:bodyPr/>
          <a:lstStyle>
            <a:lvl1pPr marL="0" indent="0" algn="ctr">
              <a:buNone/>
              <a:defRPr sz="2400" b="1" i="1"/>
            </a:lvl1pPr>
          </a:lstStyle>
          <a:p>
            <a:pPr lvl="0"/>
            <a:r>
              <a:rPr lang="en-US" dirty="0" err="1"/>
              <a:t>jjjj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61B157-BE4F-47CA-4593-BA73554D5B5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8779E56E-1AE1-C3B0-20BC-B47FBED9EF2C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220E71-0B04-8BA3-60D0-14FFA83491FB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FE814B-D371-9DA0-558B-0EFF6BED8CA1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37FD0D-4959-2997-CED0-BD999A00CEF6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1039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20429"/>
            <a:ext cx="1216732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1271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06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8544092" y="6525358"/>
            <a:ext cx="3381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2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Organización de Archivos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111" y="188640"/>
            <a:ext cx="1666754" cy="529571"/>
          </a:xfrm>
          <a:prstGeom prst="rect">
            <a:avLst/>
          </a:prstGeom>
        </p:spPr>
      </p:pic>
      <p:sp>
        <p:nvSpPr>
          <p:cNvPr id="5" name="Rectángulo 4"/>
          <p:cNvSpPr/>
          <p:nvPr userDrawn="1"/>
        </p:nvSpPr>
        <p:spPr>
          <a:xfrm>
            <a:off x="0" y="0"/>
            <a:ext cx="11925593" cy="908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/>
          <p:nvPr userDrawn="1"/>
        </p:nvCxnSpPr>
        <p:spPr>
          <a:xfrm>
            <a:off x="0" y="908720"/>
            <a:ext cx="9408368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528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3FC0F-0726-445E-AA72-37103EF5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002F6-6079-4FAA-B87F-0BF17A5B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AA2C94-0056-463B-957E-18A2CB9B3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95E7-59A2-42F0-822A-C2AD9061524C}" type="datetimeFigureOut">
              <a:rPr lang="es-PE" smtClean="0"/>
              <a:t>13/09/2026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57603-A9F7-41F7-A33A-95786447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24DDB-20DA-4806-9AC6-ECCDED9C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646F-C49C-4EB9-B383-7962AB850F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7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78" r:id="rId3"/>
    <p:sldLayoutId id="2147483673" r:id="rId4"/>
    <p:sldLayoutId id="2147483674" r:id="rId5"/>
    <p:sldLayoutId id="2147483675" r:id="rId6"/>
    <p:sldLayoutId id="2147483679" r:id="rId7"/>
    <p:sldLayoutId id="2147483676" r:id="rId8"/>
    <p:sldLayoutId id="2147483665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Setiembre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40968"/>
            <a:ext cx="7992888" cy="1264831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76120" y="188640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ARCHIVOS  ·  SESIÓN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registros de longitud variable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almacenamiento en SQL Server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 · Delimitadores · Índice nexo · Páginas 8 KB · Índices · Búsqueda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Trujillo  ·  Informática  ·  4.º ciclo  ·  2 horas</a:t>
            </a:r>
            <a:endParaRPr lang="en-US" sz="15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D650-ABF6-66A1-AC3A-C296EABA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E2FA3F51-FA11-09EE-5987-28EA43263B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520" b="4520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55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9256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 con Registros de Longitud Variable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701349" y="1484784"/>
            <a:ext cx="42425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Todos los registros no tienen el mismo tamaño o longitud.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¿Por qué?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la naturaleza de algunos campos que tienen un dominio de valores de longitud variable como el nombre, el apellido, el correo, etc.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Este tipo de archivo no desperdicia espacio, guardando justo los datos registrados en sus campos.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Los algoritmos son más tediosos que los que manejan RLF.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DA9A50-4AF4-4478-ACD8-6D6D648D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1988840"/>
            <a:ext cx="72009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B173-EF99-4247-49F6-DD2E4B34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8871E9BA-1CBA-7302-8288-0D24369017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3531" r="-1353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29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89256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 con Registros de Longitud Variable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504930" y="1412776"/>
            <a:ext cx="42425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acceder a un registro no podemos acceder directamente. ¿Por qué?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acceder al registro n-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ésimo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debemos leer todos los registros anteriores.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programa que lee los datos de un archivo RLV es ciego. No sabe donde se ubica cada registro.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Tampoco sabe donde termina un campo, porque es de longitud variable!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 podemos indicar una longitud de caracteres a leer; porque tendremos exceso o defecto.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DA9A50-4AF4-4478-ACD8-6D6D648D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1988840"/>
            <a:ext cx="72009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5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28953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Delimitadores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79376" y="1484784"/>
            <a:ext cx="42425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orientar al programa al momento de leer los datos de un registro variable debemos poner delimitadores que separen campos y registros.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Delimitador, es un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especial diferente de los caracteres de datos.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los campos tenemos un delimitador que separa un campo de otro.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los registros,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idem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B095B0A-08D5-4D95-AD68-28BABE278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2114550"/>
            <a:ext cx="65436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05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52148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Delimitadores de longitud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79376" y="1484784"/>
            <a:ext cx="42425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Podemos usar como delimitador la longitud de cada registro.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Esto permite dar saltos de registro en registro evitando leer carácter a carácter.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delimitador de longitud va al inicio de cada registro ¿Por qué?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fseek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pos,1) permite saltar desde la posición actual del cursor de posición del archivo al inicio del siguiente registro.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debe valer la longitud del registro.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4AAA02-C556-4776-99B1-325DAE383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2565841"/>
            <a:ext cx="719137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4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7DCD7-86C5-BCCC-29EC-F248725F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809BD6D5-C25B-147F-E474-75E7EA58706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20196" r="-20196"/>
          <a:stretch>
            <a:fillRect/>
          </a:stretch>
        </p:blipFill>
        <p:spPr>
          <a:xfrm>
            <a:off x="263525" y="461963"/>
            <a:ext cx="1166495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7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96744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Cómo resolver el problema de acceder a los RLV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79376" y="1340768"/>
            <a:ext cx="42425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mejorar la performance de leer los registros de un archivo con registros de longitud variable, podemos usar un archivo auxiliar que guarde las posiciones de inicio de sus registros.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Tendríamos 2 archivos uno RLF con la posición de inicio de cada registro y otro RLV con los datos del registro.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Así cuando quisiéramos leer el registro n-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ésimo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por ejemplo el 4 donde se encuentran los datos de Jessica Torres, debemos acceder primero al archivo RLF y leer la posición del 4. Recuperaríamos el valor 43. Con este dato, accedemos directamente en el archivo RLV y leeremos el registro 4.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7D5DEC-302E-4EF0-84DC-0CE9E5F36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80" y="1276141"/>
            <a:ext cx="7200900" cy="3162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D1F96D-467D-4F47-AA35-F4B896D8D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805" y="5071632"/>
            <a:ext cx="3797427" cy="10204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BB4FD23-A00E-4EBB-890B-4E12F5CA7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80" y="4166502"/>
            <a:ext cx="3867577" cy="54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4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5400" y="260648"/>
            <a:ext cx="96744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resolver el problema de acceder a los RLV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9C4C8B-1AD4-4F52-9BCF-26CBA8092CFD}"/>
              </a:ext>
            </a:extLst>
          </p:cNvPr>
          <p:cNvSpPr txBox="1"/>
          <p:nvPr/>
        </p:nvSpPr>
        <p:spPr>
          <a:xfrm>
            <a:off x="479376" y="1478293"/>
            <a:ext cx="42425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 olvidar que el archivo RLV debe tener sus delimitadores de campo y registro o en todo caso de longitud y campo, porque el programa debe leer cada campo de cada registro y cada registro del archivo.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Así obtengamos la posición de inicio, no sabemos la longitud de todo el registro o la longitud de cada campo.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Recordemos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Acceso Directo a un registro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= (NR-1)*LR + LE</a:t>
            </a:r>
          </a:p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fseek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(fd,pos,0)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4BA813-E97D-44AF-B9C7-D2A6E2C57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780" y="1276141"/>
            <a:ext cx="7200900" cy="31623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B1CFFD4-C894-4359-8C68-742AA95DC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805" y="5071632"/>
            <a:ext cx="3797427" cy="10204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23B86F-8EE6-4D85-A88D-0DB1EF4BC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080" y="4166502"/>
            <a:ext cx="3867577" cy="54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57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54405B91-CC69-ADAB-9A36-9EE212BA8F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5777" r="-1577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78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IDEA CONDUCTORA DE LA CLASE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idea, dos vocabularios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tradicional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/ sector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(posición + tamaño)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(8 KB)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(B-tree / seek)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¿POR QUÉ EXISTE EL RLV?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14300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como nombre, dirección, correo o descripción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tienen la misma longitud en todas las personas.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forzamos longitud fija: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desperdiciamos espacio en nombres cortos, o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cortamos datos en nombres largos.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 guarda “justo lo necesario”.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precio: ya no vale la fórmula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pos = (NR − 1) × LR + LE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EL PROBLEMA DEL ACCESO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“registros”, tamaños distintos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471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32588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1|Juan Pérez|Trujillo|juan@gmail.com&amp;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2|María López García|Lima|maria.lopez@gmail.com&amp;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3|Pedro|Cusco|pedro@gmail.com&amp;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≈ 42 bytes    R2 ≈ 55 bytes    R3 ≈ 32 bytes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ayuda extra, para llegar al 3.º hay que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 el 1.º y el 2.º  →  recorrido secuencial.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TRES FORMAS DE ORIENTAR AL PROGRAMA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51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Delimitadores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|   Registro &amp;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lee carácter a carácter hasta el separador.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788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Longitud al inicio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[42]datos…  [55]datos…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saltar con fseek del tamaño indicado.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526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Índice de posiciones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auxiliar RLF: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→ posición + tamaño del RLV.</a:t>
            </a:r>
            <a:endParaRPr lang="en-US"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EL ÍNDICE NEXO (LO QUE PROGRAMAN)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124712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05840"/>
            <a:ext cx="10698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people {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  NR;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char nombre[20];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  posicion;   // offset en el archivo RLV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  tamanio;    // bytes de ese registro RLV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};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Buscar el nombre en el índice (RLF, acceso directo o recorrido corto).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Leer posicion y tamanio.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fseek + fread solo de ese fragmento en el RLV.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idea que “no revisar los 50 millones”: ir directo al dato.</a:t>
            </a:r>
            <a:endParaRPr lang="en-US"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SALTO A SQL SERVER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1247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aquí: archivos que ustedes controlan en C++.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con millones de filas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debe organizar físicamente los datos.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“lee registro 1, luego 2, luego 3…”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unidad principal de I/O.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por páginas.</a:t>
            </a:r>
            <a:endParaRPr lang="en-US" sz="2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09AD-0825-0DCA-49ED-51FF4C42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1841E808-D4D6-4D0C-CEC0-0AC7B10C155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6041" r="-604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30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UNIDAD FUNDAMENTAL: PÁGINA = 8 KB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14300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organiza el almacenamiento en páginas de 8 KB.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no es “un archivo de filas sueltas”: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conjunto de páginas que agrupan muchas filas.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un archivo por cliente?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 ineficiente: demasiadas operaciones de I/O.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permite leer de una vez un bloque útil de filas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(mismo espíritu que leer un sector/bloque en archivos).</a:t>
            </a:r>
            <a:endParaRPr lang="en-US" sz="1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DENTRO DE UNA PÁGINA (SIMPLIFICADO)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94183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┌─────────────────────────────────────┐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     HEADER DE PÁGINA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├─────────────────────────────────────┤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Fila / registro 1       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Fila / registro 2       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Fila / registro 3       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…                       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├─────────────────────────────────────┤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INFORMACIÓN DE SLOTS (índices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  internos a la página)           │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└─────────────────────────────────────┘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8 KB</a:t>
            </a:r>
            <a:endParaRPr lang="en-US" sz="1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RLF + RLV DENTRO DE UNA FILA DE BD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12471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digan: “una fila de SQL Server es un RLF”.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una fila puede mezclar: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parte de longitud fija (p. ej. INT, CHAR),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parte de longitud variable (VARCHAR),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 metadatos para localizar esas columnas variables.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evolución de lo que ya vieron: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RLF  →  RLV  →  estructura interna de una fila.</a:t>
            </a:r>
            <a:endParaRPr 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50 MILLONES SIN ÍNDICE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12471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188720"/>
            <a:ext cx="10698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Cliente (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IdCliente INT,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DNI       CHAR(8),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   VARCHAR(100),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Ciudad    VARCHAR(50)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índice, buscar DNI = '46892317' puede implicar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página tras página  →  table scan.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problema que recorrer todo el RLV sin nexo.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EL ÍNDICE ES LA EVOLUCIÓN DEL NEXO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9728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simplificado (idea):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DNI          →  Página / localizador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40123456     →  125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46892317     →  15432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72845621     →  31200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= 46892317  →  índice  →  página 15432  →  fila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</a:t>
            </a:r>
            <a:r>
              <a:rPr lang="en-US" sz="1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main04s.cpp con posicion + tamanio,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SGBD lo hace con estructuras de índice (p. ej. B-tree).</a:t>
            </a:r>
            <a:endParaRPr lang="en-US" sz="19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—  LA IDEA DE “POSICIÓN” NO DESAPARECE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51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RLF → posición calculable (NR, LR)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03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RLV → hace falta ayuda (delimitador / longitud / índice)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154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Archivo índice → guarda posición del registro de datos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Base de datos → página + slot / localizador de fila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Índice del SGBD → encuentra la página/fila sin scan completo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—  LO QUE REALMENTE CUESTA: I/O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memoria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en comparación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ya están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RAM.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178308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página desde disco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→ SSD → NVMe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8 KB a memoria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 cuando hay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filas y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tabla.</a:t>
            </a:r>
            <a:endParaRPr lang="en-US"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—  EN SU SQL SERVER (EDICIÓN ESTUDIANTE)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12471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143000"/>
            <a:ext cx="10698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manera</a:t>
            </a: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 un 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</a:t>
            </a:r>
            <a:r>
              <a:rPr lang="en-US" sz="1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Crear tabla Cliente con unos miles de filas de prueba.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sin índice sobre DNI  →  observar plan (scan).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INDEX IX_Cliente_DNI ON Cliente(DNI);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Repetir SELECT  →  plan con seek / uso de índice.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Mensaje: el índice no es “magia de SQL”;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</a:t>
            </a:r>
            <a:r>
              <a:rPr lang="en-US" sz="1800" b="1" u="sng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necesidad que el archivo nexo 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</a:t>
            </a:r>
            <a:r>
              <a:rPr lang="en-US" sz="1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main04s.cpp.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—  ¿DÓNDE SE APLICA ESTA IDEA?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315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868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PostgreSQL / MySQL / Oracle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B-tree / B+tree sobre páginas de datos.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único; páginas e índices en el mismo fichero.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971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búsqueda / key-value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para localizar sin scan total (LSM, etc.).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023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archivos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 e inodos: metadatos que apuntan a bloques.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5074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main04s.cpp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didáctica mínima: RLV + nexo posicion/tamanio.</a:t>
            </a:r>
            <a:endParaRPr lang="en-US" sz="14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—  LO QUE DEBEN PODER EXPLICAR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Por qué RLV no permite pos = (NR−1)×LR.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Para qué sirven delimitadores e índice nexo.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200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Qué es una página de 8 KB en SQL Server (idea).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51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Por qué un índice evita recorrer todas las páginas.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303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main04s.cpp</a:t>
            </a: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(posicion, tamanio) es la misma idea en miniatura.</a:t>
            </a:r>
            <a:endParaRPr lang="en-US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—  CIERRE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63040"/>
            <a:ext cx="10607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pueden diseñar un archivo que localiza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rápidamente un registro…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creen que hace SQL Server para localizar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entre 100 millones?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estructuras de almacenamiento e índices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recorrer todo de forma secuencial.</a:t>
            </a:r>
            <a:endParaRPr lang="en-US" sz="2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—  SIGUIENTE PASO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088575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457200"/>
            <a:ext cx="11430000" cy="3200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1247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10607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(45 min): main04s.cpp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 + RLF + índice nexo · ficha de evidencia.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sesiones: organizaciones que escalan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idea (listas, indexado, hashing…)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con el hilo: localizar sin barrer todo.</a:t>
            </a:r>
            <a:endParaRPr lang="en-US" sz="2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6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7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8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19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0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1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2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3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4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ppt/theme/themeOverride25.xml><?xml version="1.0" encoding="utf-8"?>
<a:themeOverride xmlns:a="http://schemas.openxmlformats.org/drawingml/2006/main">
  <a:clrScheme name="Azul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25387</TotalTime>
  <Words>2031</Words>
  <Application>Microsoft Office PowerPoint</Application>
  <PresentationFormat>Panorámica</PresentationFormat>
  <Paragraphs>315</Paragraphs>
  <Slides>33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Arena Condensed</vt:lpstr>
      <vt:lpstr>Arial</vt:lpstr>
      <vt:lpstr>Calibri</vt:lpstr>
      <vt:lpstr>Calibri Light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 Castro Rodriguez</cp:lastModifiedBy>
  <cp:revision>852</cp:revision>
  <dcterms:created xsi:type="dcterms:W3CDTF">2018-02-24T13:56:14Z</dcterms:created>
  <dcterms:modified xsi:type="dcterms:W3CDTF">2026-09-14T01:26:15Z</dcterms:modified>
</cp:coreProperties>
</file>